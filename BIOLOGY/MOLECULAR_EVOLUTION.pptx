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5"/>
  </p:sldMasterIdLst>
  <p:notesMasterIdLst>
    <p:notesMasterId r:id="rId40"/>
  </p:notesMasterIdLst>
  <p:sldIdLst>
    <p:sldId id="421" r:id="rId6"/>
    <p:sldId id="274" r:id="rId7"/>
    <p:sldId id="389" r:id="rId8"/>
    <p:sldId id="391" r:id="rId9"/>
    <p:sldId id="390" r:id="rId10"/>
    <p:sldId id="392" r:id="rId11"/>
    <p:sldId id="393" r:id="rId12"/>
    <p:sldId id="397" r:id="rId13"/>
    <p:sldId id="395" r:id="rId14"/>
    <p:sldId id="385" r:id="rId15"/>
    <p:sldId id="412" r:id="rId16"/>
    <p:sldId id="413" r:id="rId17"/>
    <p:sldId id="414" r:id="rId18"/>
    <p:sldId id="415" r:id="rId19"/>
    <p:sldId id="416" r:id="rId20"/>
    <p:sldId id="417" r:id="rId21"/>
    <p:sldId id="388" r:id="rId22"/>
    <p:sldId id="420" r:id="rId23"/>
    <p:sldId id="422" r:id="rId24"/>
    <p:sldId id="423" r:id="rId25"/>
    <p:sldId id="424" r:id="rId26"/>
    <p:sldId id="425" r:id="rId27"/>
    <p:sldId id="426" r:id="rId28"/>
    <p:sldId id="427" r:id="rId29"/>
    <p:sldId id="428" r:id="rId30"/>
    <p:sldId id="429" r:id="rId31"/>
    <p:sldId id="430" r:id="rId32"/>
    <p:sldId id="431" r:id="rId33"/>
    <p:sldId id="432" r:id="rId34"/>
    <p:sldId id="433" r:id="rId35"/>
    <p:sldId id="434" r:id="rId36"/>
    <p:sldId id="435" r:id="rId37"/>
    <p:sldId id="436" r:id="rId38"/>
    <p:sldId id="384" r:id="rId39"/>
  </p:sldIdLst>
  <p:sldSz cx="10688638" cy="7562850"/>
  <p:notesSz cx="6858000" cy="9144000"/>
  <p:defaultTextStyle>
    <a:defPPr>
      <a:defRPr lang="en-US"/>
    </a:defPPr>
    <a:lvl1pPr algn="l" defTabSz="520700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1pPr>
    <a:lvl2pPr marL="520700" indent="-63500" algn="l" defTabSz="520700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2pPr>
    <a:lvl3pPr marL="1041400" indent="-127000" algn="l" defTabSz="520700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3pPr>
    <a:lvl4pPr marL="1563688" indent="-192088" algn="l" defTabSz="520700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4pPr>
    <a:lvl5pPr marL="2084388" indent="-255588" algn="l" defTabSz="520700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21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sz="21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sz="21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sz="21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URSE CONTENT" id="{6162E7E0-B512-4FEF-B619-C9187795397D}">
          <p14:sldIdLst>
            <p14:sldId id="421"/>
            <p14:sldId id="274"/>
            <p14:sldId id="389"/>
            <p14:sldId id="391"/>
            <p14:sldId id="390"/>
            <p14:sldId id="392"/>
            <p14:sldId id="393"/>
            <p14:sldId id="397"/>
            <p14:sldId id="395"/>
            <p14:sldId id="385"/>
            <p14:sldId id="412"/>
            <p14:sldId id="413"/>
            <p14:sldId id="414"/>
            <p14:sldId id="415"/>
            <p14:sldId id="416"/>
            <p14:sldId id="417"/>
            <p14:sldId id="388"/>
            <p14:sldId id="420"/>
            <p14:sldId id="422"/>
            <p14:sldId id="423"/>
            <p14:sldId id="424"/>
            <p14:sldId id="425"/>
            <p14:sldId id="426"/>
            <p14:sldId id="427"/>
            <p14:sldId id="428"/>
            <p14:sldId id="429"/>
            <p14:sldId id="430"/>
            <p14:sldId id="431"/>
            <p14:sldId id="432"/>
            <p14:sldId id="433"/>
            <p14:sldId id="434"/>
            <p14:sldId id="435"/>
            <p14:sldId id="436"/>
          </p14:sldIdLst>
        </p14:section>
        <p14:section name="REFERENCES" id="{11ED6803-A38C-4226-8496-86D05012E7E0}">
          <p14:sldIdLst>
            <p14:sldId id="38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382">
          <p15:clr>
            <a:srgbClr val="A4A3A4"/>
          </p15:clr>
        </p15:guide>
        <p15:guide id="2" pos="336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9B8"/>
    <a:srgbClr val="9465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8715" autoAdjust="0"/>
    <p:restoredTop sz="93484"/>
  </p:normalViewPr>
  <p:slideViewPr>
    <p:cSldViewPr snapToGrid="0" snapToObjects="1">
      <p:cViewPr>
        <p:scale>
          <a:sx n="60" d="100"/>
          <a:sy n="60" d="100"/>
        </p:scale>
        <p:origin x="284" y="-244"/>
      </p:cViewPr>
      <p:guideLst>
        <p:guide orient="horz" pos="2382"/>
        <p:guide pos="3367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viewProps" Target="viewProp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notesMaster" Target="notesMasters/notesMaster1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tableStyles" Target="tableStyles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theme" Target="theme/theme1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>
              <a:defRPr/>
            </a:pPr>
            <a:fld id="{42327A3B-766F-4631-90B1-9B3D33DE7C5C}" type="datetimeFigureOut">
              <a:rPr lang="en-US"/>
              <a:pPr>
                <a:defRPr/>
              </a:pPr>
              <a:t>5/16/2026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06475" y="685800"/>
            <a:ext cx="48450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98F58BAA-C397-4D9C-949B-0B7D3F08F4B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8F58BAA-C397-4D9C-949B-0B7D3F08F4B6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7964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9BA8-909C-75D5-AEDE-BD555F8C8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486CB4-BB08-D4F0-3FA4-151B5A3304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A87B32-F2E6-3619-52D6-52529516D3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54A3C7-772B-D291-5B03-88BDE2F3DA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8F58BAA-C397-4D9C-949B-0B7D3F08F4B6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7026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DD2F3-B19A-40EF-1A0C-A8AA30C4D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AE5715-5981-8CC9-9FE9-8F13E7C739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6EAF17-57A5-6C06-BB6C-DE25E52F4C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A751C8-0A11-D212-19D4-7DE4E2D952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8F58BAA-C397-4D9C-949B-0B7D3F08F4B6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7119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7543A-5E96-7053-E656-40F53FABF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C449DF-D384-534D-D6BF-99AF2E6F53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CB9766-9468-A19D-05BE-ECC6A8335F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74DCF5-6572-3487-B9DE-914E7C3811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8F58BAA-C397-4D9C-949B-0B7D3F08F4B6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050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EC3B0-80C9-4C3F-A08F-17CD23716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F63814-2582-4CBA-38DE-488CF52788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218687-C7ED-5402-C659-6F4BEEA9CC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F1FF88-CC78-9463-F8A3-A026B4209E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8F58BAA-C397-4D9C-949B-0B7D3F08F4B6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9545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20DCB-C81E-0A2E-BF6F-66A2A57A1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56C7EB-E60A-340F-FEE0-37E023E294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DD3B53-C1D3-B62F-407C-9224B2FF63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C76D1C-F86C-6F87-189D-66D169E67F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8F58BAA-C397-4D9C-949B-0B7D3F08F4B6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9535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 descr="Background 01-01.jpg"/>
          <p:cNvPicPr>
            <a:picLocks noChangeAspect="1"/>
          </p:cNvPicPr>
          <p:nvPr userDrawn="1"/>
        </p:nvPicPr>
        <p:blipFill>
          <a:blip r:embed="rId2" cstate="screen">
            <a:alphaModFix/>
          </a:blip>
          <a:srcRect/>
          <a:stretch>
            <a:fillRect/>
          </a:stretch>
        </p:blipFill>
        <p:spPr bwMode="auto">
          <a:xfrm>
            <a:off x="0" y="3175"/>
            <a:ext cx="10688638" cy="755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1" descr="A screenshot of a cell phone&#10;&#10;Description automatically generated">
            <a:extLst>
              <a:ext uri="{FF2B5EF4-FFF2-40B4-BE49-F238E27FC236}">
                <a16:creationId xmlns:a16="http://schemas.microsoft.com/office/drawing/2014/main" id="{9EA64FB5-AD3D-6B4E-9CDC-DAE578F5C07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0942" t="89154" r="21091" b="4449"/>
          <a:stretch/>
        </p:blipFill>
        <p:spPr>
          <a:xfrm>
            <a:off x="5080503" y="646216"/>
            <a:ext cx="4004840" cy="625040"/>
          </a:xfrm>
          <a:prstGeom prst="rect">
            <a:avLst/>
          </a:prstGeom>
          <a:ln w="3175"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2B2341-C3BD-4867-8D41-5F80C1709B34}" type="datetimeFigureOut">
              <a:rPr lang="en-US"/>
              <a:pPr>
                <a:defRPr/>
              </a:pPr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7FA9F5-F61B-45A1-B5E1-F65A5889B2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1" descr="Background 01-02.jpg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0" y="0"/>
            <a:ext cx="10688638" cy="755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itle Placeholder 1"/>
          <p:cNvSpPr>
            <a:spLocks noGrp="1"/>
          </p:cNvSpPr>
          <p:nvPr>
            <p:ph type="title"/>
          </p:nvPr>
        </p:nvSpPr>
        <p:spPr bwMode="auto">
          <a:xfrm>
            <a:off x="1238250" y="749301"/>
            <a:ext cx="9618662" cy="126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idx="13"/>
          </p:nvPr>
        </p:nvSpPr>
        <p:spPr bwMode="auto">
          <a:xfrm>
            <a:off x="1238250" y="2009776"/>
            <a:ext cx="9618662" cy="499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2" name="Picture 11" descr="A screenshot of a cell phone&#10;&#10;Description automatically generated">
            <a:extLst>
              <a:ext uri="{FF2B5EF4-FFF2-40B4-BE49-F238E27FC236}">
                <a16:creationId xmlns:a16="http://schemas.microsoft.com/office/drawing/2014/main" id="{5317F68B-01F1-E94A-99D3-3F09D8A936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0942" t="89154" r="21091" b="4449"/>
          <a:stretch/>
        </p:blipFill>
        <p:spPr>
          <a:xfrm>
            <a:off x="3392488" y="6813668"/>
            <a:ext cx="4004840" cy="625040"/>
          </a:xfrm>
          <a:prstGeom prst="rect">
            <a:avLst/>
          </a:prstGeom>
          <a:ln w="3175"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4329" y="4859832"/>
            <a:ext cx="9085342" cy="1502066"/>
          </a:xfrm>
        </p:spPr>
        <p:txBody>
          <a:bodyPr anchor="t"/>
          <a:lstStyle>
            <a:lvl1pPr algn="l">
              <a:defRPr sz="46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4329" y="3205459"/>
            <a:ext cx="9085342" cy="1654373"/>
          </a:xfrm>
        </p:spPr>
        <p:txBody>
          <a:bodyPr anchor="b"/>
          <a:lstStyle>
            <a:lvl1pPr marL="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1pPr>
            <a:lvl2pPr marL="52143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104287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6431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0857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60718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1286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65005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17149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24E772-3899-4649-A2AA-7CF914911BC6}" type="datetimeFigureOut">
              <a:rPr lang="en-US"/>
              <a:pPr>
                <a:defRPr/>
              </a:pPr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72044D-538C-4006-A81A-9ADFE14E08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432" y="1764666"/>
            <a:ext cx="4720815" cy="4991131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33391" y="1764666"/>
            <a:ext cx="4720815" cy="4991131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569E45-41F7-4121-96F3-D9854AFC6DC8}" type="datetimeFigureOut">
              <a:rPr lang="en-US"/>
              <a:pPr>
                <a:defRPr/>
              </a:pPr>
              <a:t>5/16/2026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504BA8-D676-4613-9C2C-2877DCA64D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8" name="Picture 1" descr="Background 01-03.jpg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0" y="0"/>
            <a:ext cx="10688638" cy="755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itle Placeholder 1"/>
          <p:cNvSpPr>
            <a:spLocks noGrp="1"/>
          </p:cNvSpPr>
          <p:nvPr>
            <p:ph type="title"/>
          </p:nvPr>
        </p:nvSpPr>
        <p:spPr bwMode="auto">
          <a:xfrm>
            <a:off x="1219200" y="596901"/>
            <a:ext cx="9618662" cy="126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idx="13"/>
          </p:nvPr>
        </p:nvSpPr>
        <p:spPr bwMode="auto">
          <a:xfrm>
            <a:off x="1219200" y="1857376"/>
            <a:ext cx="9618662" cy="499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3" name="Picture 12" descr="A screenshot of a cell phone&#10;&#10;Description automatically generated">
            <a:extLst>
              <a:ext uri="{FF2B5EF4-FFF2-40B4-BE49-F238E27FC236}">
                <a16:creationId xmlns:a16="http://schemas.microsoft.com/office/drawing/2014/main" id="{E24EA1D8-E779-9B4C-A906-459512BC2D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0942" t="89154" r="21091" b="4449"/>
          <a:stretch/>
        </p:blipFill>
        <p:spPr>
          <a:xfrm>
            <a:off x="3350299" y="6745088"/>
            <a:ext cx="4004840" cy="625040"/>
          </a:xfrm>
          <a:prstGeom prst="rect">
            <a:avLst/>
          </a:prstGeom>
          <a:ln w="3175"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384A83-4D5A-429E-BDC6-FD1381510BEB}" type="datetimeFigureOut">
              <a:rPr lang="en-US"/>
              <a:pPr>
                <a:defRPr/>
              </a:pPr>
              <a:t>5/16/2026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A70E03-8071-4189-BFD0-FC7EEE7DCD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 bwMode="auto">
          <a:xfrm>
            <a:off x="1219200" y="596901"/>
            <a:ext cx="9618662" cy="126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idx="1"/>
          </p:nvPr>
        </p:nvSpPr>
        <p:spPr bwMode="auto">
          <a:xfrm>
            <a:off x="1219200" y="1857376"/>
            <a:ext cx="9618662" cy="499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2" name="Picture 11" descr="A screenshot of a cell phone&#10;&#10;Description automatically generated">
            <a:extLst>
              <a:ext uri="{FF2B5EF4-FFF2-40B4-BE49-F238E27FC236}">
                <a16:creationId xmlns:a16="http://schemas.microsoft.com/office/drawing/2014/main" id="{0859D3EC-5E23-3B41-9DA0-38316698BC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0942" t="89154" r="21091" b="4449"/>
          <a:stretch/>
        </p:blipFill>
        <p:spPr>
          <a:xfrm>
            <a:off x="3341899" y="6779378"/>
            <a:ext cx="4004840" cy="625040"/>
          </a:xfrm>
          <a:prstGeom prst="rect">
            <a:avLst/>
          </a:prstGeom>
          <a:ln w="3175"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1D282C-CC3E-4E1D-BB33-9531F7A7F244}" type="datetimeFigureOut">
              <a:rPr lang="en-US"/>
              <a:pPr>
                <a:defRPr/>
              </a:pPr>
              <a:t>5/16/2026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3E6B65-159F-439F-9BD7-E9F07CE5AD1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 bwMode="auto">
          <a:xfrm>
            <a:off x="1219200" y="596901"/>
            <a:ext cx="9618662" cy="126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idx="1"/>
          </p:nvPr>
        </p:nvSpPr>
        <p:spPr bwMode="auto">
          <a:xfrm>
            <a:off x="1219200" y="1857376"/>
            <a:ext cx="9618662" cy="499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9" name="Picture 8" descr="A screenshot of a cell phone&#10;&#10;Description automatically generated">
            <a:extLst>
              <a:ext uri="{FF2B5EF4-FFF2-40B4-BE49-F238E27FC236}">
                <a16:creationId xmlns:a16="http://schemas.microsoft.com/office/drawing/2014/main" id="{EDE9ED95-923D-3548-823B-31E4248CF7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0942" t="89154" r="21091" b="4449"/>
          <a:stretch/>
        </p:blipFill>
        <p:spPr>
          <a:xfrm>
            <a:off x="3341899" y="6786998"/>
            <a:ext cx="4004840" cy="625040"/>
          </a:xfrm>
          <a:prstGeom prst="rect">
            <a:avLst/>
          </a:prstGeom>
          <a:ln w="3175"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1D282C-CC3E-4E1D-BB33-9531F7A7F244}" type="datetimeFigureOut">
              <a:rPr lang="en-US"/>
              <a:pPr>
                <a:defRPr/>
              </a:pPr>
              <a:t>5/16/2026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3E6B65-159F-439F-9BD7-E9F07CE5AD1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9" name="Picture 8" descr="A screenshot of a cell phone&#10;&#10;Description automatically generated">
            <a:extLst>
              <a:ext uri="{FF2B5EF4-FFF2-40B4-BE49-F238E27FC236}">
                <a16:creationId xmlns:a16="http://schemas.microsoft.com/office/drawing/2014/main" id="{EDE9ED95-923D-3548-823B-31E4248CF7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0942" t="89154" r="21091" b="4449"/>
          <a:stretch/>
        </p:blipFill>
        <p:spPr>
          <a:xfrm>
            <a:off x="3341899" y="6786998"/>
            <a:ext cx="4004840" cy="625040"/>
          </a:xfrm>
          <a:prstGeom prst="rect">
            <a:avLst/>
          </a:prstGeom>
          <a:ln w="3175">
            <a:noFill/>
          </a:ln>
        </p:spPr>
      </p:pic>
    </p:spTree>
    <p:extLst>
      <p:ext uri="{BB962C8B-B14F-4D97-AF65-F5344CB8AC3E}">
        <p14:creationId xmlns:p14="http://schemas.microsoft.com/office/powerpoint/2010/main" val="2188224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59D9E7-C17C-4132-9B73-48A51CFD46B3}" type="datetimeFigureOut">
              <a:rPr lang="en-US"/>
              <a:pPr>
                <a:defRPr/>
              </a:pPr>
              <a:t>5/16/2026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6416AF-AB6B-466F-BD3E-24BE387F47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5" name="Picture 1" descr="Background 01-04.jpg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0" y="0"/>
            <a:ext cx="10688638" cy="755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37741" y="-31732"/>
            <a:ext cx="10742623" cy="7626313"/>
          </a:xfrm>
          <a:prstGeom prst="rect">
            <a:avLst/>
          </a:prstGeom>
          <a:ln w="12700">
            <a:miter lim="400000"/>
          </a:ln>
        </p:spPr>
      </p:pic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57BF6916-406C-E944-841A-1BF7394CF10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36090" y="418068"/>
            <a:ext cx="839421" cy="630239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UNIVERSITAS BINA NUSANTARA">
            <a:extLst>
              <a:ext uri="{FF2B5EF4-FFF2-40B4-BE49-F238E27FC236}">
                <a16:creationId xmlns:a16="http://schemas.microsoft.com/office/drawing/2014/main" id="{B2ACCA88-1510-174E-BE16-6E62A96F6E0C}"/>
              </a:ext>
            </a:extLst>
          </p:cNvPr>
          <p:cNvSpPr txBox="1"/>
          <p:nvPr userDrawn="1"/>
        </p:nvSpPr>
        <p:spPr>
          <a:xfrm>
            <a:off x="3816379" y="5337659"/>
            <a:ext cx="2855590" cy="1980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360119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1578"/>
              <a:t>UNIVERSITAS</a:t>
            </a:r>
            <a:r>
              <a:rPr sz="1578" b="1"/>
              <a:t> BINA NUSANTARA</a:t>
            </a: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5121639" y="5849441"/>
            <a:ext cx="445360" cy="49020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22268" tIns="22268" rIns="22268" bIns="22268" anchor="ctr"/>
          <a:lstStyle/>
          <a:p>
            <a:pPr defTabSz="361858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403" b="0" i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3816379" y="5337659"/>
            <a:ext cx="2855590" cy="1980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360119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1578"/>
              <a:t>UNIVERSITAS</a:t>
            </a:r>
            <a:r>
              <a:rPr sz="1578" b="1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5121639" y="5849441"/>
            <a:ext cx="445360" cy="49020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22268" tIns="22268" rIns="22268" bIns="22268" anchor="ctr"/>
          <a:lstStyle/>
          <a:p>
            <a:pPr defTabSz="361858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403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526604" y="3724549"/>
            <a:ext cx="9630909" cy="1050397"/>
          </a:xfrm>
          <a:prstGeom prst="rect">
            <a:avLst/>
          </a:prstGeom>
        </p:spPr>
        <p:txBody>
          <a:bodyPr/>
          <a:lstStyle>
            <a:lvl1pPr marL="0" indent="0" algn="ctr" defTabSz="361858">
              <a:lnSpc>
                <a:spcPct val="100000"/>
              </a:lnSpc>
              <a:spcBef>
                <a:spcPts val="0"/>
              </a:spcBef>
              <a:buSzTx/>
              <a:buNone/>
              <a:defRPr kumimoji="0" sz="2192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200414" defTabSz="361858">
              <a:lnSpc>
                <a:spcPct val="100000"/>
              </a:lnSpc>
              <a:spcBef>
                <a:spcPts val="0"/>
              </a:spcBef>
              <a:buSzTx/>
              <a:buNone/>
              <a:defRPr sz="2411" b="1"/>
            </a:lvl2pPr>
            <a:lvl3pPr marL="0" indent="400827" defTabSz="361858">
              <a:lnSpc>
                <a:spcPct val="100000"/>
              </a:lnSpc>
              <a:spcBef>
                <a:spcPts val="0"/>
              </a:spcBef>
              <a:buSzTx/>
              <a:buNone/>
              <a:defRPr sz="2411" b="1"/>
            </a:lvl3pPr>
            <a:lvl4pPr marL="0" indent="601241" defTabSz="361858">
              <a:lnSpc>
                <a:spcPct val="100000"/>
              </a:lnSpc>
              <a:spcBef>
                <a:spcPts val="0"/>
              </a:spcBef>
              <a:buSzTx/>
              <a:buNone/>
              <a:defRPr sz="2411" b="1"/>
            </a:lvl4pPr>
            <a:lvl5pPr marL="0" indent="801654" defTabSz="361858">
              <a:lnSpc>
                <a:spcPct val="100000"/>
              </a:lnSpc>
              <a:spcBef>
                <a:spcPts val="0"/>
              </a:spcBef>
              <a:buSzTx/>
              <a:buNone/>
              <a:defRPr sz="2411" b="1"/>
            </a:lvl5pPr>
          </a:lstStyle>
          <a:p>
            <a:r>
              <a:t>Presentation Subtitle</a:t>
            </a:r>
          </a:p>
          <a:p>
            <a:pPr lvl="4"/>
            <a:endParaRPr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28863" y="1419822"/>
            <a:ext cx="9630910" cy="2160242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526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Prese</a:t>
            </a:r>
            <a:r>
              <a:rPr lang="en-ID"/>
              <a:t>n</a:t>
            </a:r>
            <a:r>
              <a:rPr err="1"/>
              <a:t>tation</a:t>
            </a:r>
            <a:r>
              <a:t> Title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08972" y="6362247"/>
            <a:ext cx="1846618" cy="411274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877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/>
              <a:t>Type your name</a:t>
            </a:r>
          </a:p>
        </p:txBody>
      </p:sp>
      <p:sp>
        <p:nvSpPr>
          <p:cNvPr id="4" name="UNIVERSITAS BINA NUSANTARA">
            <a:extLst>
              <a:ext uri="{FF2B5EF4-FFF2-40B4-BE49-F238E27FC236}">
                <a16:creationId xmlns:a16="http://schemas.microsoft.com/office/drawing/2014/main" id="{5DC7F27E-9CB9-099F-4DA7-367C6ADB411B}"/>
              </a:ext>
            </a:extLst>
          </p:cNvPr>
          <p:cNvSpPr txBox="1"/>
          <p:nvPr userDrawn="1"/>
        </p:nvSpPr>
        <p:spPr>
          <a:xfrm>
            <a:off x="4408972" y="6120872"/>
            <a:ext cx="1773114" cy="153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360119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1227"/>
              <a:t>SUBJECT MATTER EXPERT</a:t>
            </a:r>
            <a:endParaRPr sz="1227" b="1"/>
          </a:p>
        </p:txBody>
      </p:sp>
    </p:spTree>
    <p:extLst>
      <p:ext uri="{BB962C8B-B14F-4D97-AF65-F5344CB8AC3E}">
        <p14:creationId xmlns:p14="http://schemas.microsoft.com/office/powerpoint/2010/main" val="1814234431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 descr="Background 01-02.jpg"/>
          <p:cNvPicPr>
            <a:picLocks noChangeAspect="1"/>
          </p:cNvPicPr>
          <p:nvPr userDrawn="1"/>
        </p:nvPicPr>
        <p:blipFill>
          <a:blip r:embed="rId11" cstate="screen"/>
          <a:srcRect/>
          <a:stretch>
            <a:fillRect/>
          </a:stretch>
        </p:blipFill>
        <p:spPr bwMode="auto">
          <a:xfrm>
            <a:off x="0" y="0"/>
            <a:ext cx="10688638" cy="755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1200150" y="596901"/>
            <a:ext cx="9618662" cy="126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200150" y="1857376"/>
            <a:ext cx="9618662" cy="499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988" y="7010400"/>
            <a:ext cx="2493962" cy="401638"/>
          </a:xfrm>
          <a:prstGeom prst="rect">
            <a:avLst/>
          </a:prstGeom>
        </p:spPr>
        <p:txBody>
          <a:bodyPr vert="horz" wrap="square" lIns="104287" tIns="52144" rIns="104287" bIns="52144" numCol="1" anchor="ctr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22E5663C-481F-407A-A60F-1F041C634F4F}" type="datetimeFigureOut">
              <a:rPr lang="en-US"/>
              <a:pPr>
                <a:defRPr/>
              </a:pPr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51250" y="7010400"/>
            <a:ext cx="3386138" cy="401638"/>
          </a:xfrm>
          <a:prstGeom prst="rect">
            <a:avLst/>
          </a:prstGeom>
        </p:spPr>
        <p:txBody>
          <a:bodyPr vert="horz" lIns="104287" tIns="52144" rIns="104287" bIns="52144" rtlCol="0" anchor="ctr"/>
          <a:lstStyle>
            <a:lvl1pPr algn="ctr" defTabSz="521437" fontAlgn="auto"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59688" y="7010400"/>
            <a:ext cx="2493962" cy="401638"/>
          </a:xfrm>
          <a:prstGeom prst="rect">
            <a:avLst/>
          </a:prstGeom>
        </p:spPr>
        <p:txBody>
          <a:bodyPr vert="horz" wrap="square" lIns="104287" tIns="52144" rIns="104287" bIns="52144" numCol="1" anchor="ctr" anchorCtr="0" compatLnSpc="1">
            <a:prstTxWarp prst="textNoShape">
              <a:avLst/>
            </a:prstTxWarp>
          </a:bodyPr>
          <a:lstStyle>
            <a:lvl1pPr algn="r">
              <a:defRPr sz="14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F1FCD700-A755-4C30-8B04-5025159A3A5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72" r:id="rId7"/>
    <p:sldLayoutId id="2147483655" r:id="rId8"/>
    <p:sldLayoutId id="2147483673" r:id="rId9"/>
  </p:sldLayoutIdLst>
  <p:txStyles>
    <p:titleStyle>
      <a:lvl1pPr algn="l" defTabSz="520700" rtl="0" eaLnBrk="0" fontAlgn="base" hangingPunct="0">
        <a:spcBef>
          <a:spcPct val="0"/>
        </a:spcBef>
        <a:spcAft>
          <a:spcPct val="0"/>
        </a:spcAft>
        <a:defRPr sz="3200" kern="1200">
          <a:solidFill>
            <a:schemeClr val="tx1"/>
          </a:solidFill>
          <a:latin typeface="Open Sans"/>
          <a:ea typeface="MS PGothic" pitchFamily="34" charset="-128"/>
          <a:cs typeface="Open Sans"/>
        </a:defRPr>
      </a:lvl1pPr>
      <a:lvl2pPr algn="ctr" defTabSz="520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" charset="0"/>
          <a:ea typeface="MS PGothic" pitchFamily="34" charset="-128"/>
          <a:cs typeface="ＭＳ Ｐゴシック" charset="0"/>
        </a:defRPr>
      </a:lvl2pPr>
      <a:lvl3pPr algn="ctr" defTabSz="520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" charset="0"/>
          <a:ea typeface="MS PGothic" pitchFamily="34" charset="-128"/>
          <a:cs typeface="ＭＳ Ｐゴシック" charset="0"/>
        </a:defRPr>
      </a:lvl3pPr>
      <a:lvl4pPr algn="ctr" defTabSz="520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" charset="0"/>
          <a:ea typeface="MS PGothic" pitchFamily="34" charset="-128"/>
          <a:cs typeface="ＭＳ Ｐゴシック" charset="0"/>
        </a:defRPr>
      </a:lvl4pPr>
      <a:lvl5pPr algn="ctr" defTabSz="520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" charset="0"/>
          <a:ea typeface="MS PGothic" pitchFamily="34" charset="-128"/>
          <a:cs typeface="ＭＳ Ｐゴシック" charset="0"/>
        </a:defRPr>
      </a:lvl5pPr>
      <a:lvl6pPr marL="457200" algn="ctr" defTabSz="520700" rtl="0" fontAlgn="base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520700" rtl="0" fontAlgn="base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520700" rtl="0" fontAlgn="base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520700" rtl="0" fontAlgn="base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90525" indent="-390525" algn="l" defTabSz="5207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600" kern="1200">
          <a:solidFill>
            <a:schemeClr val="tx1"/>
          </a:solidFill>
          <a:latin typeface="Open Sans"/>
          <a:ea typeface="MS PGothic" pitchFamily="34" charset="-128"/>
          <a:cs typeface="Open Sans"/>
        </a:defRPr>
      </a:lvl1pPr>
      <a:lvl2pPr marL="846138" indent="-325438" algn="l" defTabSz="5207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3200" kern="1200">
          <a:solidFill>
            <a:schemeClr val="tx1"/>
          </a:solidFill>
          <a:latin typeface="Open Sans"/>
          <a:ea typeface="MS PGothic" pitchFamily="34" charset="-128"/>
          <a:cs typeface="+mn-cs"/>
        </a:defRPr>
      </a:lvl2pPr>
      <a:lvl3pPr marL="1303338" indent="-260350" algn="l" defTabSz="5207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700" kern="1200">
          <a:solidFill>
            <a:schemeClr val="tx1"/>
          </a:solidFill>
          <a:latin typeface="Open Sans"/>
          <a:ea typeface="MS PGothic" pitchFamily="34" charset="-128"/>
          <a:cs typeface="+mn-cs"/>
        </a:defRPr>
      </a:lvl3pPr>
      <a:lvl4pPr marL="1824038" indent="-260350" algn="l" defTabSz="5207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300" kern="1200">
          <a:solidFill>
            <a:schemeClr val="tx1"/>
          </a:solidFill>
          <a:latin typeface="Open Sans"/>
          <a:ea typeface="MS PGothic" pitchFamily="34" charset="-128"/>
          <a:cs typeface="+mn-cs"/>
        </a:defRPr>
      </a:lvl4pPr>
      <a:lvl5pPr marL="2346325" indent="-260350" algn="l" defTabSz="5207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300" kern="1200">
          <a:solidFill>
            <a:schemeClr val="tx1"/>
          </a:solidFill>
          <a:latin typeface="Open Sans"/>
          <a:ea typeface="MS PGothic" pitchFamily="34" charset="-128"/>
          <a:cs typeface="+mn-cs"/>
        </a:defRPr>
      </a:lvl5pPr>
      <a:lvl6pPr marL="2867901" indent="-260718" algn="l" defTabSz="521437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389338" indent="-260718" algn="l" defTabSz="521437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910775" indent="-260718" algn="l" defTabSz="521437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432211" indent="-260718" algn="l" defTabSz="521437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21437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1437" algn="l" defTabSz="521437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42873" algn="l" defTabSz="521437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64310" algn="l" defTabSz="521437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085746" algn="l" defTabSz="521437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07183" algn="l" defTabSz="521437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28620" algn="l" defTabSz="521437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50056" algn="l" defTabSz="521437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171493" algn="l" defTabSz="521437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220BAB2-790F-F74A-024A-FC22D1A3E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583" y="2563298"/>
            <a:ext cx="9630910" cy="660072"/>
          </a:xfrm>
        </p:spPr>
        <p:txBody>
          <a:bodyPr>
            <a:noAutofit/>
          </a:bodyPr>
          <a:lstStyle/>
          <a:p>
            <a:br>
              <a:rPr lang="en-US" sz="2805" b="1" dirty="0">
                <a:solidFill>
                  <a:schemeClr val="bg1"/>
                </a:solidFill>
                <a:latin typeface="Cambria"/>
                <a:ea typeface="Cambria"/>
              </a:rPr>
            </a:br>
            <a:br>
              <a:rPr lang="en-US" sz="2805" b="1" dirty="0">
                <a:solidFill>
                  <a:schemeClr val="bg1"/>
                </a:solidFill>
                <a:latin typeface="Cambria"/>
                <a:ea typeface="Cambria"/>
              </a:rPr>
            </a:br>
            <a:r>
              <a:rPr lang="en-US" sz="2805" dirty="0">
                <a:solidFill>
                  <a:schemeClr val="bg1"/>
                </a:solidFill>
                <a:latin typeface="Cambria"/>
                <a:ea typeface="Cambria"/>
              </a:rPr>
              <a:t>SCIE6062001</a:t>
            </a:r>
            <a:r>
              <a:rPr lang="en-US" sz="2805" b="1" dirty="0">
                <a:solidFill>
                  <a:schemeClr val="bg1"/>
                </a:solidFill>
                <a:latin typeface="Cambria"/>
                <a:ea typeface="Cambria"/>
              </a:rPr>
              <a:t>: Computational Biology</a:t>
            </a:r>
            <a:br>
              <a:rPr lang="en-US" sz="2805" b="1" dirty="0">
                <a:solidFill>
                  <a:schemeClr val="bg1"/>
                </a:solidFill>
                <a:latin typeface="Cambria"/>
                <a:ea typeface="Cambria"/>
              </a:rPr>
            </a:br>
            <a:br>
              <a:rPr lang="en-US" sz="3507" b="1" dirty="0">
                <a:solidFill>
                  <a:schemeClr val="bg1"/>
                </a:solidFill>
                <a:latin typeface="Cambria"/>
                <a:ea typeface="Cambria"/>
              </a:rPr>
            </a:br>
            <a:r>
              <a:rPr lang="en-US" sz="3507" b="1" dirty="0">
                <a:solidFill>
                  <a:schemeClr val="bg1"/>
                </a:solidFill>
                <a:latin typeface="Cambria"/>
                <a:ea typeface="Cambria"/>
              </a:rPr>
              <a:t>MOLECULAR EVOLUTION</a:t>
            </a:r>
            <a:endParaRPr lang="en-US" sz="3507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9B89E2-412C-8945-F692-CD51460D980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68411" y="4241748"/>
            <a:ext cx="9057503" cy="1011013"/>
          </a:xfrm>
        </p:spPr>
        <p:txBody>
          <a:bodyPr>
            <a:normAutofit/>
          </a:bodyPr>
          <a:lstStyle/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Asysta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Amalia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Pasaribu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S.Si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M.Si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Statistics, School of Computer Science, Binus University </a:t>
            </a:r>
          </a:p>
          <a:p>
            <a:endParaRPr lang="en-US" sz="400" dirty="0"/>
          </a:p>
        </p:txBody>
      </p:sp>
    </p:spTree>
    <p:extLst>
      <p:ext uri="{BB962C8B-B14F-4D97-AF65-F5344CB8AC3E}">
        <p14:creationId xmlns:p14="http://schemas.microsoft.com/office/powerpoint/2010/main" val="3487223446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8250" y="875489"/>
            <a:ext cx="9618662" cy="642026"/>
          </a:xfrm>
        </p:spPr>
        <p:txBody>
          <a:bodyPr/>
          <a:lstStyle/>
          <a:p>
            <a:r>
              <a:rPr lang="en-AU" sz="2800" b="1" dirty="0"/>
              <a:t>Sejarah </a:t>
            </a:r>
            <a:r>
              <a:rPr lang="en-AU" sz="2800" b="1" dirty="0" err="1"/>
              <a:t>Kehidupan</a:t>
            </a:r>
            <a:r>
              <a:rPr lang="en-AU" sz="2800" b="1" dirty="0"/>
              <a:t> di Bumi</a:t>
            </a:r>
            <a:endParaRPr lang="en-HK" sz="28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4C8ACB7-62F4-4DFA-BF4E-F704AD38BEDF}"/>
              </a:ext>
            </a:extLst>
          </p:cNvPr>
          <p:cNvSpPr/>
          <p:nvPr/>
        </p:nvSpPr>
        <p:spPr>
          <a:xfrm>
            <a:off x="1238251" y="1556768"/>
            <a:ext cx="8678482" cy="52168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800" dirty="0" err="1"/>
              <a:t>Pengamatan</a:t>
            </a:r>
            <a:r>
              <a:rPr lang="en-US" sz="1800" dirty="0"/>
              <a:t> dan </a:t>
            </a:r>
            <a:r>
              <a:rPr lang="en-US" sz="1800" dirty="0" err="1"/>
              <a:t>eksperimen</a:t>
            </a:r>
            <a:r>
              <a:rPr lang="en-US" sz="1800" dirty="0"/>
              <a:t> </a:t>
            </a:r>
            <a:r>
              <a:rPr lang="en-US" sz="1800" dirty="0" err="1"/>
              <a:t>dalam</a:t>
            </a:r>
            <a:r>
              <a:rPr lang="en-US" sz="1800" dirty="0"/>
              <a:t> </a:t>
            </a:r>
            <a:r>
              <a:rPr lang="en-US" sz="1800" dirty="0" err="1"/>
              <a:t>bidang</a:t>
            </a:r>
            <a:r>
              <a:rPr lang="en-US" sz="1800" dirty="0"/>
              <a:t> </a:t>
            </a:r>
            <a:r>
              <a:rPr lang="en-US" sz="1800" dirty="0" err="1"/>
              <a:t>kimia</a:t>
            </a:r>
            <a:r>
              <a:rPr lang="en-US" sz="1800" dirty="0"/>
              <a:t>, </a:t>
            </a:r>
            <a:r>
              <a:rPr lang="en-US" sz="1800" dirty="0" err="1"/>
              <a:t>geologi</a:t>
            </a:r>
            <a:r>
              <a:rPr lang="en-US" sz="1800" dirty="0"/>
              <a:t>, dan </a:t>
            </a:r>
            <a:r>
              <a:rPr lang="en-US" sz="1800" dirty="0" err="1"/>
              <a:t>fisika</a:t>
            </a:r>
            <a:r>
              <a:rPr lang="en-US" sz="1800" dirty="0"/>
              <a:t> </a:t>
            </a:r>
            <a:r>
              <a:rPr lang="en-US" sz="1800" dirty="0" err="1"/>
              <a:t>telah</a:t>
            </a:r>
            <a:r>
              <a:rPr lang="en-US" sz="1800" dirty="0"/>
              <a:t> </a:t>
            </a:r>
            <a:r>
              <a:rPr lang="en-US" sz="1800" dirty="0" err="1"/>
              <a:t>mendorong</a:t>
            </a:r>
            <a:r>
              <a:rPr lang="en-US" sz="1800" dirty="0"/>
              <a:t> para </a:t>
            </a:r>
            <a:r>
              <a:rPr lang="en-US" sz="1800" dirty="0" err="1"/>
              <a:t>ilmuwan</a:t>
            </a:r>
            <a:r>
              <a:rPr lang="en-US" sz="1800" dirty="0"/>
              <a:t> </a:t>
            </a:r>
            <a:r>
              <a:rPr lang="en-US" sz="1800" dirty="0" err="1"/>
              <a:t>untuk</a:t>
            </a:r>
            <a:r>
              <a:rPr lang="en-US" sz="1800" dirty="0"/>
              <a:t> </a:t>
            </a:r>
            <a:r>
              <a:rPr lang="en-US" sz="1800" dirty="0" err="1"/>
              <a:t>mengusulkan</a:t>
            </a:r>
            <a:r>
              <a:rPr lang="en-US" sz="1800" dirty="0"/>
              <a:t> </a:t>
            </a:r>
            <a:r>
              <a:rPr lang="en-US" sz="1800" dirty="0" err="1"/>
              <a:t>satu</a:t>
            </a:r>
            <a:r>
              <a:rPr lang="en-US" sz="1800" dirty="0"/>
              <a:t> </a:t>
            </a:r>
            <a:r>
              <a:rPr lang="en-US" sz="1800" dirty="0" err="1"/>
              <a:t>skenario</a:t>
            </a:r>
            <a:r>
              <a:rPr lang="en-US" sz="1800" dirty="0"/>
              <a:t> </a:t>
            </a:r>
            <a:r>
              <a:rPr lang="en-US" sz="1800" dirty="0" err="1"/>
              <a:t>kehidupan</a:t>
            </a:r>
            <a:r>
              <a:rPr lang="en-US" sz="1800" dirty="0"/>
              <a:t> di </a:t>
            </a:r>
            <a:r>
              <a:rPr lang="en-US" sz="1800" dirty="0" err="1"/>
              <a:t>bumi</a:t>
            </a:r>
            <a:r>
              <a:rPr lang="en-US" sz="1800" dirty="0"/>
              <a:t> </a:t>
            </a:r>
            <a:r>
              <a:rPr lang="en-US" sz="1800" dirty="0" err="1"/>
              <a:t>purba</a:t>
            </a:r>
            <a:r>
              <a:rPr lang="en-US" sz="1800" dirty="0"/>
              <a:t> yang </a:t>
            </a:r>
            <a:r>
              <a:rPr lang="en-US" sz="1800" dirty="0" err="1"/>
              <a:t>berasal</a:t>
            </a:r>
            <a:r>
              <a:rPr lang="en-US" sz="1800" dirty="0"/>
              <a:t> </a:t>
            </a:r>
            <a:r>
              <a:rPr lang="en-US" sz="1800" dirty="0" err="1"/>
              <a:t>dari</a:t>
            </a:r>
            <a:r>
              <a:rPr lang="en-US" sz="1800" dirty="0"/>
              <a:t> </a:t>
            </a:r>
            <a:r>
              <a:rPr lang="en-US" sz="1800" dirty="0" err="1"/>
              <a:t>mikroorganisme</a:t>
            </a:r>
            <a:r>
              <a:rPr lang="en-US" sz="1800" dirty="0"/>
              <a:t> yang </a:t>
            </a:r>
            <a:r>
              <a:rPr lang="en-US" sz="1800" dirty="0" err="1"/>
              <a:t>hidup</a:t>
            </a:r>
            <a:r>
              <a:rPr lang="en-US" sz="1800" dirty="0"/>
              <a:t> 3,5 </a:t>
            </a:r>
            <a:r>
              <a:rPr lang="en-US" sz="1800" dirty="0" err="1"/>
              <a:t>miliar</a:t>
            </a:r>
            <a:r>
              <a:rPr lang="en-US" sz="1800" dirty="0"/>
              <a:t> </a:t>
            </a:r>
            <a:r>
              <a:rPr lang="en-US" sz="1800" dirty="0" err="1"/>
              <a:t>tahun</a:t>
            </a:r>
            <a:r>
              <a:rPr lang="en-US" sz="1800" dirty="0"/>
              <a:t> yang </a:t>
            </a:r>
            <a:r>
              <a:rPr lang="en-US" sz="1800" dirty="0" err="1"/>
              <a:t>lalu</a:t>
            </a:r>
            <a:r>
              <a:rPr lang="en-US" sz="1800" dirty="0"/>
              <a:t>.</a:t>
            </a:r>
          </a:p>
          <a:p>
            <a:pPr algn="just"/>
            <a:endParaRPr lang="en-US" sz="1800" dirty="0"/>
          </a:p>
          <a:p>
            <a:pPr algn="just"/>
            <a:r>
              <a:rPr lang="en-US" sz="1800" dirty="0" err="1"/>
              <a:t>Mereka</a:t>
            </a:r>
            <a:r>
              <a:rPr lang="en-US" sz="1800" dirty="0"/>
              <a:t> </a:t>
            </a:r>
            <a:r>
              <a:rPr lang="en-US" sz="1800" dirty="0" err="1"/>
              <a:t>berhipotesis</a:t>
            </a:r>
            <a:r>
              <a:rPr lang="en-US" sz="1800" dirty="0"/>
              <a:t> </a:t>
            </a:r>
            <a:r>
              <a:rPr lang="en-US" sz="1800" dirty="0" err="1"/>
              <a:t>bahwa</a:t>
            </a:r>
            <a:r>
              <a:rPr lang="en-US" sz="1800" dirty="0"/>
              <a:t> proses </a:t>
            </a:r>
            <a:r>
              <a:rPr lang="en-US" sz="1800" dirty="0" err="1"/>
              <a:t>kimia</a:t>
            </a:r>
            <a:r>
              <a:rPr lang="en-US" sz="1800" dirty="0"/>
              <a:t> dan </a:t>
            </a:r>
            <a:r>
              <a:rPr lang="en-US" sz="1800" dirty="0" err="1"/>
              <a:t>fisika</a:t>
            </a:r>
            <a:r>
              <a:rPr lang="en-US" sz="1800" dirty="0"/>
              <a:t> </a:t>
            </a:r>
            <a:r>
              <a:rPr lang="en-US" sz="1800" dirty="0" err="1"/>
              <a:t>dapat</a:t>
            </a:r>
            <a:r>
              <a:rPr lang="en-US" sz="1800" dirty="0"/>
              <a:t> </a:t>
            </a:r>
            <a:r>
              <a:rPr lang="en-US" sz="1800" dirty="0" err="1"/>
              <a:t>menghasilkan</a:t>
            </a:r>
            <a:r>
              <a:rPr lang="en-US" sz="1800" dirty="0"/>
              <a:t> </a:t>
            </a:r>
            <a:r>
              <a:rPr lang="en-US" sz="1800" dirty="0" err="1"/>
              <a:t>sel-sel</a:t>
            </a:r>
            <a:r>
              <a:rPr lang="en-US" sz="1800" dirty="0"/>
              <a:t> </a:t>
            </a:r>
            <a:r>
              <a:rPr lang="en-US" sz="1800" dirty="0" err="1"/>
              <a:t>sederhana</a:t>
            </a:r>
            <a:r>
              <a:rPr lang="en-US" sz="1800" dirty="0"/>
              <a:t> </a:t>
            </a:r>
            <a:r>
              <a:rPr lang="en-US" sz="1800" dirty="0" err="1"/>
              <a:t>melalui</a:t>
            </a:r>
            <a:r>
              <a:rPr lang="en-US" sz="1800" dirty="0"/>
              <a:t> </a:t>
            </a:r>
            <a:r>
              <a:rPr lang="en-US" sz="1800" dirty="0" err="1"/>
              <a:t>serangkaian</a:t>
            </a:r>
            <a:r>
              <a:rPr lang="en-US" sz="1800" dirty="0"/>
              <a:t> </a:t>
            </a:r>
            <a:r>
              <a:rPr lang="en-US" sz="1800" dirty="0" err="1"/>
              <a:t>empat</a:t>
            </a:r>
            <a:r>
              <a:rPr lang="en-US" sz="1800" dirty="0"/>
              <a:t> </a:t>
            </a:r>
            <a:r>
              <a:rPr lang="en-US" sz="1800" dirty="0" err="1"/>
              <a:t>tahap</a:t>
            </a:r>
            <a:r>
              <a:rPr lang="en-US" sz="1800" dirty="0"/>
              <a:t> </a:t>
            </a:r>
            <a:r>
              <a:rPr lang="en-US" sz="1800" dirty="0" err="1"/>
              <a:t>utama</a:t>
            </a:r>
            <a:r>
              <a:rPr lang="en-US" sz="1800" dirty="0"/>
              <a:t>:</a:t>
            </a:r>
          </a:p>
          <a:p>
            <a:pPr marL="457200" indent="-457200" algn="just">
              <a:buAutoNum type="arabicPeriod"/>
            </a:pPr>
            <a:r>
              <a:rPr lang="en-US" sz="1800" dirty="0" err="1"/>
              <a:t>Sintesis</a:t>
            </a:r>
            <a:r>
              <a:rPr lang="en-US" sz="1800" dirty="0"/>
              <a:t> </a:t>
            </a:r>
            <a:r>
              <a:rPr lang="en-US" sz="1800" dirty="0" err="1"/>
              <a:t>abiotik</a:t>
            </a:r>
            <a:r>
              <a:rPr lang="en-US" sz="1800" dirty="0"/>
              <a:t> (non-</a:t>
            </a:r>
            <a:r>
              <a:rPr lang="en-US" sz="1800" dirty="0" err="1"/>
              <a:t>hidup</a:t>
            </a:r>
            <a:r>
              <a:rPr lang="en-US" sz="1800" dirty="0"/>
              <a:t>) </a:t>
            </a:r>
            <a:r>
              <a:rPr lang="en-US" sz="1800" dirty="0" err="1"/>
              <a:t>molekul</a:t>
            </a:r>
            <a:r>
              <a:rPr lang="en-US" sz="1800" dirty="0"/>
              <a:t> </a:t>
            </a:r>
            <a:r>
              <a:rPr lang="en-US" sz="1800" dirty="0" err="1"/>
              <a:t>organik</a:t>
            </a:r>
            <a:r>
              <a:rPr lang="en-US" sz="1800" dirty="0"/>
              <a:t> </a:t>
            </a:r>
            <a:r>
              <a:rPr lang="en-US" sz="1800" dirty="0" err="1"/>
              <a:t>kecil</a:t>
            </a:r>
            <a:r>
              <a:rPr lang="en-US" sz="1800" dirty="0"/>
              <a:t>, </a:t>
            </a:r>
            <a:r>
              <a:rPr lang="en-US" sz="1800" dirty="0" err="1"/>
              <a:t>seperti</a:t>
            </a:r>
            <a:r>
              <a:rPr lang="en-US" sz="1800" dirty="0"/>
              <a:t> </a:t>
            </a:r>
            <a:r>
              <a:rPr lang="en-US" sz="1800" dirty="0" err="1"/>
              <a:t>asam</a:t>
            </a:r>
            <a:r>
              <a:rPr lang="en-US" sz="1800" dirty="0"/>
              <a:t> amino dan </a:t>
            </a:r>
            <a:r>
              <a:rPr lang="en-US" sz="1800" dirty="0" err="1"/>
              <a:t>basa</a:t>
            </a:r>
            <a:r>
              <a:rPr lang="en-US" sz="1800" dirty="0"/>
              <a:t> nitrogen.</a:t>
            </a:r>
          </a:p>
          <a:p>
            <a:pPr marL="457200" indent="-457200" algn="just">
              <a:buAutoNum type="arabicPeriod"/>
            </a:pPr>
            <a:r>
              <a:rPr lang="en-US" sz="1800" dirty="0" err="1"/>
              <a:t>Penggabungan</a:t>
            </a:r>
            <a:r>
              <a:rPr lang="en-US" sz="1800" dirty="0"/>
              <a:t> </a:t>
            </a:r>
            <a:r>
              <a:rPr lang="en-US" sz="1800" dirty="0" err="1"/>
              <a:t>molekul-molekul</a:t>
            </a:r>
            <a:r>
              <a:rPr lang="en-US" sz="1800" dirty="0"/>
              <a:t> </a:t>
            </a:r>
            <a:r>
              <a:rPr lang="en-US" sz="1800" dirty="0" err="1"/>
              <a:t>kecil</a:t>
            </a:r>
            <a:r>
              <a:rPr lang="en-US" sz="1800" dirty="0"/>
              <a:t> </a:t>
            </a:r>
            <a:r>
              <a:rPr lang="en-US" sz="1800" dirty="0" err="1"/>
              <a:t>ini</a:t>
            </a:r>
            <a:r>
              <a:rPr lang="en-US" sz="1800" dirty="0"/>
              <a:t> </a:t>
            </a:r>
            <a:r>
              <a:rPr lang="en-US" sz="1800" dirty="0" err="1"/>
              <a:t>menjadi</a:t>
            </a:r>
            <a:r>
              <a:rPr lang="en-US" sz="1800" dirty="0"/>
              <a:t> </a:t>
            </a:r>
            <a:r>
              <a:rPr lang="en-US" sz="1800" dirty="0" err="1"/>
              <a:t>makromolekul</a:t>
            </a:r>
            <a:r>
              <a:rPr lang="en-US" sz="1800" dirty="0"/>
              <a:t>, </a:t>
            </a:r>
            <a:r>
              <a:rPr lang="en-US" sz="1800" dirty="0" err="1"/>
              <a:t>seperti</a:t>
            </a:r>
            <a:r>
              <a:rPr lang="en-US" sz="1800" dirty="0"/>
              <a:t> protein dan </a:t>
            </a:r>
            <a:r>
              <a:rPr lang="en-US" sz="1800" dirty="0" err="1"/>
              <a:t>asam</a:t>
            </a:r>
            <a:r>
              <a:rPr lang="en-US" sz="1800" dirty="0"/>
              <a:t> </a:t>
            </a:r>
            <a:r>
              <a:rPr lang="en-US" sz="1800" dirty="0" err="1"/>
              <a:t>nukleat</a:t>
            </a:r>
            <a:r>
              <a:rPr lang="en-US" sz="1800" dirty="0"/>
              <a:t>.</a:t>
            </a:r>
          </a:p>
          <a:p>
            <a:pPr marL="457200" indent="-457200" algn="just">
              <a:buAutoNum type="arabicPeriod"/>
            </a:pPr>
            <a:r>
              <a:rPr lang="en-US" sz="1800" dirty="0" err="1"/>
              <a:t>Pengemasan</a:t>
            </a:r>
            <a:r>
              <a:rPr lang="en-US" sz="1800" dirty="0"/>
              <a:t> </a:t>
            </a:r>
            <a:r>
              <a:rPr lang="en-US" sz="1800" dirty="0" err="1"/>
              <a:t>molekul-molekul</a:t>
            </a:r>
            <a:r>
              <a:rPr lang="en-US" sz="1800" dirty="0"/>
              <a:t> </a:t>
            </a:r>
            <a:r>
              <a:rPr lang="en-US" sz="1800" dirty="0" err="1"/>
              <a:t>ini</a:t>
            </a:r>
            <a:r>
              <a:rPr lang="en-US" sz="1800" dirty="0"/>
              <a:t> </a:t>
            </a:r>
            <a:r>
              <a:rPr lang="en-US" sz="1800" dirty="0" err="1"/>
              <a:t>ke</a:t>
            </a:r>
            <a:r>
              <a:rPr lang="en-US" sz="1800" dirty="0"/>
              <a:t> </a:t>
            </a:r>
            <a:r>
              <a:rPr lang="en-US" sz="1800" dirty="0" err="1"/>
              <a:t>dalam</a:t>
            </a:r>
            <a:r>
              <a:rPr lang="en-US" sz="1800" dirty="0"/>
              <a:t> </a:t>
            </a:r>
            <a:r>
              <a:rPr lang="en-US" sz="1800" dirty="0" err="1"/>
              <a:t>protocel</a:t>
            </a:r>
            <a:r>
              <a:rPr lang="en-US" sz="1800" dirty="0"/>
              <a:t>, </a:t>
            </a:r>
            <a:r>
              <a:rPr lang="en-US" sz="1800" dirty="0" err="1"/>
              <a:t>yaitu</a:t>
            </a:r>
            <a:r>
              <a:rPr lang="en-US" sz="1800" dirty="0"/>
              <a:t> </a:t>
            </a:r>
            <a:r>
              <a:rPr lang="en-US" sz="1800" dirty="0" err="1"/>
              <a:t>tetesan</a:t>
            </a:r>
            <a:r>
              <a:rPr lang="en-US" sz="1800" dirty="0"/>
              <a:t> </a:t>
            </a:r>
            <a:r>
              <a:rPr lang="en-US" sz="1800" dirty="0" err="1"/>
              <a:t>dengan</a:t>
            </a:r>
            <a:r>
              <a:rPr lang="en-US" sz="1800" dirty="0"/>
              <a:t> </a:t>
            </a:r>
            <a:r>
              <a:rPr lang="en-US" sz="1800" dirty="0" err="1"/>
              <a:t>membran</a:t>
            </a:r>
            <a:r>
              <a:rPr lang="en-US" sz="1800" dirty="0"/>
              <a:t> yang </a:t>
            </a:r>
            <a:r>
              <a:rPr lang="en-US" sz="1800" dirty="0" err="1"/>
              <a:t>mempertahankan</a:t>
            </a:r>
            <a:r>
              <a:rPr lang="en-US" sz="1800" dirty="0"/>
              <a:t> </a:t>
            </a:r>
            <a:r>
              <a:rPr lang="en-US" sz="1800" dirty="0" err="1"/>
              <a:t>kimia</a:t>
            </a:r>
            <a:r>
              <a:rPr lang="en-US" sz="1800" dirty="0"/>
              <a:t> internal yang </a:t>
            </a:r>
            <a:r>
              <a:rPr lang="en-US" sz="1800" dirty="0" err="1"/>
              <a:t>berbeda</a:t>
            </a:r>
            <a:r>
              <a:rPr lang="en-US" sz="1800" dirty="0"/>
              <a:t> </a:t>
            </a:r>
            <a:r>
              <a:rPr lang="en-US" sz="1800" dirty="0" err="1"/>
              <a:t>dari</a:t>
            </a:r>
            <a:r>
              <a:rPr lang="en-US" sz="1800" dirty="0"/>
              <a:t> </a:t>
            </a:r>
            <a:r>
              <a:rPr lang="en-US" sz="1800" dirty="0" err="1"/>
              <a:t>lingkungan</a:t>
            </a:r>
            <a:r>
              <a:rPr lang="en-US" sz="1800" dirty="0"/>
              <a:t> </a:t>
            </a:r>
            <a:r>
              <a:rPr lang="en-US" sz="1800" dirty="0" err="1"/>
              <a:t>sekitarnya</a:t>
            </a:r>
            <a:r>
              <a:rPr lang="en-US" sz="1800" dirty="0"/>
              <a:t>.</a:t>
            </a:r>
          </a:p>
          <a:p>
            <a:pPr marL="457200" indent="-457200" algn="just">
              <a:buAutoNum type="arabicPeriod"/>
            </a:pPr>
            <a:r>
              <a:rPr lang="en-US" sz="1800" dirty="0"/>
              <a:t>Asal </a:t>
            </a:r>
            <a:r>
              <a:rPr lang="en-US" sz="1800" dirty="0" err="1"/>
              <a:t>mula</a:t>
            </a:r>
            <a:r>
              <a:rPr lang="en-US" sz="1800" dirty="0"/>
              <a:t> </a:t>
            </a:r>
            <a:r>
              <a:rPr lang="en-US" sz="1800" dirty="0" err="1"/>
              <a:t>molekul</a:t>
            </a:r>
            <a:r>
              <a:rPr lang="en-US" sz="1800" dirty="0"/>
              <a:t> yang </a:t>
            </a:r>
            <a:r>
              <a:rPr lang="en-US" sz="1800" dirty="0" err="1"/>
              <a:t>dapat</a:t>
            </a:r>
            <a:r>
              <a:rPr lang="en-US" sz="1800" dirty="0"/>
              <a:t> </a:t>
            </a:r>
            <a:r>
              <a:rPr lang="en-US" sz="1800" dirty="0" err="1"/>
              <a:t>mereplikasi</a:t>
            </a:r>
            <a:r>
              <a:rPr lang="en-US" sz="1800" dirty="0"/>
              <a:t> </a:t>
            </a:r>
            <a:r>
              <a:rPr lang="en-US" sz="1800" dirty="0" err="1"/>
              <a:t>diri</a:t>
            </a:r>
            <a:r>
              <a:rPr lang="en-US" sz="1800" dirty="0"/>
              <a:t> </a:t>
            </a:r>
            <a:r>
              <a:rPr lang="en-US" sz="1800" dirty="0" err="1"/>
              <a:t>sendiri</a:t>
            </a:r>
            <a:r>
              <a:rPr lang="en-US" sz="1800" dirty="0"/>
              <a:t> yang pada </a:t>
            </a:r>
            <a:r>
              <a:rPr lang="en-US" sz="1800" dirty="0" err="1"/>
              <a:t>akhirnya</a:t>
            </a:r>
            <a:r>
              <a:rPr lang="en-US" sz="1800" dirty="0"/>
              <a:t> </a:t>
            </a:r>
            <a:r>
              <a:rPr lang="en-US" sz="1800" dirty="0" err="1"/>
              <a:t>memungkinkan</a:t>
            </a:r>
            <a:r>
              <a:rPr lang="en-US" sz="1800" dirty="0"/>
              <a:t> </a:t>
            </a:r>
            <a:r>
              <a:rPr lang="en-US" sz="1800" dirty="0" err="1"/>
              <a:t>pewarisan</a:t>
            </a:r>
            <a:r>
              <a:rPr lang="en-US" sz="1800" dirty="0"/>
              <a:t> </a:t>
            </a:r>
            <a:r>
              <a:rPr lang="en-US" sz="1800" dirty="0" err="1"/>
              <a:t>sifat</a:t>
            </a:r>
            <a:r>
              <a:rPr lang="en-US" sz="1800" dirty="0"/>
              <a:t>.</a:t>
            </a:r>
          </a:p>
          <a:p>
            <a:pPr algn="just"/>
            <a:endParaRPr lang="en-US" sz="1800" dirty="0"/>
          </a:p>
          <a:p>
            <a:pPr algn="just"/>
            <a:r>
              <a:rPr lang="en-HK" b="1" u="sng" dirty="0"/>
              <a:t>Key evolutionary events</a:t>
            </a:r>
            <a:r>
              <a:rPr lang="en-HK" b="1" dirty="0"/>
              <a:t> </a:t>
            </a:r>
            <a:r>
              <a:rPr lang="en-US" dirty="0"/>
              <a:t>“</a:t>
            </a:r>
            <a:r>
              <a:rPr lang="en-US" dirty="0" err="1"/>
              <a:t>revolusi</a:t>
            </a:r>
            <a:r>
              <a:rPr lang="en-US" dirty="0"/>
              <a:t> </a:t>
            </a:r>
            <a:r>
              <a:rPr lang="en-US" dirty="0" err="1"/>
              <a:t>oksigen</a:t>
            </a:r>
            <a:r>
              <a:rPr lang="en-US" dirty="0"/>
              <a:t>”; </a:t>
            </a:r>
            <a:r>
              <a:rPr lang="en-US" dirty="0" err="1"/>
              <a:t>asal</a:t>
            </a:r>
            <a:r>
              <a:rPr lang="en-US" dirty="0"/>
              <a:t> </a:t>
            </a:r>
            <a:r>
              <a:rPr lang="en-US" dirty="0" err="1"/>
              <a:t>usul</a:t>
            </a:r>
            <a:r>
              <a:rPr lang="en-US" dirty="0"/>
              <a:t> </a:t>
            </a:r>
            <a:r>
              <a:rPr lang="en-US" dirty="0" err="1"/>
              <a:t>eukariota</a:t>
            </a:r>
            <a:r>
              <a:rPr lang="en-US" dirty="0"/>
              <a:t>, </a:t>
            </a:r>
            <a:r>
              <a:rPr lang="en-US" dirty="0" err="1"/>
              <a:t>organisme</a:t>
            </a:r>
            <a:r>
              <a:rPr lang="en-US" dirty="0"/>
              <a:t> </a:t>
            </a:r>
            <a:r>
              <a:rPr lang="en-US" dirty="0" err="1"/>
              <a:t>multiseluler</a:t>
            </a:r>
            <a:r>
              <a:rPr lang="en-US" dirty="0"/>
              <a:t> </a:t>
            </a:r>
            <a:r>
              <a:rPr lang="en-US" dirty="0" err="1"/>
              <a:t>pertama</a:t>
            </a:r>
            <a:r>
              <a:rPr lang="en-US" dirty="0"/>
              <a:t>; </a:t>
            </a:r>
            <a:r>
              <a:rPr lang="en-US" dirty="0" err="1"/>
              <a:t>kolonisasi</a:t>
            </a:r>
            <a:r>
              <a:rPr lang="en-US" dirty="0"/>
              <a:t> </a:t>
            </a:r>
            <a:r>
              <a:rPr lang="en-US" dirty="0" err="1"/>
              <a:t>daratan</a:t>
            </a:r>
            <a:r>
              <a:rPr lang="en-US" dirty="0"/>
              <a:t> oleh </a:t>
            </a:r>
            <a:r>
              <a:rPr lang="en-US" dirty="0" err="1"/>
              <a:t>eukariota</a:t>
            </a:r>
            <a:r>
              <a:rPr lang="en-US" dirty="0"/>
              <a:t> </a:t>
            </a:r>
            <a:r>
              <a:rPr lang="en-US" dirty="0" err="1"/>
              <a:t>besar</a:t>
            </a:r>
            <a:r>
              <a:rPr lang="en-US" dirty="0"/>
              <a:t>; </a:t>
            </a:r>
            <a:r>
              <a:rPr lang="en-US" dirty="0" err="1"/>
              <a:t>asal</a:t>
            </a:r>
            <a:r>
              <a:rPr lang="en-US" dirty="0"/>
              <a:t> </a:t>
            </a:r>
            <a:r>
              <a:rPr lang="en-US" dirty="0" err="1"/>
              <a:t>usul</a:t>
            </a:r>
            <a:r>
              <a:rPr lang="en-US" dirty="0"/>
              <a:t> </a:t>
            </a:r>
            <a:r>
              <a:rPr lang="en-US" dirty="0" err="1"/>
              <a:t>tetrapoda</a:t>
            </a:r>
            <a:r>
              <a:rPr lang="en-US" dirty="0"/>
              <a:t>; dan </a:t>
            </a:r>
            <a:r>
              <a:rPr lang="en-US" dirty="0" err="1"/>
              <a:t>kepunahan</a:t>
            </a:r>
            <a:r>
              <a:rPr lang="en-US" dirty="0"/>
              <a:t> </a:t>
            </a:r>
            <a:r>
              <a:rPr lang="en-US" dirty="0" err="1"/>
              <a:t>massal</a:t>
            </a:r>
            <a:r>
              <a:rPr lang="en-US" dirty="0"/>
              <a:t> Permian.</a:t>
            </a:r>
            <a:endParaRPr lang="en-US" sz="1800" dirty="0"/>
          </a:p>
        </p:txBody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8ABA6F95-747B-4FDF-946A-24A16ECC570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343525" y="37814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124806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4C8ACB7-62F4-4DFA-BF4E-F704AD38BEDF}"/>
              </a:ext>
            </a:extLst>
          </p:cNvPr>
          <p:cNvSpPr/>
          <p:nvPr/>
        </p:nvSpPr>
        <p:spPr>
          <a:xfrm>
            <a:off x="1238250" y="1556768"/>
            <a:ext cx="8954621" cy="46474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HK" sz="2800" dirty="0" err="1"/>
              <a:t>Sintesis</a:t>
            </a:r>
            <a:r>
              <a:rPr lang="en-HK" sz="2800" dirty="0"/>
              <a:t> </a:t>
            </a:r>
            <a:r>
              <a:rPr lang="en-HK" sz="2800" dirty="0" err="1"/>
              <a:t>Abiotik</a:t>
            </a:r>
            <a:r>
              <a:rPr lang="en-HK" sz="2800" dirty="0"/>
              <a:t> </a:t>
            </a:r>
            <a:r>
              <a:rPr lang="en-HK" sz="2800" dirty="0" err="1"/>
              <a:t>Makromolekul</a:t>
            </a:r>
            <a:endParaRPr lang="en-HK" sz="2800" dirty="0"/>
          </a:p>
          <a:p>
            <a:pPr algn="just"/>
            <a:endParaRPr lang="en-HK" sz="2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 err="1"/>
              <a:t>Molekul</a:t>
            </a:r>
            <a:r>
              <a:rPr lang="en-US" sz="2400" dirty="0"/>
              <a:t> </a:t>
            </a:r>
            <a:r>
              <a:rPr lang="en-US" sz="2400" dirty="0" err="1"/>
              <a:t>organik</a:t>
            </a:r>
            <a:r>
              <a:rPr lang="en-US" sz="2400" dirty="0"/>
              <a:t> </a:t>
            </a:r>
            <a:r>
              <a:rPr lang="en-US" sz="2400" dirty="0" err="1"/>
              <a:t>kecil</a:t>
            </a:r>
            <a:r>
              <a:rPr lang="en-US" sz="2400" dirty="0"/>
              <a:t>, </a:t>
            </a:r>
            <a:r>
              <a:rPr lang="en-US" sz="2400" dirty="0" err="1"/>
              <a:t>seperti</a:t>
            </a:r>
            <a:r>
              <a:rPr lang="en-US" sz="2400" dirty="0"/>
              <a:t> </a:t>
            </a:r>
            <a:r>
              <a:rPr lang="en-US" sz="2400" dirty="0" err="1"/>
              <a:t>asam</a:t>
            </a:r>
            <a:r>
              <a:rPr lang="en-US" sz="2400" dirty="0"/>
              <a:t> amino dan </a:t>
            </a:r>
            <a:r>
              <a:rPr lang="en-US" sz="2400" dirty="0" err="1"/>
              <a:t>basa</a:t>
            </a:r>
            <a:r>
              <a:rPr lang="en-US" sz="2400" dirty="0"/>
              <a:t> nitrogen, </a:t>
            </a:r>
            <a:r>
              <a:rPr lang="en-US" sz="2400" dirty="0" err="1"/>
              <a:t>tidak</a:t>
            </a:r>
            <a:r>
              <a:rPr lang="en-US" sz="2400" dirty="0"/>
              <a:t> </a:t>
            </a:r>
            <a:r>
              <a:rPr lang="en-US" sz="2400" dirty="0" err="1"/>
              <a:t>cukup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munculnya</a:t>
            </a:r>
            <a:r>
              <a:rPr lang="en-US" sz="2400" dirty="0"/>
              <a:t> </a:t>
            </a:r>
            <a:r>
              <a:rPr lang="en-US" sz="2400" dirty="0" err="1"/>
              <a:t>kehidupan</a:t>
            </a:r>
            <a:r>
              <a:rPr lang="en-US" sz="2400" dirty="0"/>
              <a:t>. </a:t>
            </a:r>
            <a:r>
              <a:rPr lang="en-US" sz="2400" dirty="0" err="1"/>
              <a:t>Setiap</a:t>
            </a:r>
            <a:r>
              <a:rPr lang="en-US" sz="2400" dirty="0"/>
              <a:t> </a:t>
            </a:r>
            <a:r>
              <a:rPr lang="en-US" sz="2400" dirty="0" err="1"/>
              <a:t>sel</a:t>
            </a:r>
            <a:r>
              <a:rPr lang="en-US" sz="2400" dirty="0"/>
              <a:t> </a:t>
            </a:r>
            <a:r>
              <a:rPr lang="en-US" sz="2400" dirty="0" err="1"/>
              <a:t>memiliki</a:t>
            </a:r>
            <a:r>
              <a:rPr lang="en-US" sz="2400" dirty="0"/>
              <a:t> </a:t>
            </a:r>
            <a:r>
              <a:rPr lang="en-US" sz="2400" dirty="0" err="1"/>
              <a:t>banyak</a:t>
            </a:r>
            <a:r>
              <a:rPr lang="en-US" sz="2400" dirty="0"/>
              <a:t> </a:t>
            </a:r>
            <a:r>
              <a:rPr lang="en-US" sz="2400" dirty="0" err="1"/>
              <a:t>jenis</a:t>
            </a:r>
            <a:r>
              <a:rPr lang="en-US" sz="2400" dirty="0"/>
              <a:t> </a:t>
            </a:r>
            <a:r>
              <a:rPr lang="en-US" sz="2400" dirty="0" err="1"/>
              <a:t>makromolekul</a:t>
            </a:r>
            <a:r>
              <a:rPr lang="en-US" sz="2400" dirty="0"/>
              <a:t> (</a:t>
            </a:r>
            <a:r>
              <a:rPr lang="en-US" sz="2400" dirty="0" err="1"/>
              <a:t>enzim</a:t>
            </a:r>
            <a:r>
              <a:rPr lang="en-US" sz="2400" dirty="0"/>
              <a:t> dan protein </a:t>
            </a:r>
            <a:r>
              <a:rPr lang="en-US" sz="2400" dirty="0" err="1"/>
              <a:t>lainnya</a:t>
            </a:r>
            <a:r>
              <a:rPr lang="en-US" sz="2400" dirty="0"/>
              <a:t>) dan </a:t>
            </a:r>
            <a:r>
              <a:rPr lang="en-US" sz="2400" dirty="0" err="1"/>
              <a:t>asam</a:t>
            </a:r>
            <a:r>
              <a:rPr lang="en-US" sz="2400" dirty="0"/>
              <a:t> </a:t>
            </a:r>
            <a:r>
              <a:rPr lang="en-US" sz="2400" dirty="0" err="1"/>
              <a:t>nukleat</a:t>
            </a:r>
            <a:r>
              <a:rPr lang="en-US" sz="2400" dirty="0"/>
              <a:t> yang </a:t>
            </a:r>
            <a:r>
              <a:rPr lang="en-US" sz="2400" dirty="0" err="1"/>
              <a:t>dibutuhkan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replikasi</a:t>
            </a:r>
            <a:r>
              <a:rPr lang="en-US" sz="2400" dirty="0"/>
              <a:t> </a:t>
            </a:r>
            <a:r>
              <a:rPr lang="en-US" sz="2400" dirty="0" err="1"/>
              <a:t>diri</a:t>
            </a:r>
            <a:r>
              <a:rPr lang="en-US" sz="2400" dirty="0"/>
              <a:t>.</a:t>
            </a:r>
          </a:p>
          <a:p>
            <a:pPr algn="just"/>
            <a:endParaRPr lang="en-US" sz="2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HK" sz="2400" dirty="0" err="1"/>
              <a:t>Sebuah</a:t>
            </a:r>
            <a:r>
              <a:rPr lang="en-HK" sz="2400" dirty="0"/>
              <a:t> </a:t>
            </a:r>
            <a:r>
              <a:rPr lang="en-HK" sz="2400" dirty="0" err="1"/>
              <a:t>studi</a:t>
            </a:r>
            <a:r>
              <a:rPr lang="en-HK" sz="2400" dirty="0"/>
              <a:t> </a:t>
            </a:r>
            <a:r>
              <a:rPr lang="en-HK" sz="2400" dirty="0" err="1"/>
              <a:t>tahun</a:t>
            </a:r>
            <a:r>
              <a:rPr lang="en-HK" sz="2400" dirty="0"/>
              <a:t> 2016 </a:t>
            </a:r>
            <a:r>
              <a:rPr lang="en-HK" sz="2400" dirty="0" err="1"/>
              <a:t>menunjukkan</a:t>
            </a:r>
            <a:r>
              <a:rPr lang="en-HK" sz="2400" dirty="0"/>
              <a:t> </a:t>
            </a:r>
            <a:r>
              <a:rPr lang="en-HK" sz="2400" dirty="0" err="1"/>
              <a:t>bahwa</a:t>
            </a:r>
            <a:r>
              <a:rPr lang="en-HK" sz="2400" dirty="0"/>
              <a:t> </a:t>
            </a:r>
            <a:r>
              <a:rPr lang="en-HK" sz="2400" dirty="0" err="1"/>
              <a:t>sintesis</a:t>
            </a:r>
            <a:r>
              <a:rPr lang="en-HK" sz="2400" dirty="0"/>
              <a:t> </a:t>
            </a:r>
            <a:r>
              <a:rPr lang="en-HK" sz="2400" dirty="0" err="1"/>
              <a:t>abiotik</a:t>
            </a:r>
            <a:r>
              <a:rPr lang="en-HK" sz="2400" dirty="0"/>
              <a:t> </a:t>
            </a:r>
            <a:r>
              <a:rPr lang="en-HK" sz="2400" dirty="0" err="1"/>
              <a:t>dari</a:t>
            </a:r>
            <a:r>
              <a:rPr lang="en-HK" sz="2400" dirty="0"/>
              <a:t> dua </a:t>
            </a:r>
            <a:r>
              <a:rPr lang="en-HK" sz="2400" dirty="0" err="1"/>
              <a:t>basa</a:t>
            </a:r>
            <a:r>
              <a:rPr lang="en-HK" sz="2400" dirty="0"/>
              <a:t> </a:t>
            </a:r>
            <a:r>
              <a:rPr lang="en-HK" sz="2400" dirty="0" err="1"/>
              <a:t>purin</a:t>
            </a:r>
            <a:r>
              <a:rPr lang="en-HK" sz="2400" dirty="0"/>
              <a:t> RNA, </a:t>
            </a:r>
            <a:r>
              <a:rPr lang="en-HK" sz="2400" dirty="0" err="1"/>
              <a:t>adenin</a:t>
            </a:r>
            <a:r>
              <a:rPr lang="en-HK" sz="2400" dirty="0"/>
              <a:t> (A) dan guanin (G), </a:t>
            </a:r>
            <a:r>
              <a:rPr lang="en-HK" sz="2400" dirty="0" err="1"/>
              <a:t>dapat</a:t>
            </a:r>
            <a:r>
              <a:rPr lang="en-HK" sz="2400" dirty="0"/>
              <a:t> </a:t>
            </a:r>
            <a:r>
              <a:rPr lang="en-HK" sz="2400" dirty="0" err="1"/>
              <a:t>terjadi</a:t>
            </a:r>
            <a:r>
              <a:rPr lang="en-HK" sz="2400" dirty="0"/>
              <a:t> </a:t>
            </a:r>
            <a:r>
              <a:rPr lang="en-HK" sz="2400" dirty="0" err="1"/>
              <a:t>secara</a:t>
            </a:r>
            <a:r>
              <a:rPr lang="en-HK" sz="2400" dirty="0"/>
              <a:t> </a:t>
            </a:r>
            <a:r>
              <a:rPr lang="en-HK" sz="2400" dirty="0" err="1"/>
              <a:t>spontan</a:t>
            </a:r>
            <a:r>
              <a:rPr lang="en-HK" sz="2400" dirty="0"/>
              <a:t> </a:t>
            </a:r>
            <a:r>
              <a:rPr lang="en-HK" sz="2400" dirty="0" err="1"/>
              <a:t>dari</a:t>
            </a:r>
            <a:r>
              <a:rPr lang="en-HK" sz="2400" dirty="0"/>
              <a:t> </a:t>
            </a:r>
            <a:r>
              <a:rPr lang="en-HK" sz="2400" dirty="0" err="1"/>
              <a:t>molekul</a:t>
            </a:r>
            <a:r>
              <a:rPr lang="en-HK" sz="2400" dirty="0"/>
              <a:t> </a:t>
            </a:r>
            <a:r>
              <a:rPr lang="en-HK" sz="2400" dirty="0" err="1"/>
              <a:t>prekursor</a:t>
            </a:r>
            <a:r>
              <a:rPr lang="en-HK" sz="2400" dirty="0"/>
              <a:t> </a:t>
            </a:r>
            <a:r>
              <a:rPr lang="en-HK" sz="2400" dirty="0" err="1"/>
              <a:t>sederhana</a:t>
            </a:r>
            <a:r>
              <a:rPr lang="en-HK" sz="2400" dirty="0"/>
              <a:t>. </a:t>
            </a:r>
            <a:r>
              <a:rPr lang="en-HK" sz="2400" dirty="0" err="1"/>
              <a:t>Sintesis</a:t>
            </a:r>
            <a:r>
              <a:rPr lang="en-HK" sz="2400" dirty="0"/>
              <a:t> </a:t>
            </a:r>
            <a:r>
              <a:rPr lang="en-HK" sz="2400" dirty="0" err="1"/>
              <a:t>abiotik</a:t>
            </a:r>
            <a:r>
              <a:rPr lang="en-HK" sz="2400" dirty="0"/>
              <a:t> </a:t>
            </a:r>
            <a:r>
              <a:rPr lang="en-HK" sz="2400" dirty="0" err="1"/>
              <a:t>basa</a:t>
            </a:r>
            <a:r>
              <a:rPr lang="en-HK" sz="2400" dirty="0"/>
              <a:t> </a:t>
            </a:r>
            <a:r>
              <a:rPr lang="en-HK" sz="2400" dirty="0" err="1"/>
              <a:t>sitosin</a:t>
            </a:r>
            <a:r>
              <a:rPr lang="en-HK" sz="2400" dirty="0"/>
              <a:t> (C) dan </a:t>
            </a:r>
            <a:r>
              <a:rPr lang="en-HK" sz="2400" dirty="0" err="1"/>
              <a:t>urasil</a:t>
            </a:r>
            <a:r>
              <a:rPr lang="en-HK" sz="2400" dirty="0"/>
              <a:t> (U) yang </a:t>
            </a:r>
            <a:r>
              <a:rPr lang="en-HK" sz="2400" dirty="0" err="1"/>
              <a:t>lebih</a:t>
            </a:r>
            <a:r>
              <a:rPr lang="en-HK" sz="2400" dirty="0"/>
              <a:t> </a:t>
            </a:r>
            <a:r>
              <a:rPr lang="en-HK" sz="2400" dirty="0" err="1"/>
              <a:t>kecil</a:t>
            </a:r>
            <a:r>
              <a:rPr lang="en-HK" sz="2400" dirty="0"/>
              <a:t> </a:t>
            </a:r>
            <a:r>
              <a:rPr lang="en-HK" sz="2400" dirty="0" err="1"/>
              <a:t>berhasil</a:t>
            </a:r>
            <a:r>
              <a:rPr lang="en-HK" sz="2400" dirty="0"/>
              <a:t> </a:t>
            </a:r>
            <a:r>
              <a:rPr lang="en-HK" sz="2400" dirty="0" err="1"/>
              <a:t>dilakukan</a:t>
            </a:r>
            <a:r>
              <a:rPr lang="en-HK" sz="2400" dirty="0"/>
              <a:t> pada </a:t>
            </a:r>
            <a:r>
              <a:rPr lang="en-HK" sz="2400" dirty="0" err="1"/>
              <a:t>tahun</a:t>
            </a:r>
            <a:r>
              <a:rPr lang="en-HK" sz="2400" dirty="0"/>
              <a:t> 2009.</a:t>
            </a:r>
            <a:endParaRPr lang="en-US" sz="2400" dirty="0"/>
          </a:p>
        </p:txBody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8ABA6F95-747B-4FDF-946A-24A16ECC570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343525" y="37814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HK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34DDDBF-6097-F4A0-193C-3E68C0892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8250" y="875489"/>
            <a:ext cx="9618662" cy="642026"/>
          </a:xfrm>
        </p:spPr>
        <p:txBody>
          <a:bodyPr/>
          <a:lstStyle/>
          <a:p>
            <a:r>
              <a:rPr lang="en-AU" sz="2800" b="1" dirty="0"/>
              <a:t>Sejarah </a:t>
            </a:r>
            <a:r>
              <a:rPr lang="en-AU" sz="2800" b="1" dirty="0" err="1"/>
              <a:t>Kehidupan</a:t>
            </a:r>
            <a:r>
              <a:rPr lang="en-AU" sz="2800" b="1" dirty="0"/>
              <a:t> di Bumi</a:t>
            </a:r>
            <a:endParaRPr lang="en-HK" sz="2800" b="1" dirty="0"/>
          </a:p>
        </p:txBody>
      </p:sp>
    </p:spTree>
    <p:extLst>
      <p:ext uri="{BB962C8B-B14F-4D97-AF65-F5344CB8AC3E}">
        <p14:creationId xmlns:p14="http://schemas.microsoft.com/office/powerpoint/2010/main" val="36124609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6">
            <a:extLst>
              <a:ext uri="{FF2B5EF4-FFF2-40B4-BE49-F238E27FC236}">
                <a16:creationId xmlns:a16="http://schemas.microsoft.com/office/drawing/2014/main" id="{8ABA6F95-747B-4FDF-946A-24A16ECC570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343525" y="37814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H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B202CA-BB72-4B00-AC1E-7801FCF170F4}"/>
              </a:ext>
            </a:extLst>
          </p:cNvPr>
          <p:cNvSpPr/>
          <p:nvPr/>
        </p:nvSpPr>
        <p:spPr>
          <a:xfrm>
            <a:off x="1101090" y="1493621"/>
            <a:ext cx="5742099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HK" dirty="0"/>
              <a:t>Protocells</a:t>
            </a:r>
          </a:p>
          <a:p>
            <a:pPr algn="just"/>
            <a:endParaRPr lang="en-HK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 err="1"/>
              <a:t>Semua</a:t>
            </a:r>
            <a:r>
              <a:rPr lang="en-US" sz="1800" dirty="0"/>
              <a:t> </a:t>
            </a:r>
            <a:r>
              <a:rPr lang="en-US" sz="1800" dirty="0" err="1"/>
              <a:t>organisme</a:t>
            </a:r>
            <a:r>
              <a:rPr lang="en-US" sz="1800" dirty="0"/>
              <a:t> </a:t>
            </a:r>
            <a:r>
              <a:rPr lang="en-US" sz="1800" dirty="0" err="1"/>
              <a:t>harus</a:t>
            </a:r>
            <a:r>
              <a:rPr lang="en-US" sz="1800" dirty="0"/>
              <a:t> </a:t>
            </a:r>
            <a:r>
              <a:rPr lang="en-US" sz="1800" dirty="0" err="1"/>
              <a:t>mampu</a:t>
            </a:r>
            <a:r>
              <a:rPr lang="en-US" sz="1800" dirty="0"/>
              <a:t> </a:t>
            </a:r>
            <a:r>
              <a:rPr lang="en-US" sz="1800" dirty="0" err="1"/>
              <a:t>melakukan</a:t>
            </a:r>
            <a:r>
              <a:rPr lang="en-US" sz="1800" dirty="0"/>
              <a:t> </a:t>
            </a:r>
            <a:r>
              <a:rPr lang="en-US" sz="1800" dirty="0" err="1"/>
              <a:t>reproduksi</a:t>
            </a:r>
            <a:r>
              <a:rPr lang="en-US" sz="1800" dirty="0"/>
              <a:t> dan </a:t>
            </a:r>
            <a:r>
              <a:rPr lang="en-US" sz="1800" dirty="0" err="1"/>
              <a:t>pengolahan</a:t>
            </a:r>
            <a:r>
              <a:rPr lang="en-US" sz="1800" dirty="0"/>
              <a:t> </a:t>
            </a:r>
            <a:r>
              <a:rPr lang="en-US" sz="1800" dirty="0" err="1"/>
              <a:t>energi</a:t>
            </a:r>
            <a:r>
              <a:rPr lang="en-US" sz="1800" dirty="0"/>
              <a:t> (</a:t>
            </a:r>
            <a:r>
              <a:rPr lang="en-US" sz="1800" dirty="0" err="1"/>
              <a:t>metabolisme</a:t>
            </a:r>
            <a:r>
              <a:rPr lang="en-US" sz="1800" dirty="0"/>
              <a:t>). </a:t>
            </a:r>
            <a:r>
              <a:rPr lang="en-US" sz="1800" dirty="0" err="1"/>
              <a:t>Molekul</a:t>
            </a:r>
            <a:r>
              <a:rPr lang="en-US" sz="1800" dirty="0"/>
              <a:t> DNA </a:t>
            </a:r>
            <a:r>
              <a:rPr lang="en-US" sz="1800" dirty="0" err="1"/>
              <a:t>membawa</a:t>
            </a:r>
            <a:r>
              <a:rPr lang="en-US" sz="1800" dirty="0"/>
              <a:t> </a:t>
            </a:r>
            <a:r>
              <a:rPr lang="en-US" sz="1800" dirty="0" err="1"/>
              <a:t>informasi</a:t>
            </a:r>
            <a:r>
              <a:rPr lang="en-US" sz="1800" dirty="0"/>
              <a:t> dan </a:t>
            </a:r>
            <a:r>
              <a:rPr lang="en-US" sz="1800" dirty="0" err="1"/>
              <a:t>instruksi</a:t>
            </a:r>
            <a:r>
              <a:rPr lang="en-US" sz="1800" dirty="0"/>
              <a:t> </a:t>
            </a:r>
            <a:r>
              <a:rPr lang="en-US" sz="1800" dirty="0" err="1"/>
              <a:t>genetik</a:t>
            </a:r>
            <a:r>
              <a:rPr lang="en-US" sz="1800" dirty="0"/>
              <a:t>.</a:t>
            </a:r>
          </a:p>
          <a:p>
            <a:pPr algn="just"/>
            <a:endParaRPr lang="en-US" sz="1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 err="1"/>
              <a:t>Vesikel</a:t>
            </a:r>
            <a:r>
              <a:rPr lang="en-US" sz="1800" dirty="0"/>
              <a:t> yang </a:t>
            </a:r>
            <a:r>
              <a:rPr lang="en-US" sz="1800" dirty="0" err="1"/>
              <a:t>diproduksi</a:t>
            </a:r>
            <a:r>
              <a:rPr lang="en-US" sz="1800" dirty="0"/>
              <a:t> </a:t>
            </a:r>
            <a:r>
              <a:rPr lang="en-US" sz="1800" dirty="0" err="1"/>
              <a:t>secara</a:t>
            </a:r>
            <a:r>
              <a:rPr lang="en-US" sz="1800" dirty="0"/>
              <a:t> </a:t>
            </a:r>
            <a:r>
              <a:rPr lang="en-US" sz="1800" dirty="0" err="1"/>
              <a:t>abiotik</a:t>
            </a:r>
            <a:r>
              <a:rPr lang="en-US" sz="1800" dirty="0"/>
              <a:t> (</a:t>
            </a:r>
            <a:r>
              <a:rPr lang="en-US" sz="1800" dirty="0" err="1"/>
              <a:t>kompartemen</a:t>
            </a:r>
            <a:r>
              <a:rPr lang="en-US" sz="1800" dirty="0"/>
              <a:t> </a:t>
            </a:r>
            <a:r>
              <a:rPr lang="en-US" sz="1800" dirty="0" err="1"/>
              <a:t>berisi</a:t>
            </a:r>
            <a:r>
              <a:rPr lang="en-US" sz="1800" dirty="0"/>
              <a:t> </a:t>
            </a:r>
            <a:r>
              <a:rPr lang="en-US" sz="1800" dirty="0" err="1"/>
              <a:t>cairan</a:t>
            </a:r>
            <a:r>
              <a:rPr lang="en-US" sz="1800" dirty="0"/>
              <a:t> yang </a:t>
            </a:r>
            <a:r>
              <a:rPr lang="en-US" sz="1800" dirty="0" err="1"/>
              <a:t>dikelilingi</a:t>
            </a:r>
            <a:r>
              <a:rPr lang="en-US" sz="1800" dirty="0"/>
              <a:t> oleh </a:t>
            </a:r>
            <a:r>
              <a:rPr lang="en-US" sz="1800" dirty="0" err="1"/>
              <a:t>struktur</a:t>
            </a:r>
            <a:r>
              <a:rPr lang="en-US" sz="1800" dirty="0"/>
              <a:t> </a:t>
            </a:r>
            <a:r>
              <a:rPr lang="en-US" sz="1800" dirty="0" err="1"/>
              <a:t>mirip</a:t>
            </a:r>
            <a:r>
              <a:rPr lang="en-US" sz="1800" dirty="0"/>
              <a:t> </a:t>
            </a:r>
            <a:r>
              <a:rPr lang="en-US" sz="1800" dirty="0" err="1"/>
              <a:t>membran</a:t>
            </a:r>
            <a:r>
              <a:rPr lang="en-US" sz="1800" dirty="0"/>
              <a:t>) </a:t>
            </a:r>
            <a:r>
              <a:rPr lang="en-US" sz="1800" dirty="0" err="1"/>
              <a:t>dapat</a:t>
            </a:r>
            <a:r>
              <a:rPr lang="en-US" sz="1800" dirty="0"/>
              <a:t> </a:t>
            </a:r>
            <a:r>
              <a:rPr lang="en-US" sz="1800" dirty="0" err="1"/>
              <a:t>menunjukkan</a:t>
            </a:r>
            <a:r>
              <a:rPr lang="en-US" sz="1800" dirty="0"/>
              <a:t> </a:t>
            </a:r>
            <a:r>
              <a:rPr lang="en-US" sz="1800" dirty="0" err="1"/>
              <a:t>beberapa</a:t>
            </a:r>
            <a:r>
              <a:rPr lang="en-US" sz="1800" dirty="0"/>
              <a:t> </a:t>
            </a:r>
            <a:r>
              <a:rPr lang="en-US" sz="1800" dirty="0" err="1"/>
              <a:t>sifat</a:t>
            </a:r>
            <a:r>
              <a:rPr lang="en-US" sz="1800" dirty="0"/>
              <a:t> </a:t>
            </a:r>
            <a:r>
              <a:rPr lang="en-US" sz="1800" dirty="0" err="1"/>
              <a:t>kehidupan</a:t>
            </a:r>
            <a:r>
              <a:rPr lang="en-US" sz="1800" dirty="0"/>
              <a:t>, </a:t>
            </a:r>
            <a:r>
              <a:rPr lang="en-US" sz="1800" dirty="0" err="1"/>
              <a:t>reproduksi</a:t>
            </a:r>
            <a:r>
              <a:rPr lang="en-US" sz="1800" dirty="0"/>
              <a:t> dan </a:t>
            </a:r>
            <a:r>
              <a:rPr lang="en-US" sz="1800" dirty="0" err="1"/>
              <a:t>metabolisme</a:t>
            </a:r>
            <a:r>
              <a:rPr lang="en-US" sz="1800" dirty="0"/>
              <a:t> </a:t>
            </a:r>
            <a:r>
              <a:rPr lang="en-US" sz="1800" dirty="0" err="1"/>
              <a:t>sederhana</a:t>
            </a:r>
            <a:r>
              <a:rPr lang="en-US" sz="1800" dirty="0"/>
              <a:t>, </a:t>
            </a:r>
            <a:r>
              <a:rPr lang="en-US" sz="1800" dirty="0" err="1"/>
              <a:t>serta</a:t>
            </a:r>
            <a:r>
              <a:rPr lang="en-US" sz="1800" dirty="0"/>
              <a:t> </a:t>
            </a:r>
            <a:r>
              <a:rPr lang="en-US" sz="1800" dirty="0" err="1"/>
              <a:t>pemeliharaan</a:t>
            </a:r>
            <a:r>
              <a:rPr lang="en-US" sz="1800" dirty="0"/>
              <a:t> </a:t>
            </a:r>
            <a:r>
              <a:rPr lang="en-US" sz="1800" dirty="0" err="1"/>
              <a:t>lingkungan</a:t>
            </a:r>
            <a:r>
              <a:rPr lang="en-US" sz="1800" dirty="0"/>
              <a:t> </a:t>
            </a:r>
            <a:r>
              <a:rPr lang="en-US" sz="1800" dirty="0" err="1"/>
              <a:t>kimia</a:t>
            </a:r>
            <a:r>
              <a:rPr lang="en-US" sz="1800" dirty="0"/>
              <a:t> internal yang </a:t>
            </a:r>
            <a:r>
              <a:rPr lang="en-US" sz="1800" dirty="0" err="1"/>
              <a:t>berbeda</a:t>
            </a:r>
            <a:r>
              <a:rPr lang="en-US" sz="1800" dirty="0"/>
              <a:t> </a:t>
            </a:r>
            <a:r>
              <a:rPr lang="en-US" sz="1800" dirty="0" err="1"/>
              <a:t>dari</a:t>
            </a:r>
            <a:r>
              <a:rPr lang="en-US" sz="1800" dirty="0"/>
              <a:t> </a:t>
            </a:r>
            <a:r>
              <a:rPr lang="en-US" sz="1800" dirty="0" err="1"/>
              <a:t>lingkungan</a:t>
            </a:r>
            <a:r>
              <a:rPr lang="en-US" sz="1800" dirty="0"/>
              <a:t> </a:t>
            </a:r>
            <a:r>
              <a:rPr lang="en-US" sz="1800" dirty="0" err="1"/>
              <a:t>sekitarnya</a:t>
            </a:r>
            <a:r>
              <a:rPr lang="en-US" sz="1800" dirty="0"/>
              <a:t>.</a:t>
            </a:r>
          </a:p>
          <a:p>
            <a:pPr algn="just"/>
            <a:endParaRPr lang="en-US" sz="1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 err="1"/>
              <a:t>Vesikel</a:t>
            </a:r>
            <a:r>
              <a:rPr lang="en-US" sz="1800" dirty="0"/>
              <a:t> </a:t>
            </a:r>
            <a:r>
              <a:rPr lang="en-US" sz="1800" dirty="0" err="1"/>
              <a:t>dapat</a:t>
            </a:r>
            <a:r>
              <a:rPr lang="en-US" sz="1800" dirty="0"/>
              <a:t> </a:t>
            </a:r>
            <a:r>
              <a:rPr lang="en-US" sz="1800" dirty="0" err="1"/>
              <a:t>terbentuk</a:t>
            </a:r>
            <a:r>
              <a:rPr lang="en-US" sz="1800" dirty="0"/>
              <a:t> </a:t>
            </a:r>
            <a:r>
              <a:rPr lang="en-US" sz="1800" dirty="0" err="1"/>
              <a:t>secara</a:t>
            </a:r>
            <a:r>
              <a:rPr lang="en-US" sz="1800" dirty="0"/>
              <a:t> </a:t>
            </a:r>
            <a:r>
              <a:rPr lang="en-US" sz="1800" dirty="0" err="1"/>
              <a:t>spontan</a:t>
            </a:r>
            <a:r>
              <a:rPr lang="en-US" sz="1800" dirty="0"/>
              <a:t> </a:t>
            </a:r>
            <a:r>
              <a:rPr lang="en-US" sz="1800" dirty="0" err="1"/>
              <a:t>ketika</a:t>
            </a:r>
            <a:r>
              <a:rPr lang="en-US" sz="1800" dirty="0"/>
              <a:t> lipid </a:t>
            </a:r>
            <a:r>
              <a:rPr lang="en-US" sz="1800" dirty="0" err="1"/>
              <a:t>atau</a:t>
            </a:r>
            <a:r>
              <a:rPr lang="en-US" sz="1800" dirty="0"/>
              <a:t> </a:t>
            </a:r>
            <a:r>
              <a:rPr lang="en-US" sz="1800" dirty="0" err="1"/>
              <a:t>molekul</a:t>
            </a:r>
            <a:r>
              <a:rPr lang="en-US" sz="1800" dirty="0"/>
              <a:t> </a:t>
            </a:r>
            <a:r>
              <a:rPr lang="en-US" sz="1800" dirty="0" err="1"/>
              <a:t>organik</a:t>
            </a:r>
            <a:r>
              <a:rPr lang="en-US" sz="1800" dirty="0"/>
              <a:t> </a:t>
            </a:r>
            <a:r>
              <a:rPr lang="en-US" sz="1800" dirty="0" err="1"/>
              <a:t>lainnya</a:t>
            </a:r>
            <a:r>
              <a:rPr lang="en-US" sz="1800" dirty="0"/>
              <a:t> </a:t>
            </a:r>
            <a:r>
              <a:rPr lang="en-US" sz="1800" dirty="0" err="1"/>
              <a:t>ditambahkan</a:t>
            </a:r>
            <a:r>
              <a:rPr lang="en-US" sz="1800" dirty="0"/>
              <a:t> </a:t>
            </a:r>
            <a:r>
              <a:rPr lang="en-US" sz="1800" dirty="0" err="1"/>
              <a:t>ke</a:t>
            </a:r>
            <a:r>
              <a:rPr lang="en-US" sz="1800" dirty="0"/>
              <a:t> air. </a:t>
            </a:r>
            <a:r>
              <a:rPr lang="en-US" sz="1800" dirty="0" err="1"/>
              <a:t>Vesikel</a:t>
            </a:r>
            <a:r>
              <a:rPr lang="en-US" sz="1800" dirty="0"/>
              <a:t> juga </a:t>
            </a:r>
            <a:r>
              <a:rPr lang="en-US" sz="1800" dirty="0" err="1"/>
              <a:t>dapat</a:t>
            </a:r>
            <a:r>
              <a:rPr lang="en-US" sz="1800" dirty="0"/>
              <a:t> </a:t>
            </a:r>
            <a:r>
              <a:rPr lang="en-US" sz="1800" dirty="0" err="1"/>
              <a:t>menyerap</a:t>
            </a:r>
            <a:r>
              <a:rPr lang="en-US" sz="1800" dirty="0"/>
              <a:t> </a:t>
            </a:r>
            <a:r>
              <a:rPr lang="en-US" sz="1800" dirty="0" err="1"/>
              <a:t>partikel</a:t>
            </a:r>
            <a:r>
              <a:rPr lang="en-US" sz="1800" dirty="0"/>
              <a:t> </a:t>
            </a:r>
            <a:r>
              <a:rPr lang="en-US" sz="1800" dirty="0" err="1"/>
              <a:t>montmorillonit</a:t>
            </a:r>
            <a:r>
              <a:rPr lang="en-US" sz="1800" dirty="0"/>
              <a:t>, </a:t>
            </a:r>
            <a:r>
              <a:rPr lang="en-US" sz="1800" dirty="0" err="1"/>
              <a:t>termasuk</a:t>
            </a:r>
            <a:r>
              <a:rPr lang="en-US" sz="1800" dirty="0"/>
              <a:t> </a:t>
            </a:r>
            <a:r>
              <a:rPr lang="en-US" sz="1800" dirty="0" err="1"/>
              <a:t>partikel</a:t>
            </a:r>
            <a:r>
              <a:rPr lang="en-US" sz="1800" dirty="0"/>
              <a:t> yang </a:t>
            </a:r>
            <a:r>
              <a:rPr lang="en-US" sz="1800" dirty="0" err="1"/>
              <a:t>telah</a:t>
            </a:r>
            <a:r>
              <a:rPr lang="en-US" sz="1800" dirty="0"/>
              <a:t> </a:t>
            </a:r>
            <a:r>
              <a:rPr lang="en-US" sz="1800" dirty="0" err="1"/>
              <a:t>dilekatkan</a:t>
            </a:r>
            <a:r>
              <a:rPr lang="en-US" sz="1800" dirty="0"/>
              <a:t> RNA dan </a:t>
            </a:r>
            <a:r>
              <a:rPr lang="en-US" sz="1800" dirty="0" err="1"/>
              <a:t>molekul</a:t>
            </a:r>
            <a:r>
              <a:rPr lang="en-US" sz="1800" dirty="0"/>
              <a:t> </a:t>
            </a:r>
            <a:r>
              <a:rPr lang="en-US" sz="1800" dirty="0" err="1"/>
              <a:t>organik</a:t>
            </a:r>
            <a:r>
              <a:rPr lang="en-US" sz="1800" dirty="0"/>
              <a:t> </a:t>
            </a:r>
            <a:r>
              <a:rPr lang="en-US" sz="1800" dirty="0" err="1"/>
              <a:t>lainnya</a:t>
            </a:r>
            <a:r>
              <a:rPr lang="en-US" sz="1800" dirty="0"/>
              <a:t>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A15427-4B17-4F36-AA8D-302EF342D5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1412" y="1883682"/>
            <a:ext cx="3039035" cy="4100285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273CF35-A733-C67E-B56F-5E00C81E1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8250" y="875489"/>
            <a:ext cx="9618662" cy="642026"/>
          </a:xfrm>
        </p:spPr>
        <p:txBody>
          <a:bodyPr/>
          <a:lstStyle/>
          <a:p>
            <a:r>
              <a:rPr lang="en-AU" sz="2800" b="1" dirty="0"/>
              <a:t>Sejarah </a:t>
            </a:r>
            <a:r>
              <a:rPr lang="en-AU" sz="2800" b="1" dirty="0" err="1"/>
              <a:t>Kehidupan</a:t>
            </a:r>
            <a:r>
              <a:rPr lang="en-AU" sz="2800" b="1" dirty="0"/>
              <a:t> di Bumi</a:t>
            </a:r>
            <a:endParaRPr lang="en-HK" sz="2800" b="1" dirty="0"/>
          </a:p>
        </p:txBody>
      </p:sp>
    </p:spTree>
    <p:extLst>
      <p:ext uri="{BB962C8B-B14F-4D97-AF65-F5344CB8AC3E}">
        <p14:creationId xmlns:p14="http://schemas.microsoft.com/office/powerpoint/2010/main" val="13133000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4C8ACB7-62F4-4DFA-BF4E-F704AD38BEDF}"/>
              </a:ext>
            </a:extLst>
          </p:cNvPr>
          <p:cNvSpPr/>
          <p:nvPr/>
        </p:nvSpPr>
        <p:spPr>
          <a:xfrm>
            <a:off x="893135" y="1556768"/>
            <a:ext cx="6166571" cy="56630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HK" dirty="0"/>
              <a:t>Self-Replication RNA</a:t>
            </a:r>
          </a:p>
          <a:p>
            <a:pPr algn="just"/>
            <a:endParaRPr lang="en-HK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Materi </a:t>
            </a:r>
            <a:r>
              <a:rPr lang="en-US" sz="1600" dirty="0" err="1"/>
              <a:t>genetik</a:t>
            </a:r>
            <a:r>
              <a:rPr lang="en-US" sz="1600" dirty="0"/>
              <a:t> </a:t>
            </a:r>
            <a:r>
              <a:rPr lang="en-US" sz="1600" dirty="0" err="1"/>
              <a:t>pertama</a:t>
            </a:r>
            <a:r>
              <a:rPr lang="en-US" sz="1600" dirty="0"/>
              <a:t> </a:t>
            </a:r>
            <a:r>
              <a:rPr lang="en-US" sz="1600" dirty="0" err="1"/>
              <a:t>kemungkinan</a:t>
            </a:r>
            <a:r>
              <a:rPr lang="en-US" sz="1600" dirty="0"/>
              <a:t> </a:t>
            </a:r>
            <a:r>
              <a:rPr lang="en-US" sz="1600" dirty="0" err="1"/>
              <a:t>besar</a:t>
            </a:r>
            <a:r>
              <a:rPr lang="en-US" sz="1600" dirty="0"/>
              <a:t> </a:t>
            </a:r>
            <a:r>
              <a:rPr lang="en-US" sz="1600" dirty="0" err="1"/>
              <a:t>adalah</a:t>
            </a:r>
            <a:r>
              <a:rPr lang="en-US" sz="1600" dirty="0"/>
              <a:t> RNA. RNA </a:t>
            </a:r>
            <a:r>
              <a:rPr lang="en-US" sz="1600" dirty="0" err="1"/>
              <a:t>memainkan</a:t>
            </a:r>
            <a:r>
              <a:rPr lang="en-US" sz="1600" dirty="0"/>
              <a:t> </a:t>
            </a:r>
            <a:r>
              <a:rPr lang="en-US" sz="1600" dirty="0" err="1"/>
              <a:t>peran</a:t>
            </a:r>
            <a:r>
              <a:rPr lang="en-US" sz="1600" dirty="0"/>
              <a:t> </a:t>
            </a:r>
            <a:r>
              <a:rPr lang="en-US" sz="1600" dirty="0" err="1"/>
              <a:t>sentral</a:t>
            </a:r>
            <a:r>
              <a:rPr lang="en-US" sz="1600" dirty="0"/>
              <a:t> </a:t>
            </a:r>
            <a:r>
              <a:rPr lang="en-US" sz="1600" dirty="0" err="1"/>
              <a:t>dalam</a:t>
            </a:r>
            <a:r>
              <a:rPr lang="en-US" sz="1600" dirty="0"/>
              <a:t> </a:t>
            </a:r>
            <a:r>
              <a:rPr lang="en-US" sz="1600" dirty="0" err="1"/>
              <a:t>sintesis</a:t>
            </a:r>
            <a:r>
              <a:rPr lang="en-US" sz="1600" dirty="0"/>
              <a:t> protein, </a:t>
            </a:r>
            <a:r>
              <a:rPr lang="en-US" sz="1600" dirty="0" err="1"/>
              <a:t>tetapi</a:t>
            </a:r>
            <a:r>
              <a:rPr lang="en-US" sz="1600" dirty="0"/>
              <a:t> juga </a:t>
            </a:r>
            <a:r>
              <a:rPr lang="en-US" sz="1600" dirty="0" err="1"/>
              <a:t>dapat</a:t>
            </a:r>
            <a:r>
              <a:rPr lang="en-US" sz="1600" dirty="0"/>
              <a:t> </a:t>
            </a:r>
            <a:r>
              <a:rPr lang="en-US" sz="1600" dirty="0" err="1"/>
              <a:t>berfungsi</a:t>
            </a:r>
            <a:r>
              <a:rPr lang="en-US" sz="1600" dirty="0"/>
              <a:t> </a:t>
            </a:r>
            <a:r>
              <a:rPr lang="en-US" sz="1600" dirty="0" err="1"/>
              <a:t>sebagai</a:t>
            </a:r>
            <a:r>
              <a:rPr lang="en-US" sz="1600" dirty="0"/>
              <a:t> </a:t>
            </a:r>
            <a:r>
              <a:rPr lang="en-US" sz="1600" dirty="0" err="1"/>
              <a:t>katalis</a:t>
            </a:r>
            <a:r>
              <a:rPr lang="en-US" sz="1600" dirty="0"/>
              <a:t> </a:t>
            </a:r>
            <a:r>
              <a:rPr lang="en-US" sz="1600" dirty="0" err="1"/>
              <a:t>seperti</a:t>
            </a:r>
            <a:r>
              <a:rPr lang="en-US" sz="1600" dirty="0"/>
              <a:t> </a:t>
            </a:r>
            <a:r>
              <a:rPr lang="en-US" sz="1600" dirty="0" err="1"/>
              <a:t>enzim</a:t>
            </a:r>
            <a:r>
              <a:rPr lang="en-US" sz="1600" dirty="0"/>
              <a:t> (</a:t>
            </a:r>
            <a:r>
              <a:rPr lang="en-US" sz="1600" dirty="0" err="1"/>
              <a:t>ribozim</a:t>
            </a:r>
            <a:r>
              <a:rPr lang="en-US" sz="1600" dirty="0"/>
              <a:t>).</a:t>
            </a:r>
          </a:p>
          <a:p>
            <a:pPr algn="just"/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RNA </a:t>
            </a:r>
            <a:r>
              <a:rPr lang="en-US" sz="1600" dirty="0" err="1"/>
              <a:t>untai</a:t>
            </a:r>
            <a:r>
              <a:rPr lang="en-US" sz="1600" dirty="0"/>
              <a:t> </a:t>
            </a:r>
            <a:r>
              <a:rPr lang="en-US" sz="1600" dirty="0" err="1"/>
              <a:t>tunggal</a:t>
            </a:r>
            <a:r>
              <a:rPr lang="en-US" sz="1600" dirty="0"/>
              <a:t> </a:t>
            </a:r>
            <a:r>
              <a:rPr lang="en-US" sz="1600" dirty="0" err="1"/>
              <a:t>memiliki</a:t>
            </a:r>
            <a:r>
              <a:rPr lang="en-US" sz="1600" dirty="0"/>
              <a:t> </a:t>
            </a:r>
            <a:r>
              <a:rPr lang="en-US" sz="1600" dirty="0" err="1"/>
              <a:t>bentuk</a:t>
            </a:r>
            <a:r>
              <a:rPr lang="en-US" sz="1600" dirty="0"/>
              <a:t> </a:t>
            </a:r>
            <a:r>
              <a:rPr lang="en-US" sz="1600" dirty="0" err="1"/>
              <a:t>tiga</a:t>
            </a:r>
            <a:r>
              <a:rPr lang="en-US" sz="1600" dirty="0"/>
              <a:t> </a:t>
            </a:r>
            <a:r>
              <a:rPr lang="en-US" sz="1600" dirty="0" err="1"/>
              <a:t>dimensi</a:t>
            </a:r>
            <a:r>
              <a:rPr lang="en-US" sz="1600" dirty="0"/>
              <a:t> </a:t>
            </a:r>
            <a:r>
              <a:rPr lang="en-US" sz="1600" dirty="0" err="1"/>
              <a:t>spesifik</a:t>
            </a:r>
            <a:r>
              <a:rPr lang="en-US" sz="1600" dirty="0"/>
              <a:t> </a:t>
            </a:r>
            <a:r>
              <a:rPr lang="en-US" sz="1600" dirty="0" err="1"/>
              <a:t>berdasarkan</a:t>
            </a:r>
            <a:r>
              <a:rPr lang="en-US" sz="1600" dirty="0"/>
              <a:t> </a:t>
            </a:r>
            <a:r>
              <a:rPr lang="en-US" sz="1600" dirty="0" err="1"/>
              <a:t>urutan</a:t>
            </a:r>
            <a:r>
              <a:rPr lang="en-US" sz="1600" dirty="0"/>
              <a:t> </a:t>
            </a:r>
            <a:r>
              <a:rPr lang="en-US" sz="1600" dirty="0" err="1"/>
              <a:t>nukleotidanya</a:t>
            </a:r>
            <a:r>
              <a:rPr lang="en-US" sz="1600" dirty="0"/>
              <a:t>. </a:t>
            </a:r>
            <a:r>
              <a:rPr lang="en-US" sz="1600" dirty="0" err="1"/>
              <a:t>Molekul</a:t>
            </a:r>
            <a:r>
              <a:rPr lang="en-US" sz="1600" dirty="0"/>
              <a:t> RNA </a:t>
            </a:r>
            <a:r>
              <a:rPr lang="en-US" sz="1600" dirty="0" err="1"/>
              <a:t>dengan</a:t>
            </a:r>
            <a:r>
              <a:rPr lang="en-US" sz="1600" dirty="0"/>
              <a:t> </a:t>
            </a:r>
            <a:r>
              <a:rPr lang="en-US" sz="1600" dirty="0" err="1"/>
              <a:t>kemampuan</a:t>
            </a:r>
            <a:r>
              <a:rPr lang="en-US" sz="1600" dirty="0"/>
              <a:t> </a:t>
            </a:r>
            <a:r>
              <a:rPr lang="en-US" sz="1600" dirty="0" err="1"/>
              <a:t>replikasi</a:t>
            </a:r>
            <a:r>
              <a:rPr lang="en-US" sz="1600" dirty="0"/>
              <a:t> </a:t>
            </a:r>
            <a:r>
              <a:rPr lang="en-US" sz="1600" dirty="0" err="1"/>
              <a:t>terbesar</a:t>
            </a:r>
            <a:r>
              <a:rPr lang="en-US" sz="1600" dirty="0"/>
              <a:t> </a:t>
            </a:r>
            <a:r>
              <a:rPr lang="en-US" sz="1600" dirty="0" err="1"/>
              <a:t>akan</a:t>
            </a:r>
            <a:r>
              <a:rPr lang="en-US" sz="1600" dirty="0"/>
              <a:t> </a:t>
            </a:r>
            <a:r>
              <a:rPr lang="en-US" sz="1600" dirty="0" err="1"/>
              <a:t>menghasilkan</a:t>
            </a:r>
            <a:r>
              <a:rPr lang="en-US" sz="1600" dirty="0"/>
              <a:t> </a:t>
            </a:r>
            <a:r>
              <a:rPr lang="en-US" sz="1600" dirty="0" err="1"/>
              <a:t>molekul</a:t>
            </a:r>
            <a:r>
              <a:rPr lang="en-US" sz="1600" dirty="0"/>
              <a:t> </a:t>
            </a:r>
            <a:r>
              <a:rPr lang="en-US" sz="1600" dirty="0" err="1"/>
              <a:t>keturunan</a:t>
            </a:r>
            <a:r>
              <a:rPr lang="en-US" sz="1600" dirty="0"/>
              <a:t> </a:t>
            </a:r>
            <a:r>
              <a:rPr lang="en-US" sz="1600" dirty="0" err="1"/>
              <a:t>terbanyak</a:t>
            </a:r>
            <a:r>
              <a:rPr lang="en-US" sz="1600" dirty="0"/>
              <a:t>.</a:t>
            </a:r>
          </a:p>
          <a:p>
            <a:pPr algn="just"/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Di Bumi </a:t>
            </a:r>
            <a:r>
              <a:rPr lang="en-US" sz="1600" dirty="0" err="1"/>
              <a:t>purba</a:t>
            </a:r>
            <a:r>
              <a:rPr lang="en-US" sz="1600" dirty="0"/>
              <a:t>, </a:t>
            </a:r>
            <a:r>
              <a:rPr lang="en-US" sz="1600" dirty="0" err="1"/>
              <a:t>sebuah</a:t>
            </a:r>
            <a:r>
              <a:rPr lang="en-US" sz="1600" dirty="0"/>
              <a:t> </a:t>
            </a:r>
            <a:r>
              <a:rPr lang="en-US" sz="1600" dirty="0" err="1"/>
              <a:t>vesikel</a:t>
            </a:r>
            <a:r>
              <a:rPr lang="en-US" sz="1600" dirty="0"/>
              <a:t> </a:t>
            </a:r>
            <a:r>
              <a:rPr lang="en-US" sz="1600" dirty="0" err="1"/>
              <a:t>dengan</a:t>
            </a:r>
            <a:r>
              <a:rPr lang="en-US" sz="1600" dirty="0"/>
              <a:t> RNA </a:t>
            </a:r>
            <a:r>
              <a:rPr lang="en-US" sz="1600" dirty="0" err="1"/>
              <a:t>katalitik</a:t>
            </a:r>
            <a:r>
              <a:rPr lang="en-US" sz="1600" dirty="0"/>
              <a:t> yang </a:t>
            </a:r>
            <a:r>
              <a:rPr lang="en-US" sz="1600" dirty="0" err="1"/>
              <a:t>dapat</a:t>
            </a:r>
            <a:r>
              <a:rPr lang="en-US" sz="1600" dirty="0"/>
              <a:t> </a:t>
            </a:r>
            <a:r>
              <a:rPr lang="en-US" sz="1600" dirty="0" err="1"/>
              <a:t>mereplikasi</a:t>
            </a:r>
            <a:r>
              <a:rPr lang="en-US" sz="1600" dirty="0"/>
              <a:t> </a:t>
            </a:r>
            <a:r>
              <a:rPr lang="en-US" sz="1600" dirty="0" err="1"/>
              <a:t>diri</a:t>
            </a:r>
            <a:r>
              <a:rPr lang="en-US" sz="1600" dirty="0"/>
              <a:t> </a:t>
            </a:r>
            <a:r>
              <a:rPr lang="en-US" sz="1600" dirty="0" err="1"/>
              <a:t>akan</a:t>
            </a:r>
            <a:r>
              <a:rPr lang="en-US" sz="1600" dirty="0"/>
              <a:t> </a:t>
            </a:r>
            <a:r>
              <a:rPr lang="en-US" sz="1600" dirty="0" err="1"/>
              <a:t>berbeda</a:t>
            </a:r>
            <a:r>
              <a:rPr lang="en-US" sz="1600" dirty="0"/>
              <a:t> </a:t>
            </a:r>
            <a:r>
              <a:rPr lang="en-US" sz="1600" dirty="0" err="1"/>
              <a:t>dari</a:t>
            </a:r>
            <a:r>
              <a:rPr lang="en-US" sz="1600" dirty="0"/>
              <a:t> </a:t>
            </a:r>
            <a:r>
              <a:rPr lang="en-US" sz="1600" dirty="0" err="1"/>
              <a:t>banyak</a:t>
            </a:r>
            <a:r>
              <a:rPr lang="en-US" sz="1600" dirty="0"/>
              <a:t> </a:t>
            </a:r>
            <a:r>
              <a:rPr lang="en-US" sz="1600" dirty="0" err="1"/>
              <a:t>vesikel</a:t>
            </a:r>
            <a:r>
              <a:rPr lang="en-US" sz="1600" dirty="0"/>
              <a:t> </a:t>
            </a:r>
            <a:r>
              <a:rPr lang="en-US" sz="1600" dirty="0" err="1"/>
              <a:t>tetangganya</a:t>
            </a:r>
            <a:r>
              <a:rPr lang="en-US" sz="1600" dirty="0"/>
              <a:t> yang </a:t>
            </a:r>
            <a:r>
              <a:rPr lang="en-US" sz="1600" dirty="0" err="1"/>
              <a:t>tidak</a:t>
            </a:r>
            <a:r>
              <a:rPr lang="en-US" sz="1600" dirty="0"/>
              <a:t> </a:t>
            </a:r>
            <a:r>
              <a:rPr lang="en-US" sz="1600" dirty="0" err="1"/>
              <a:t>memiliki</a:t>
            </a:r>
            <a:r>
              <a:rPr lang="en-US" sz="1600" dirty="0"/>
              <a:t> </a:t>
            </a:r>
            <a:r>
              <a:rPr lang="en-US" sz="1600" dirty="0" err="1"/>
              <a:t>molekul</a:t>
            </a:r>
            <a:r>
              <a:rPr lang="en-US" sz="1600" dirty="0"/>
              <a:t> </a:t>
            </a:r>
            <a:r>
              <a:rPr lang="en-US" sz="1600" dirty="0" err="1"/>
              <a:t>tersebut</a:t>
            </a:r>
            <a:r>
              <a:rPr lang="en-US" sz="1600" dirty="0"/>
              <a:t>. Jika </a:t>
            </a:r>
            <a:r>
              <a:rPr lang="en-US" sz="1600" dirty="0" err="1"/>
              <a:t>vesikel</a:t>
            </a:r>
            <a:r>
              <a:rPr lang="en-US" sz="1600" dirty="0"/>
              <a:t> </a:t>
            </a:r>
            <a:r>
              <a:rPr lang="en-US" sz="1600" dirty="0" err="1"/>
              <a:t>itu</a:t>
            </a:r>
            <a:r>
              <a:rPr lang="en-US" sz="1600" dirty="0"/>
              <a:t> </a:t>
            </a:r>
            <a:r>
              <a:rPr lang="en-US" sz="1600" dirty="0" err="1"/>
              <a:t>dapat</a:t>
            </a:r>
            <a:r>
              <a:rPr lang="en-US" sz="1600" dirty="0"/>
              <a:t> </a:t>
            </a:r>
            <a:r>
              <a:rPr lang="en-US" sz="1600" dirty="0" err="1"/>
              <a:t>tumbuh</a:t>
            </a:r>
            <a:r>
              <a:rPr lang="en-US" sz="1600" dirty="0"/>
              <a:t>, </a:t>
            </a:r>
            <a:r>
              <a:rPr lang="en-US" sz="1600" dirty="0" err="1"/>
              <a:t>membelah</a:t>
            </a:r>
            <a:r>
              <a:rPr lang="en-US" sz="1600" dirty="0"/>
              <a:t>, dan </a:t>
            </a:r>
            <a:r>
              <a:rPr lang="en-US" sz="1600" dirty="0" err="1"/>
              <a:t>meneruskan</a:t>
            </a:r>
            <a:r>
              <a:rPr lang="en-US" sz="1600" dirty="0"/>
              <a:t> </a:t>
            </a:r>
            <a:r>
              <a:rPr lang="en-US" sz="1600" dirty="0" err="1"/>
              <a:t>molekul</a:t>
            </a:r>
            <a:r>
              <a:rPr lang="en-US" sz="1600" dirty="0"/>
              <a:t> RNA-</a:t>
            </a:r>
            <a:r>
              <a:rPr lang="en-US" sz="1600" dirty="0" err="1"/>
              <a:t>nya</a:t>
            </a:r>
            <a:r>
              <a:rPr lang="en-US" sz="1600" dirty="0"/>
              <a:t> </a:t>
            </a:r>
            <a:r>
              <a:rPr lang="en-US" sz="1600" dirty="0" err="1"/>
              <a:t>ke</a:t>
            </a:r>
            <a:r>
              <a:rPr lang="en-US" sz="1600" dirty="0"/>
              <a:t> "</a:t>
            </a:r>
            <a:r>
              <a:rPr lang="en-US" sz="1600" dirty="0" err="1"/>
              <a:t>anak-anaknya</a:t>
            </a:r>
            <a:r>
              <a:rPr lang="en-US" sz="1600" dirty="0"/>
              <a:t>," </a:t>
            </a:r>
            <a:r>
              <a:rPr lang="en-US" sz="1600" dirty="0" err="1"/>
              <a:t>maka</a:t>
            </a:r>
            <a:r>
              <a:rPr lang="en-US" sz="1600" dirty="0"/>
              <a:t> </a:t>
            </a:r>
            <a:r>
              <a:rPr lang="en-US" sz="1600" dirty="0" err="1"/>
              <a:t>anak-anak</a:t>
            </a:r>
            <a:r>
              <a:rPr lang="en-US" sz="1600" dirty="0"/>
              <a:t> </a:t>
            </a:r>
            <a:r>
              <a:rPr lang="en-US" sz="1600" dirty="0" err="1"/>
              <a:t>tersebut</a:t>
            </a:r>
            <a:r>
              <a:rPr lang="en-US" sz="1600" dirty="0"/>
              <a:t> </a:t>
            </a:r>
            <a:r>
              <a:rPr lang="en-US" sz="1600" dirty="0" err="1"/>
              <a:t>akan</a:t>
            </a:r>
            <a:r>
              <a:rPr lang="en-US" sz="1600" dirty="0"/>
              <a:t> </a:t>
            </a:r>
            <a:r>
              <a:rPr lang="en-US" sz="1600" dirty="0" err="1"/>
              <a:t>menjadi</a:t>
            </a:r>
            <a:r>
              <a:rPr lang="en-US" sz="1600" dirty="0"/>
              <a:t> </a:t>
            </a:r>
            <a:r>
              <a:rPr lang="en-US" sz="1600" dirty="0" err="1"/>
              <a:t>protosel</a:t>
            </a:r>
            <a:r>
              <a:rPr lang="en-US" sz="1600" dirty="0"/>
              <a:t>.</a:t>
            </a:r>
          </a:p>
          <a:p>
            <a:pPr algn="just"/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 err="1"/>
              <a:t>Setelah</a:t>
            </a:r>
            <a:r>
              <a:rPr lang="en-US" sz="1600" dirty="0"/>
              <a:t> </a:t>
            </a:r>
            <a:r>
              <a:rPr lang="en-US" sz="1600" dirty="0" err="1"/>
              <a:t>sekuens</a:t>
            </a:r>
            <a:r>
              <a:rPr lang="en-US" sz="1600" dirty="0"/>
              <a:t> RNA yang </a:t>
            </a:r>
            <a:r>
              <a:rPr lang="en-US" sz="1600" dirty="0" err="1"/>
              <a:t>membawa</a:t>
            </a:r>
            <a:r>
              <a:rPr lang="en-US" sz="1600" dirty="0"/>
              <a:t> </a:t>
            </a:r>
            <a:r>
              <a:rPr lang="en-US" sz="1600" dirty="0" err="1"/>
              <a:t>informasi</a:t>
            </a:r>
            <a:r>
              <a:rPr lang="en-US" sz="1600" dirty="0"/>
              <a:t> </a:t>
            </a:r>
            <a:r>
              <a:rPr lang="en-US" sz="1600" dirty="0" err="1"/>
              <a:t>genetik</a:t>
            </a:r>
            <a:r>
              <a:rPr lang="en-US" sz="1600" dirty="0"/>
              <a:t> </a:t>
            </a:r>
            <a:r>
              <a:rPr lang="en-US" sz="1600" dirty="0" err="1"/>
              <a:t>muncul</a:t>
            </a:r>
            <a:r>
              <a:rPr lang="en-US" sz="1600" dirty="0"/>
              <a:t> </a:t>
            </a:r>
            <a:r>
              <a:rPr lang="en-US" sz="1600" dirty="0" err="1"/>
              <a:t>dalam</a:t>
            </a:r>
            <a:r>
              <a:rPr lang="en-US" sz="1600" dirty="0"/>
              <a:t> </a:t>
            </a:r>
            <a:r>
              <a:rPr lang="en-US" sz="1600" dirty="0" err="1"/>
              <a:t>protosel</a:t>
            </a:r>
            <a:r>
              <a:rPr lang="en-US" sz="1600" dirty="0"/>
              <a:t>, </a:t>
            </a:r>
            <a:r>
              <a:rPr lang="en-US" sz="1600" dirty="0" err="1"/>
              <a:t>banyak</a:t>
            </a:r>
            <a:r>
              <a:rPr lang="en-US" sz="1600" dirty="0"/>
              <a:t> </a:t>
            </a:r>
            <a:r>
              <a:rPr lang="en-US" sz="1600" dirty="0" err="1"/>
              <a:t>perubahan</a:t>
            </a:r>
            <a:r>
              <a:rPr lang="en-US" sz="1600" dirty="0"/>
              <a:t> </a:t>
            </a:r>
            <a:r>
              <a:rPr lang="en-US" sz="1600" dirty="0" err="1"/>
              <a:t>tambahan</a:t>
            </a:r>
            <a:r>
              <a:rPr lang="en-US" sz="1600" dirty="0"/>
              <a:t> yang </a:t>
            </a:r>
            <a:r>
              <a:rPr lang="en-US" sz="1600" dirty="0" err="1"/>
              <a:t>mungkin</a:t>
            </a:r>
            <a:r>
              <a:rPr lang="en-US" sz="1600" dirty="0"/>
              <a:t> </a:t>
            </a:r>
            <a:r>
              <a:rPr lang="en-US" sz="1600" dirty="0" err="1"/>
              <a:t>terjadi</a:t>
            </a:r>
            <a:r>
              <a:rPr lang="en-US" sz="1600" dirty="0"/>
              <a:t>, </a:t>
            </a:r>
            <a:r>
              <a:rPr lang="en-US" sz="1600" dirty="0" err="1"/>
              <a:t>misalnya</a:t>
            </a:r>
            <a:r>
              <a:rPr lang="en-US" sz="1600" dirty="0"/>
              <a:t> RNA </a:t>
            </a:r>
            <a:r>
              <a:rPr lang="en-US" sz="1600" dirty="0" err="1"/>
              <a:t>dapat</a:t>
            </a:r>
            <a:r>
              <a:rPr lang="en-US" sz="1600" dirty="0"/>
              <a:t> </a:t>
            </a:r>
            <a:r>
              <a:rPr lang="en-US" sz="1600" dirty="0" err="1"/>
              <a:t>menyediakan</a:t>
            </a:r>
            <a:r>
              <a:rPr lang="en-US" sz="1600" dirty="0"/>
              <a:t> </a:t>
            </a:r>
            <a:r>
              <a:rPr lang="en-US" sz="1600" dirty="0" err="1"/>
              <a:t>templat</a:t>
            </a:r>
            <a:r>
              <a:rPr lang="en-US" sz="1600" dirty="0"/>
              <a:t> </a:t>
            </a:r>
            <a:r>
              <a:rPr lang="en-US" sz="1600" dirty="0" err="1"/>
              <a:t>tempat</a:t>
            </a:r>
            <a:r>
              <a:rPr lang="en-US" sz="1600" dirty="0"/>
              <a:t> </a:t>
            </a:r>
            <a:r>
              <a:rPr lang="en-US" sz="1600" dirty="0" err="1"/>
              <a:t>nukleotida</a:t>
            </a:r>
            <a:r>
              <a:rPr lang="en-US" sz="1600" dirty="0"/>
              <a:t> DNA </a:t>
            </a:r>
            <a:r>
              <a:rPr lang="en-US" sz="1600" dirty="0" err="1"/>
              <a:t>dirakit</a:t>
            </a:r>
            <a:r>
              <a:rPr lang="en-US" sz="1600" dirty="0"/>
              <a:t>. DNA </a:t>
            </a:r>
            <a:r>
              <a:rPr lang="en-US" sz="1600" dirty="0" err="1"/>
              <a:t>untai</a:t>
            </a:r>
            <a:r>
              <a:rPr lang="en-US" sz="1600" dirty="0"/>
              <a:t> </a:t>
            </a:r>
            <a:r>
              <a:rPr lang="en-US" sz="1600" dirty="0" err="1"/>
              <a:t>ganda</a:t>
            </a:r>
            <a:r>
              <a:rPr lang="en-US" sz="1600" dirty="0"/>
              <a:t> </a:t>
            </a:r>
            <a:r>
              <a:rPr lang="en-US" sz="1600" dirty="0" err="1"/>
              <a:t>merupakan</a:t>
            </a:r>
            <a:r>
              <a:rPr lang="en-US" sz="1600" dirty="0"/>
              <a:t> </a:t>
            </a:r>
            <a:r>
              <a:rPr lang="en-US" sz="1600" dirty="0" err="1"/>
              <a:t>tempat</a:t>
            </a:r>
            <a:r>
              <a:rPr lang="en-US" sz="1600" dirty="0"/>
              <a:t> </a:t>
            </a:r>
            <a:r>
              <a:rPr lang="en-US" sz="1600" dirty="0" err="1"/>
              <a:t>penyimpanan</a:t>
            </a:r>
            <a:r>
              <a:rPr lang="en-US" sz="1600" dirty="0"/>
              <a:t> </a:t>
            </a:r>
            <a:r>
              <a:rPr lang="en-US" sz="1600" dirty="0" err="1"/>
              <a:t>informasi</a:t>
            </a:r>
            <a:r>
              <a:rPr lang="en-US" sz="1600" dirty="0"/>
              <a:t> </a:t>
            </a:r>
            <a:r>
              <a:rPr lang="en-US" sz="1600" dirty="0" err="1"/>
              <a:t>genetik</a:t>
            </a:r>
            <a:r>
              <a:rPr lang="en-US" sz="1600" dirty="0"/>
              <a:t> yang </a:t>
            </a:r>
            <a:r>
              <a:rPr lang="en-US" sz="1600" dirty="0" err="1"/>
              <a:t>lebih</a:t>
            </a:r>
            <a:r>
              <a:rPr lang="en-US" sz="1600" dirty="0"/>
              <a:t> </a:t>
            </a:r>
            <a:r>
              <a:rPr lang="en-US" sz="1600" dirty="0" err="1"/>
              <a:t>stabil</a:t>
            </a:r>
            <a:r>
              <a:rPr lang="en-US" sz="1600" dirty="0"/>
              <a:t> </a:t>
            </a:r>
            <a:r>
              <a:rPr lang="en-US" sz="1600" dirty="0" err="1"/>
              <a:t>secara</a:t>
            </a:r>
            <a:r>
              <a:rPr lang="en-US" sz="1600" dirty="0"/>
              <a:t> </a:t>
            </a:r>
            <a:r>
              <a:rPr lang="en-US" sz="1600" dirty="0" err="1"/>
              <a:t>kimiawi</a:t>
            </a:r>
            <a:r>
              <a:rPr lang="en-US" sz="1600" dirty="0"/>
              <a:t> </a:t>
            </a:r>
            <a:r>
              <a:rPr lang="en-US" sz="1600" dirty="0" err="1"/>
              <a:t>daripada</a:t>
            </a:r>
            <a:r>
              <a:rPr lang="en-US" sz="1600" dirty="0"/>
              <a:t> RNA yang </a:t>
            </a:r>
            <a:r>
              <a:rPr lang="en-US" sz="1600" dirty="0" err="1"/>
              <a:t>lebih</a:t>
            </a:r>
            <a:r>
              <a:rPr lang="en-US" sz="1600" dirty="0"/>
              <a:t> </a:t>
            </a:r>
            <a:r>
              <a:rPr lang="en-US" sz="1600" dirty="0" err="1"/>
              <a:t>rapuh</a:t>
            </a:r>
            <a:r>
              <a:rPr lang="en-US" sz="1600" dirty="0"/>
              <a:t>.</a:t>
            </a:r>
          </a:p>
        </p:txBody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8ABA6F95-747B-4FDF-946A-24A16ECC570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343525" y="37814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HK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C0F28A4-BEE9-4E04-B57A-58682236D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1412" y="1883682"/>
            <a:ext cx="3039035" cy="4100285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38FAB592-7D26-E29D-BBC6-3539C25CB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8250" y="875489"/>
            <a:ext cx="9618662" cy="642026"/>
          </a:xfrm>
        </p:spPr>
        <p:txBody>
          <a:bodyPr/>
          <a:lstStyle/>
          <a:p>
            <a:r>
              <a:rPr lang="en-AU" sz="2800" b="1" dirty="0"/>
              <a:t>Sejarah </a:t>
            </a:r>
            <a:r>
              <a:rPr lang="en-AU" sz="2800" b="1" dirty="0" err="1"/>
              <a:t>Kehidupan</a:t>
            </a:r>
            <a:r>
              <a:rPr lang="en-AU" sz="2800" b="1" dirty="0"/>
              <a:t> di Bumi</a:t>
            </a:r>
            <a:endParaRPr lang="en-HK" sz="2800" b="1" dirty="0"/>
          </a:p>
        </p:txBody>
      </p:sp>
    </p:spTree>
    <p:extLst>
      <p:ext uri="{BB962C8B-B14F-4D97-AF65-F5344CB8AC3E}">
        <p14:creationId xmlns:p14="http://schemas.microsoft.com/office/powerpoint/2010/main" val="17521650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6">
            <a:extLst>
              <a:ext uri="{FF2B5EF4-FFF2-40B4-BE49-F238E27FC236}">
                <a16:creationId xmlns:a16="http://schemas.microsoft.com/office/drawing/2014/main" id="{8ABA6F95-747B-4FDF-946A-24A16ECC570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343525" y="37814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HK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35C9EB7-7281-486D-B29D-9BBFDEB824BC}"/>
              </a:ext>
            </a:extLst>
          </p:cNvPr>
          <p:cNvGrpSpPr/>
          <p:nvPr/>
        </p:nvGrpSpPr>
        <p:grpSpPr>
          <a:xfrm>
            <a:off x="6557422" y="1837480"/>
            <a:ext cx="3470202" cy="2328320"/>
            <a:chOff x="3352470" y="2700337"/>
            <a:chExt cx="3301536" cy="216217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5A48345-EF74-4D96-887A-F83475DAFA6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37093"/>
            <a:stretch/>
          </p:blipFill>
          <p:spPr>
            <a:xfrm>
              <a:off x="3352470" y="2700337"/>
              <a:ext cx="3301536" cy="2162175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DCBA05B-8D04-4497-ADE8-3B46325CBEA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79075" r="63264"/>
            <a:stretch/>
          </p:blipFill>
          <p:spPr>
            <a:xfrm rot="5400000">
              <a:off x="5920605" y="3265429"/>
              <a:ext cx="1242612" cy="224190"/>
            </a:xfrm>
            <a:prstGeom prst="rect">
              <a:avLst/>
            </a:prstGeom>
          </p:spPr>
        </p:pic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78E48A72-B5CD-4DD4-9D0A-49D69FB1A2EB}"/>
              </a:ext>
            </a:extLst>
          </p:cNvPr>
          <p:cNvSpPr/>
          <p:nvPr/>
        </p:nvSpPr>
        <p:spPr>
          <a:xfrm>
            <a:off x="914400" y="4561210"/>
            <a:ext cx="9064995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dirty="0" err="1"/>
              <a:t>Peristiwa-peristiwa</a:t>
            </a:r>
            <a:r>
              <a:rPr lang="en-US" sz="2000" dirty="0"/>
              <a:t> </a:t>
            </a:r>
            <a:r>
              <a:rPr lang="en-US" sz="2000" dirty="0" err="1"/>
              <a:t>penting</a:t>
            </a:r>
            <a:r>
              <a:rPr lang="en-US" sz="2000" dirty="0"/>
              <a:t> </a:t>
            </a:r>
            <a:r>
              <a:rPr lang="en-US" sz="2000" dirty="0" err="1"/>
              <a:t>dalam</a:t>
            </a:r>
            <a:r>
              <a:rPr lang="en-US" sz="2000" dirty="0"/>
              <a:t> </a:t>
            </a:r>
            <a:r>
              <a:rPr lang="en-US" sz="2000" dirty="0" err="1"/>
              <a:t>sejarah</a:t>
            </a:r>
            <a:r>
              <a:rPr lang="en-US" sz="2000" dirty="0"/>
              <a:t> </a:t>
            </a:r>
            <a:r>
              <a:rPr lang="en-US" sz="2000" dirty="0" err="1"/>
              <a:t>kehidupan</a:t>
            </a:r>
            <a:r>
              <a:rPr lang="en-US" sz="2000" dirty="0"/>
              <a:t> </a:t>
            </a:r>
            <a:r>
              <a:rPr lang="en-US" sz="2000" dirty="0" err="1"/>
              <a:t>meliputi</a:t>
            </a:r>
            <a:r>
              <a:rPr lang="en-US" sz="2000" dirty="0"/>
              <a:t> </a:t>
            </a:r>
            <a:r>
              <a:rPr lang="en-US" sz="2000" dirty="0" err="1"/>
              <a:t>asal</a:t>
            </a:r>
            <a:r>
              <a:rPr lang="en-US" sz="2000" dirty="0"/>
              <a:t> </a:t>
            </a:r>
            <a:r>
              <a:rPr lang="en-US" sz="2000" dirty="0" err="1"/>
              <a:t>usul</a:t>
            </a:r>
            <a:r>
              <a:rPr lang="en-US" sz="2000" dirty="0"/>
              <a:t> </a:t>
            </a:r>
            <a:r>
              <a:rPr lang="en-US" sz="2000" dirty="0" err="1"/>
              <a:t>organisme</a:t>
            </a:r>
            <a:r>
              <a:rPr lang="en-US" sz="2000" dirty="0"/>
              <a:t> </a:t>
            </a:r>
            <a:r>
              <a:rPr lang="en-US" sz="2000" dirty="0" err="1"/>
              <a:t>uniseluler</a:t>
            </a:r>
            <a:r>
              <a:rPr lang="en-US" sz="2000" dirty="0"/>
              <a:t> dan </a:t>
            </a:r>
            <a:r>
              <a:rPr lang="en-US" sz="2000" dirty="0" err="1"/>
              <a:t>multiseluler</a:t>
            </a:r>
            <a:r>
              <a:rPr lang="en-US" sz="2000" dirty="0"/>
              <a:t> </a:t>
            </a:r>
            <a:r>
              <a:rPr lang="en-US" sz="2000" dirty="0" err="1"/>
              <a:t>serta</a:t>
            </a:r>
            <a:r>
              <a:rPr lang="en-US" sz="2000" dirty="0"/>
              <a:t> </a:t>
            </a:r>
            <a:r>
              <a:rPr lang="en-US" sz="2000" dirty="0" err="1"/>
              <a:t>kolonisasi</a:t>
            </a:r>
            <a:r>
              <a:rPr lang="en-US" sz="2000" dirty="0"/>
              <a:t> </a:t>
            </a:r>
            <a:r>
              <a:rPr lang="en-US" sz="2000" dirty="0" err="1"/>
              <a:t>daratan</a:t>
            </a:r>
            <a:r>
              <a:rPr lang="en-US" sz="2000" dirty="0"/>
              <a:t>. Tiga eon </a:t>
            </a:r>
            <a:r>
              <a:rPr lang="en-US" sz="2000" dirty="0" err="1"/>
              <a:t>pertama</a:t>
            </a:r>
            <a:r>
              <a:rPr lang="en-US" sz="2000" dirty="0"/>
              <a:t> </a:t>
            </a:r>
            <a:r>
              <a:rPr lang="en-US" sz="2000" dirty="0" err="1"/>
              <a:t>dalam</a:t>
            </a:r>
            <a:r>
              <a:rPr lang="en-US" sz="2000" dirty="0"/>
              <a:t> </a:t>
            </a:r>
            <a:r>
              <a:rPr lang="en-US" sz="2000" dirty="0" err="1"/>
              <a:t>catatan</a:t>
            </a:r>
            <a:r>
              <a:rPr lang="en-US" sz="2000" dirty="0"/>
              <a:t> </a:t>
            </a:r>
            <a:r>
              <a:rPr lang="en-US" sz="2000" dirty="0" err="1"/>
              <a:t>geologi</a:t>
            </a:r>
            <a:r>
              <a:rPr lang="en-US" sz="2000" dirty="0"/>
              <a:t>—Hadean, Archaean, dan </a:t>
            </a:r>
            <a:r>
              <a:rPr lang="en-US" sz="2000" dirty="0" err="1"/>
              <a:t>Proterozoikum</a:t>
            </a:r>
            <a:r>
              <a:rPr lang="en-US" sz="2000" dirty="0"/>
              <a:t>—</a:t>
            </a:r>
            <a:r>
              <a:rPr lang="en-US" sz="2000" dirty="0" err="1"/>
              <a:t>secara</a:t>
            </a:r>
            <a:r>
              <a:rPr lang="en-US" sz="2000" dirty="0"/>
              <a:t> </a:t>
            </a:r>
            <a:r>
              <a:rPr lang="en-US" sz="2000" dirty="0" err="1"/>
              <a:t>bersama-sama</a:t>
            </a:r>
            <a:r>
              <a:rPr lang="en-US" sz="2000" dirty="0"/>
              <a:t> </a:t>
            </a:r>
            <a:r>
              <a:rPr lang="en-US" sz="2000" dirty="0" err="1"/>
              <a:t>berlangsung</a:t>
            </a:r>
            <a:r>
              <a:rPr lang="en-US" sz="2000" dirty="0"/>
              <a:t> </a:t>
            </a:r>
            <a:r>
              <a:rPr lang="en-US" sz="2000" dirty="0" err="1"/>
              <a:t>sekitar</a:t>
            </a:r>
            <a:r>
              <a:rPr lang="en-US" sz="2000" dirty="0"/>
              <a:t> 4 </a:t>
            </a:r>
            <a:r>
              <a:rPr lang="en-US" sz="2000" dirty="0" err="1"/>
              <a:t>miliar</a:t>
            </a:r>
            <a:r>
              <a:rPr lang="en-US" sz="2000" dirty="0"/>
              <a:t> </a:t>
            </a:r>
            <a:r>
              <a:rPr lang="en-US" sz="2000" dirty="0" err="1"/>
              <a:t>tahun</a:t>
            </a:r>
            <a:r>
              <a:rPr lang="en-US" sz="2000" dirty="0"/>
              <a:t>.</a:t>
            </a:r>
          </a:p>
          <a:p>
            <a:pPr algn="ctr"/>
            <a:endParaRPr lang="en-US" sz="2000" dirty="0"/>
          </a:p>
          <a:p>
            <a:pPr algn="ctr"/>
            <a:r>
              <a:rPr lang="en-US" sz="2000" dirty="0"/>
              <a:t>Eon </a:t>
            </a:r>
            <a:r>
              <a:rPr lang="en-US" sz="2000" dirty="0" err="1"/>
              <a:t>Fanerozoikum</a:t>
            </a:r>
            <a:r>
              <a:rPr lang="en-US" sz="2000" dirty="0"/>
              <a:t>, </a:t>
            </a:r>
            <a:r>
              <a:rPr lang="en-US" sz="2000" dirty="0" err="1"/>
              <a:t>kira-kira</a:t>
            </a:r>
            <a:r>
              <a:rPr lang="en-US" sz="2000" dirty="0"/>
              <a:t> </a:t>
            </a:r>
            <a:r>
              <a:rPr lang="en-US" sz="2000" dirty="0" err="1"/>
              <a:t>setengah</a:t>
            </a:r>
            <a:r>
              <a:rPr lang="en-US" sz="2000" dirty="0"/>
              <a:t> </a:t>
            </a:r>
            <a:r>
              <a:rPr lang="en-US" sz="2000" dirty="0" err="1"/>
              <a:t>miliar</a:t>
            </a:r>
            <a:r>
              <a:rPr lang="en-US" sz="2000" dirty="0"/>
              <a:t> </a:t>
            </a:r>
            <a:r>
              <a:rPr lang="en-US" sz="2000" dirty="0" err="1"/>
              <a:t>tahun</a:t>
            </a:r>
            <a:r>
              <a:rPr lang="en-US" sz="2000" dirty="0"/>
              <a:t> </a:t>
            </a:r>
            <a:r>
              <a:rPr lang="en-US" sz="2000" dirty="0" err="1"/>
              <a:t>terakhir</a:t>
            </a:r>
            <a:r>
              <a:rPr lang="en-US" sz="2000" dirty="0"/>
              <a:t>, </a:t>
            </a:r>
            <a:r>
              <a:rPr lang="en-US" sz="2000" dirty="0" err="1"/>
              <a:t>mencakup</a:t>
            </a:r>
            <a:r>
              <a:rPr lang="en-US" sz="2000" dirty="0"/>
              <a:t> </a:t>
            </a:r>
            <a:r>
              <a:rPr lang="en-US" sz="2000" dirty="0" err="1"/>
              <a:t>sebagian</a:t>
            </a:r>
            <a:r>
              <a:rPr lang="en-US" sz="2000" dirty="0"/>
              <a:t> </a:t>
            </a:r>
            <a:r>
              <a:rPr lang="en-US" sz="2000" dirty="0" err="1"/>
              <a:t>besar</a:t>
            </a:r>
            <a:r>
              <a:rPr lang="en-US" sz="2000" dirty="0"/>
              <a:t> </a:t>
            </a:r>
            <a:r>
              <a:rPr lang="en-US" sz="2000" dirty="0" err="1"/>
              <a:t>waktu</a:t>
            </a:r>
            <a:r>
              <a:rPr lang="en-US" sz="2000" dirty="0"/>
              <a:t> </a:t>
            </a:r>
            <a:r>
              <a:rPr lang="en-US" sz="2000" dirty="0" err="1"/>
              <a:t>keberadaan</a:t>
            </a:r>
            <a:r>
              <a:rPr lang="en-US" sz="2000" dirty="0"/>
              <a:t> </a:t>
            </a:r>
            <a:r>
              <a:rPr lang="en-US" sz="2000" dirty="0" err="1"/>
              <a:t>hewan</a:t>
            </a:r>
            <a:r>
              <a:rPr lang="en-US" sz="2000" dirty="0"/>
              <a:t> di Bumi. Eon </a:t>
            </a:r>
            <a:r>
              <a:rPr lang="en-US" sz="2000" dirty="0" err="1"/>
              <a:t>ini</a:t>
            </a:r>
            <a:r>
              <a:rPr lang="en-US" sz="2000" dirty="0"/>
              <a:t> </a:t>
            </a:r>
            <a:r>
              <a:rPr lang="en-US" sz="2000" dirty="0" err="1"/>
              <a:t>dibagi</a:t>
            </a:r>
            <a:r>
              <a:rPr lang="en-US" sz="2000" dirty="0"/>
              <a:t> </a:t>
            </a:r>
            <a:r>
              <a:rPr lang="en-US" sz="2000" dirty="0" err="1"/>
              <a:t>menjadi</a:t>
            </a:r>
            <a:r>
              <a:rPr lang="en-US" sz="2000" dirty="0"/>
              <a:t> </a:t>
            </a:r>
            <a:r>
              <a:rPr lang="en-US" sz="2000" dirty="0" err="1"/>
              <a:t>tiga</a:t>
            </a:r>
            <a:r>
              <a:rPr lang="en-US" sz="2000" dirty="0"/>
              <a:t> era: </a:t>
            </a:r>
            <a:r>
              <a:rPr lang="en-US" sz="2000" dirty="0" err="1"/>
              <a:t>Paleozoikum</a:t>
            </a:r>
            <a:r>
              <a:rPr lang="en-US" sz="2000" dirty="0"/>
              <a:t>, </a:t>
            </a:r>
            <a:r>
              <a:rPr lang="en-US" sz="2000" dirty="0" err="1"/>
              <a:t>Mesozoikum</a:t>
            </a:r>
            <a:r>
              <a:rPr lang="en-US" sz="2000" dirty="0"/>
              <a:t>, dan </a:t>
            </a:r>
            <a:r>
              <a:rPr lang="en-US" sz="2000" dirty="0" err="1"/>
              <a:t>Senozoikum</a:t>
            </a:r>
            <a:r>
              <a:rPr lang="en-US" sz="2000" dirty="0"/>
              <a:t>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FC0D3E6-4376-469D-8845-3B85FBDEA7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250" y="1639490"/>
            <a:ext cx="5197297" cy="2664218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169B369A-A080-5F99-935A-3A7BF42F8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8250" y="875489"/>
            <a:ext cx="9618662" cy="642026"/>
          </a:xfrm>
        </p:spPr>
        <p:txBody>
          <a:bodyPr/>
          <a:lstStyle/>
          <a:p>
            <a:r>
              <a:rPr lang="en-AU" sz="2800" b="1" dirty="0"/>
              <a:t>Sejarah </a:t>
            </a:r>
            <a:r>
              <a:rPr lang="en-AU" sz="2800" b="1" dirty="0" err="1"/>
              <a:t>Kehidupan</a:t>
            </a:r>
            <a:r>
              <a:rPr lang="en-AU" sz="2800" b="1" dirty="0"/>
              <a:t> di Bumi</a:t>
            </a:r>
            <a:endParaRPr lang="en-HK" sz="2800" b="1" dirty="0"/>
          </a:p>
        </p:txBody>
      </p:sp>
    </p:spTree>
    <p:extLst>
      <p:ext uri="{BB962C8B-B14F-4D97-AF65-F5344CB8AC3E}">
        <p14:creationId xmlns:p14="http://schemas.microsoft.com/office/powerpoint/2010/main" val="41642969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6">
            <a:extLst>
              <a:ext uri="{FF2B5EF4-FFF2-40B4-BE49-F238E27FC236}">
                <a16:creationId xmlns:a16="http://schemas.microsoft.com/office/drawing/2014/main" id="{8ABA6F95-747B-4FDF-946A-24A16ECC570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343525" y="37814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HK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8E48A72-B5CD-4DD4-9D0A-49D69FB1A2EB}"/>
              </a:ext>
            </a:extLst>
          </p:cNvPr>
          <p:cNvSpPr/>
          <p:nvPr/>
        </p:nvSpPr>
        <p:spPr>
          <a:xfrm>
            <a:off x="3365307" y="2070262"/>
            <a:ext cx="7100087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600" dirty="0"/>
              <a:t>Bukti </a:t>
            </a:r>
            <a:r>
              <a:rPr lang="en-US" sz="1600" dirty="0" err="1"/>
              <a:t>langsung</a:t>
            </a:r>
            <a:r>
              <a:rPr lang="en-US" sz="1600" dirty="0"/>
              <a:t> paling </a:t>
            </a:r>
            <a:r>
              <a:rPr lang="en-US" sz="1600" dirty="0" err="1"/>
              <a:t>awal</a:t>
            </a:r>
            <a:r>
              <a:rPr lang="en-US" sz="1600" dirty="0"/>
              <a:t> </a:t>
            </a:r>
            <a:r>
              <a:rPr lang="en-US" sz="1600" dirty="0" err="1"/>
              <a:t>tentang</a:t>
            </a:r>
            <a:r>
              <a:rPr lang="en-US" sz="1600" dirty="0"/>
              <a:t> </a:t>
            </a:r>
            <a:r>
              <a:rPr lang="en-US" sz="1600" dirty="0" err="1"/>
              <a:t>organisme</a:t>
            </a:r>
            <a:r>
              <a:rPr lang="en-US" sz="1600" dirty="0"/>
              <a:t> </a:t>
            </a:r>
            <a:r>
              <a:rPr lang="en-US" sz="1600" dirty="0" err="1"/>
              <a:t>ini</a:t>
            </a:r>
            <a:r>
              <a:rPr lang="en-US" sz="1600" dirty="0"/>
              <a:t>, yang </a:t>
            </a:r>
            <a:r>
              <a:rPr lang="en-US" sz="1600" dirty="0" err="1"/>
              <a:t>berasal</a:t>
            </a:r>
            <a:r>
              <a:rPr lang="en-US" sz="1600" dirty="0"/>
              <a:t> </a:t>
            </a:r>
            <a:r>
              <a:rPr lang="en-US" sz="1600" dirty="0" err="1"/>
              <a:t>dari</a:t>
            </a:r>
            <a:r>
              <a:rPr lang="en-US" sz="1600" dirty="0"/>
              <a:t> 3,5 </a:t>
            </a:r>
            <a:r>
              <a:rPr lang="en-US" sz="1600" dirty="0" err="1"/>
              <a:t>miliar</a:t>
            </a:r>
            <a:r>
              <a:rPr lang="en-US" sz="1600" dirty="0"/>
              <a:t> </a:t>
            </a:r>
            <a:r>
              <a:rPr lang="en-US" sz="1600" dirty="0" err="1"/>
              <a:t>tahun</a:t>
            </a:r>
            <a:r>
              <a:rPr lang="en-US" sz="1600" dirty="0"/>
              <a:t> yang </a:t>
            </a:r>
            <a:r>
              <a:rPr lang="en-US" sz="1600" dirty="0" err="1"/>
              <a:t>lalu</a:t>
            </a:r>
            <a:r>
              <a:rPr lang="en-US" sz="1600" dirty="0"/>
              <a:t>, </a:t>
            </a:r>
            <a:r>
              <a:rPr lang="en-US" sz="1600" dirty="0" err="1"/>
              <a:t>berasal</a:t>
            </a:r>
            <a:r>
              <a:rPr lang="en-US" sz="1600" dirty="0"/>
              <a:t> </a:t>
            </a:r>
            <a:r>
              <a:rPr lang="en-US" sz="1600" dirty="0" err="1"/>
              <a:t>dari</a:t>
            </a:r>
            <a:r>
              <a:rPr lang="en-US" sz="1600" dirty="0"/>
              <a:t> </a:t>
            </a:r>
            <a:r>
              <a:rPr lang="en-US" sz="1600" dirty="0" err="1"/>
              <a:t>stromatolit</a:t>
            </a:r>
            <a:r>
              <a:rPr lang="en-US" sz="1600" dirty="0"/>
              <a:t> </a:t>
            </a:r>
            <a:r>
              <a:rPr lang="en-US" sz="1600" dirty="0" err="1"/>
              <a:t>fosil</a:t>
            </a:r>
            <a:r>
              <a:rPr lang="en-US" sz="1600" dirty="0"/>
              <a:t> (</a:t>
            </a:r>
            <a:r>
              <a:rPr lang="en-US" sz="1600" dirty="0" err="1"/>
              <a:t>batuan</a:t>
            </a:r>
            <a:r>
              <a:rPr lang="en-US" sz="1600" dirty="0"/>
              <a:t> </a:t>
            </a:r>
            <a:r>
              <a:rPr lang="en-US" sz="1600" dirty="0" err="1"/>
              <a:t>berlapis</a:t>
            </a:r>
            <a:r>
              <a:rPr lang="en-US" sz="1600" dirty="0"/>
              <a:t> yang </a:t>
            </a:r>
            <a:r>
              <a:rPr lang="en-US" sz="1600" dirty="0" err="1"/>
              <a:t>terbentuk</a:t>
            </a:r>
            <a:r>
              <a:rPr lang="en-US" sz="1600" dirty="0"/>
              <a:t> </a:t>
            </a:r>
            <a:r>
              <a:rPr lang="en-US" sz="1600" dirty="0" err="1"/>
              <a:t>ketika</a:t>
            </a:r>
            <a:r>
              <a:rPr lang="en-US" sz="1600" dirty="0"/>
              <a:t> </a:t>
            </a:r>
            <a:r>
              <a:rPr lang="en-US" sz="1600" dirty="0" err="1"/>
              <a:t>prokariota</a:t>
            </a:r>
            <a:r>
              <a:rPr lang="en-US" sz="1600" dirty="0"/>
              <a:t> </a:t>
            </a:r>
            <a:r>
              <a:rPr lang="en-US" sz="1600" dirty="0" err="1"/>
              <a:t>tertentu</a:t>
            </a:r>
            <a:r>
              <a:rPr lang="en-US" sz="1600" dirty="0"/>
              <a:t> </a:t>
            </a:r>
            <a:r>
              <a:rPr lang="en-US" sz="1600" dirty="0" err="1"/>
              <a:t>mengikat</a:t>
            </a:r>
            <a:r>
              <a:rPr lang="en-US" sz="1600" dirty="0"/>
              <a:t> </a:t>
            </a:r>
            <a:r>
              <a:rPr lang="en-US" sz="1600" dirty="0" err="1"/>
              <a:t>lapisan</a:t>
            </a:r>
            <a:r>
              <a:rPr lang="en-US" sz="1600" dirty="0"/>
              <a:t> tipis </a:t>
            </a:r>
            <a:r>
              <a:rPr lang="en-US" sz="1600" dirty="0" err="1"/>
              <a:t>sedimen</a:t>
            </a:r>
            <a:r>
              <a:rPr lang="en-US" sz="1600" dirty="0"/>
              <a:t> </a:t>
            </a:r>
            <a:r>
              <a:rPr lang="en-US" sz="1600" dirty="0" err="1"/>
              <a:t>bersama-sama</a:t>
            </a:r>
            <a:r>
              <a:rPr lang="en-US" sz="1600" dirty="0"/>
              <a:t>). </a:t>
            </a:r>
            <a:r>
              <a:rPr lang="en-US" sz="1600" dirty="0" err="1"/>
              <a:t>Stromatolit</a:t>
            </a:r>
            <a:r>
              <a:rPr lang="en-US" sz="1600" dirty="0"/>
              <a:t> dan </a:t>
            </a:r>
            <a:r>
              <a:rPr lang="en-US" sz="1600" dirty="0" err="1"/>
              <a:t>prokariota</a:t>
            </a:r>
            <a:r>
              <a:rPr lang="en-US" sz="1600" dirty="0"/>
              <a:t> </a:t>
            </a:r>
            <a:r>
              <a:rPr lang="en-US" sz="1600" dirty="0" err="1"/>
              <a:t>awal</a:t>
            </a:r>
            <a:r>
              <a:rPr lang="en-US" sz="1600" dirty="0"/>
              <a:t> </a:t>
            </a:r>
            <a:r>
              <a:rPr lang="en-US" sz="1600" dirty="0" err="1"/>
              <a:t>lainnya</a:t>
            </a:r>
            <a:r>
              <a:rPr lang="en-US" sz="1600" dirty="0"/>
              <a:t> </a:t>
            </a:r>
            <a:r>
              <a:rPr lang="en-US" sz="1600" dirty="0" err="1"/>
              <a:t>adalah</a:t>
            </a:r>
            <a:r>
              <a:rPr lang="en-US" sz="1600" dirty="0"/>
              <a:t> </a:t>
            </a:r>
            <a:r>
              <a:rPr lang="en-US" sz="1600" dirty="0" err="1"/>
              <a:t>satu-satunya</a:t>
            </a:r>
            <a:r>
              <a:rPr lang="en-US" sz="1600" dirty="0"/>
              <a:t> </a:t>
            </a:r>
            <a:r>
              <a:rPr lang="en-US" sz="1600" dirty="0" err="1"/>
              <a:t>penghuni</a:t>
            </a:r>
            <a:r>
              <a:rPr lang="en-US" sz="1600" dirty="0"/>
              <a:t> Bumi </a:t>
            </a:r>
            <a:r>
              <a:rPr lang="en-US" sz="1600" dirty="0" err="1"/>
              <a:t>selama</a:t>
            </a:r>
            <a:r>
              <a:rPr lang="en-US" sz="1600" dirty="0"/>
              <a:t> </a:t>
            </a:r>
            <a:r>
              <a:rPr lang="en-US" sz="1600" dirty="0" err="1"/>
              <a:t>sekitar</a:t>
            </a:r>
            <a:r>
              <a:rPr lang="en-US" sz="1600" dirty="0"/>
              <a:t> 1,5 </a:t>
            </a:r>
            <a:r>
              <a:rPr lang="en-US" sz="1600" dirty="0" err="1"/>
              <a:t>miliar</a:t>
            </a:r>
            <a:r>
              <a:rPr lang="en-US" sz="1600" dirty="0"/>
              <a:t> </a:t>
            </a:r>
            <a:r>
              <a:rPr lang="en-US" sz="1600" dirty="0" err="1"/>
              <a:t>tahun</a:t>
            </a:r>
            <a:r>
              <a:rPr lang="en-US" sz="1600" dirty="0"/>
              <a:t> </a:t>
            </a:r>
            <a:r>
              <a:rPr lang="en-US" sz="1600" dirty="0" err="1"/>
              <a:t>hingga</a:t>
            </a:r>
            <a:r>
              <a:rPr lang="en-US" sz="1600" dirty="0"/>
              <a:t> </a:t>
            </a:r>
            <a:r>
              <a:rPr lang="en-US" sz="1600" dirty="0" err="1"/>
              <a:t>prokariota</a:t>
            </a:r>
            <a:r>
              <a:rPr lang="en-US" sz="1600" dirty="0"/>
              <a:t> </a:t>
            </a:r>
            <a:r>
              <a:rPr lang="en-US" sz="1600" dirty="0" err="1"/>
              <a:t>ini</a:t>
            </a:r>
            <a:r>
              <a:rPr lang="en-US" sz="1600" dirty="0"/>
              <a:t> </a:t>
            </a:r>
            <a:r>
              <a:rPr lang="en-US" sz="1600" dirty="0" err="1"/>
              <a:t>mengubah</a:t>
            </a:r>
            <a:r>
              <a:rPr lang="en-US" sz="1600" dirty="0"/>
              <a:t> </a:t>
            </a:r>
            <a:r>
              <a:rPr lang="en-US" sz="1600" dirty="0" err="1"/>
              <a:t>kehidupan</a:t>
            </a:r>
            <a:r>
              <a:rPr lang="en-US" sz="1600" dirty="0"/>
              <a:t> di planet </a:t>
            </a:r>
            <a:r>
              <a:rPr lang="en-US" sz="1600" dirty="0" err="1"/>
              <a:t>kita</a:t>
            </a:r>
            <a:r>
              <a:rPr lang="en-US" sz="1600" dirty="0"/>
              <a:t>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D36C0F-31C8-4F61-80D5-6392BAC19ACF}"/>
              </a:ext>
            </a:extLst>
          </p:cNvPr>
          <p:cNvSpPr/>
          <p:nvPr/>
        </p:nvSpPr>
        <p:spPr>
          <a:xfrm>
            <a:off x="1239435" y="1644128"/>
            <a:ext cx="364220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HK" sz="1800" dirty="0">
                <a:solidFill>
                  <a:srgbClr val="241F1F"/>
                </a:solidFill>
                <a:latin typeface="+mj-lt"/>
              </a:rPr>
              <a:t>The First Single-Celled Organisms</a:t>
            </a:r>
            <a:endParaRPr lang="en-HK" sz="1800" dirty="0"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811768-A91E-4204-9F40-1F59864680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244" y="2070262"/>
            <a:ext cx="1712063" cy="138499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FAD848C-0027-4C1F-90E2-2B45AD7CAB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678" y="4359034"/>
            <a:ext cx="1712062" cy="140260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EDA823D-7C00-40CF-BC7C-970A6FC2DD49}"/>
              </a:ext>
            </a:extLst>
          </p:cNvPr>
          <p:cNvSpPr/>
          <p:nvPr/>
        </p:nvSpPr>
        <p:spPr>
          <a:xfrm>
            <a:off x="1238250" y="3917085"/>
            <a:ext cx="42461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/>
              <a:t>Photosynthesis and the Oxygen Revolution</a:t>
            </a:r>
            <a:endParaRPr lang="en-HK" sz="18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6DC0584-1BF0-444B-98F7-EF814CB3845F}"/>
              </a:ext>
            </a:extLst>
          </p:cNvPr>
          <p:cNvSpPr/>
          <p:nvPr/>
        </p:nvSpPr>
        <p:spPr>
          <a:xfrm>
            <a:off x="2316275" y="5017901"/>
            <a:ext cx="8098342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HK" sz="1600" dirty="0">
                <a:solidFill>
                  <a:srgbClr val="241F1F"/>
                </a:solidFill>
                <a:latin typeface="StoneSerifITCPro-Medium"/>
              </a:rPr>
              <a:t>Ketika </a:t>
            </a:r>
            <a:r>
              <a:rPr lang="en-HK" sz="1600" dirty="0" err="1">
                <a:solidFill>
                  <a:srgbClr val="241F1F"/>
                </a:solidFill>
                <a:latin typeface="StoneSerifITCPro-Medium"/>
              </a:rPr>
              <a:t>fotosintesis</a:t>
            </a:r>
            <a:r>
              <a:rPr lang="en-HK" sz="1600" dirty="0">
                <a:solidFill>
                  <a:srgbClr val="241F1F"/>
                </a:solidFill>
                <a:latin typeface="StoneSerifITCPro-Medium"/>
              </a:rPr>
              <a:t> </a:t>
            </a:r>
            <a:r>
              <a:rPr lang="en-HK" sz="1600" dirty="0" err="1">
                <a:solidFill>
                  <a:srgbClr val="241F1F"/>
                </a:solidFill>
                <a:latin typeface="StoneSerifITCPro-Medium"/>
              </a:rPr>
              <a:t>oksigenik</a:t>
            </a:r>
            <a:r>
              <a:rPr lang="en-HK" sz="1600" dirty="0">
                <a:solidFill>
                  <a:srgbClr val="241F1F"/>
                </a:solidFill>
                <a:latin typeface="StoneSerifITCPro-Medium"/>
              </a:rPr>
              <a:t> </a:t>
            </a:r>
            <a:r>
              <a:rPr lang="en-HK" sz="1600" dirty="0" err="1">
                <a:solidFill>
                  <a:srgbClr val="241F1F"/>
                </a:solidFill>
                <a:latin typeface="StoneSerifITCPro-Medium"/>
              </a:rPr>
              <a:t>pertama</a:t>
            </a:r>
            <a:r>
              <a:rPr lang="en-HK" sz="1600" dirty="0">
                <a:solidFill>
                  <a:srgbClr val="241F1F"/>
                </a:solidFill>
                <a:latin typeface="StoneSerifITCPro-Medium"/>
              </a:rPr>
              <a:t> kali </a:t>
            </a:r>
            <a:r>
              <a:rPr lang="en-HK" sz="1600" dirty="0" err="1">
                <a:solidFill>
                  <a:srgbClr val="241F1F"/>
                </a:solidFill>
                <a:latin typeface="StoneSerifITCPro-Medium"/>
              </a:rPr>
              <a:t>berevolusi</a:t>
            </a:r>
            <a:r>
              <a:rPr lang="en-HK" sz="1600" dirty="0">
                <a:solidFill>
                  <a:srgbClr val="241F1F"/>
                </a:solidFill>
                <a:latin typeface="StoneSerifITCPro-Medium"/>
              </a:rPr>
              <a:t>—pada </a:t>
            </a:r>
            <a:r>
              <a:rPr lang="en-HK" sz="1600" dirty="0" err="1">
                <a:solidFill>
                  <a:srgbClr val="241F1F"/>
                </a:solidFill>
                <a:latin typeface="StoneSerifITCPro-Medium"/>
              </a:rPr>
              <a:t>prokariota</a:t>
            </a:r>
            <a:r>
              <a:rPr lang="en-HK" sz="1600" dirty="0">
                <a:solidFill>
                  <a:srgbClr val="241F1F"/>
                </a:solidFill>
                <a:latin typeface="StoneSerifITCPro-Medium"/>
              </a:rPr>
              <a:t> </a:t>
            </a:r>
            <a:r>
              <a:rPr lang="en-HK" sz="1600" dirty="0" err="1">
                <a:solidFill>
                  <a:srgbClr val="241F1F"/>
                </a:solidFill>
                <a:latin typeface="StoneSerifITCPro-Medium"/>
              </a:rPr>
              <a:t>fotosintetik</a:t>
            </a:r>
            <a:r>
              <a:rPr lang="en-HK" sz="1600" dirty="0">
                <a:solidFill>
                  <a:srgbClr val="241F1F"/>
                </a:solidFill>
                <a:latin typeface="StoneSerifITCPro-Medium"/>
              </a:rPr>
              <a:t> yang </a:t>
            </a:r>
            <a:r>
              <a:rPr lang="en-HK" sz="1600" dirty="0" err="1">
                <a:solidFill>
                  <a:srgbClr val="241F1F"/>
                </a:solidFill>
                <a:latin typeface="StoneSerifITCPro-Medium"/>
              </a:rPr>
              <a:t>mirip</a:t>
            </a:r>
            <a:r>
              <a:rPr lang="en-HK" sz="1600" dirty="0">
                <a:solidFill>
                  <a:srgbClr val="241F1F"/>
                </a:solidFill>
                <a:latin typeface="StoneSerifITCPro-Medium"/>
              </a:rPr>
              <a:t> </a:t>
            </a:r>
            <a:r>
              <a:rPr lang="en-HK" sz="1600" dirty="0" err="1">
                <a:solidFill>
                  <a:srgbClr val="241F1F"/>
                </a:solidFill>
                <a:latin typeface="StoneSerifITCPro-Medium"/>
              </a:rPr>
              <a:t>dengan</a:t>
            </a:r>
            <a:r>
              <a:rPr lang="en-HK" sz="1600" dirty="0">
                <a:solidFill>
                  <a:srgbClr val="241F1F"/>
                </a:solidFill>
                <a:latin typeface="StoneSerifITCPro-Medium"/>
              </a:rPr>
              <a:t> </a:t>
            </a:r>
            <a:r>
              <a:rPr lang="en-HK" sz="1600" dirty="0" err="1">
                <a:solidFill>
                  <a:srgbClr val="241F1F"/>
                </a:solidFill>
                <a:latin typeface="StoneSerifITCPro-Medium"/>
              </a:rPr>
              <a:t>sianobakteri</a:t>
            </a:r>
            <a:r>
              <a:rPr lang="en-HK" sz="1600" dirty="0">
                <a:solidFill>
                  <a:srgbClr val="241F1F"/>
                </a:solidFill>
                <a:latin typeface="StoneSerifITCPro-Medium"/>
              </a:rPr>
              <a:t> </a:t>
            </a:r>
            <a:r>
              <a:rPr lang="en-HK" sz="1600" dirty="0" err="1">
                <a:solidFill>
                  <a:srgbClr val="241F1F"/>
                </a:solidFill>
                <a:latin typeface="StoneSerifITCPro-Medium"/>
              </a:rPr>
              <a:t>saat</a:t>
            </a:r>
            <a:r>
              <a:rPr lang="en-HK" sz="1600" dirty="0">
                <a:solidFill>
                  <a:srgbClr val="241F1F"/>
                </a:solidFill>
                <a:latin typeface="StoneSerifITCPro-Medium"/>
              </a:rPr>
              <a:t> </a:t>
            </a:r>
            <a:r>
              <a:rPr lang="en-HK" sz="1600" dirty="0" err="1">
                <a:solidFill>
                  <a:srgbClr val="241F1F"/>
                </a:solidFill>
                <a:latin typeface="StoneSerifITCPro-Medium"/>
              </a:rPr>
              <a:t>ini</a:t>
            </a:r>
            <a:r>
              <a:rPr lang="en-HK" sz="1600" dirty="0">
                <a:solidFill>
                  <a:srgbClr val="241F1F"/>
                </a:solidFill>
                <a:latin typeface="StoneSerifITCPro-Medium"/>
              </a:rPr>
              <a:t>—O2 </a:t>
            </a:r>
            <a:r>
              <a:rPr lang="en-HK" sz="1600" dirty="0" err="1">
                <a:solidFill>
                  <a:srgbClr val="241F1F"/>
                </a:solidFill>
                <a:latin typeface="StoneSerifITCPro-Medium"/>
              </a:rPr>
              <a:t>bebas</a:t>
            </a:r>
            <a:r>
              <a:rPr lang="en-HK" sz="1600" dirty="0">
                <a:solidFill>
                  <a:srgbClr val="241F1F"/>
                </a:solidFill>
                <a:latin typeface="StoneSerifITCPro-Medium"/>
              </a:rPr>
              <a:t> yang </a:t>
            </a:r>
            <a:r>
              <a:rPr lang="en-HK" sz="1600" dirty="0" err="1">
                <a:solidFill>
                  <a:srgbClr val="241F1F"/>
                </a:solidFill>
                <a:latin typeface="StoneSerifITCPro-Medium"/>
              </a:rPr>
              <a:t>dihasilkannya</a:t>
            </a:r>
            <a:r>
              <a:rPr lang="en-HK" sz="1600" dirty="0">
                <a:solidFill>
                  <a:srgbClr val="241F1F"/>
                </a:solidFill>
                <a:latin typeface="StoneSerifITCPro-Medium"/>
              </a:rPr>
              <a:t> </a:t>
            </a:r>
            <a:r>
              <a:rPr lang="en-HK" sz="1600" dirty="0" err="1">
                <a:solidFill>
                  <a:srgbClr val="241F1F"/>
                </a:solidFill>
                <a:latin typeface="StoneSerifITCPro-Medium"/>
              </a:rPr>
              <a:t>mungkin</a:t>
            </a:r>
            <a:r>
              <a:rPr lang="en-HK" sz="1600" dirty="0">
                <a:solidFill>
                  <a:srgbClr val="241F1F"/>
                </a:solidFill>
                <a:latin typeface="StoneSerifITCPro-Medium"/>
              </a:rPr>
              <a:t> </a:t>
            </a:r>
            <a:r>
              <a:rPr lang="en-HK" sz="1600" dirty="0" err="1">
                <a:solidFill>
                  <a:srgbClr val="241F1F"/>
                </a:solidFill>
                <a:latin typeface="StoneSerifITCPro-Medium"/>
              </a:rPr>
              <a:t>larut</a:t>
            </a:r>
            <a:r>
              <a:rPr lang="en-HK" sz="1600" dirty="0">
                <a:solidFill>
                  <a:srgbClr val="241F1F"/>
                </a:solidFill>
                <a:latin typeface="StoneSerifITCPro-Medium"/>
              </a:rPr>
              <a:t> </a:t>
            </a:r>
            <a:r>
              <a:rPr lang="en-HK" sz="1600" dirty="0" err="1">
                <a:solidFill>
                  <a:srgbClr val="241F1F"/>
                </a:solidFill>
                <a:latin typeface="StoneSerifITCPro-Medium"/>
              </a:rPr>
              <a:t>dalam</a:t>
            </a:r>
            <a:r>
              <a:rPr lang="en-HK" sz="1600" dirty="0">
                <a:solidFill>
                  <a:srgbClr val="241F1F"/>
                </a:solidFill>
                <a:latin typeface="StoneSerifITCPro-Medium"/>
              </a:rPr>
              <a:t> air di </a:t>
            </a:r>
            <a:r>
              <a:rPr lang="en-HK" sz="1600" dirty="0" err="1">
                <a:solidFill>
                  <a:srgbClr val="241F1F"/>
                </a:solidFill>
                <a:latin typeface="StoneSerifITCPro-Medium"/>
              </a:rPr>
              <a:t>sekitarnya</a:t>
            </a:r>
            <a:r>
              <a:rPr lang="en-HK" sz="1600" dirty="0">
                <a:solidFill>
                  <a:srgbClr val="241F1F"/>
                </a:solidFill>
                <a:latin typeface="StoneSerifITCPro-Medium"/>
              </a:rPr>
              <a:t> </a:t>
            </a:r>
            <a:r>
              <a:rPr lang="en-HK" sz="1600" dirty="0" err="1">
                <a:solidFill>
                  <a:srgbClr val="241F1F"/>
                </a:solidFill>
                <a:latin typeface="StoneSerifITCPro-Medium"/>
              </a:rPr>
              <a:t>hingga</a:t>
            </a:r>
            <a:r>
              <a:rPr lang="en-HK" sz="1600" dirty="0">
                <a:solidFill>
                  <a:srgbClr val="241F1F"/>
                </a:solidFill>
                <a:latin typeface="StoneSerifITCPro-Medium"/>
              </a:rPr>
              <a:t> </a:t>
            </a:r>
            <a:r>
              <a:rPr lang="en-HK" sz="1600" dirty="0" err="1">
                <a:solidFill>
                  <a:srgbClr val="241F1F"/>
                </a:solidFill>
                <a:latin typeface="StoneSerifITCPro-Medium"/>
              </a:rPr>
              <a:t>mencapai</a:t>
            </a:r>
            <a:r>
              <a:rPr lang="en-HK" sz="1600" dirty="0">
                <a:solidFill>
                  <a:srgbClr val="241F1F"/>
                </a:solidFill>
                <a:latin typeface="StoneSerifITCPro-Medium"/>
              </a:rPr>
              <a:t> </a:t>
            </a:r>
            <a:r>
              <a:rPr lang="en-HK" sz="1600" dirty="0" err="1">
                <a:solidFill>
                  <a:srgbClr val="241F1F"/>
                </a:solidFill>
                <a:latin typeface="StoneSerifITCPro-Medium"/>
              </a:rPr>
              <a:t>konsentrasi</a:t>
            </a:r>
            <a:r>
              <a:rPr lang="en-HK" sz="1600" dirty="0">
                <a:solidFill>
                  <a:srgbClr val="241F1F"/>
                </a:solidFill>
                <a:latin typeface="StoneSerifITCPro-Medium"/>
              </a:rPr>
              <a:t> yang </a:t>
            </a:r>
            <a:r>
              <a:rPr lang="en-HK" sz="1600" dirty="0" err="1">
                <a:solidFill>
                  <a:srgbClr val="241F1F"/>
                </a:solidFill>
                <a:latin typeface="StoneSerifITCPro-Medium"/>
              </a:rPr>
              <a:t>cukup</a:t>
            </a:r>
            <a:r>
              <a:rPr lang="en-HK" sz="1600" dirty="0">
                <a:solidFill>
                  <a:srgbClr val="241F1F"/>
                </a:solidFill>
                <a:latin typeface="StoneSerifITCPro-Medium"/>
              </a:rPr>
              <a:t> </a:t>
            </a:r>
            <a:r>
              <a:rPr lang="en-HK" sz="1600" dirty="0" err="1">
                <a:solidFill>
                  <a:srgbClr val="241F1F"/>
                </a:solidFill>
                <a:latin typeface="StoneSerifITCPro-Medium"/>
              </a:rPr>
              <a:t>tinggi</a:t>
            </a:r>
            <a:r>
              <a:rPr lang="en-HK" sz="1600" dirty="0">
                <a:solidFill>
                  <a:srgbClr val="241F1F"/>
                </a:solidFill>
                <a:latin typeface="StoneSerifITCPro-Medium"/>
              </a:rPr>
              <a:t> </a:t>
            </a:r>
            <a:r>
              <a:rPr lang="en-HK" sz="1600" dirty="0" err="1">
                <a:solidFill>
                  <a:srgbClr val="241F1F"/>
                </a:solidFill>
                <a:latin typeface="StoneSerifITCPro-Medium"/>
              </a:rPr>
              <a:t>untuk</a:t>
            </a:r>
            <a:r>
              <a:rPr lang="en-HK" sz="1600" dirty="0">
                <a:solidFill>
                  <a:srgbClr val="241F1F"/>
                </a:solidFill>
                <a:latin typeface="StoneSerifITCPro-Medium"/>
              </a:rPr>
              <a:t> </a:t>
            </a:r>
            <a:r>
              <a:rPr lang="en-HK" sz="1600" dirty="0" err="1">
                <a:solidFill>
                  <a:srgbClr val="241F1F"/>
                </a:solidFill>
                <a:latin typeface="StoneSerifITCPro-Medium"/>
              </a:rPr>
              <a:t>bereaksi</a:t>
            </a:r>
            <a:r>
              <a:rPr lang="en-HK" sz="1600" dirty="0">
                <a:solidFill>
                  <a:srgbClr val="241F1F"/>
                </a:solidFill>
                <a:latin typeface="StoneSerifITCPro-Medium"/>
              </a:rPr>
              <a:t> </a:t>
            </a:r>
            <a:r>
              <a:rPr lang="en-HK" sz="1600" dirty="0" err="1">
                <a:solidFill>
                  <a:srgbClr val="241F1F"/>
                </a:solidFill>
                <a:latin typeface="StoneSerifITCPro-Medium"/>
              </a:rPr>
              <a:t>dengan</a:t>
            </a:r>
            <a:r>
              <a:rPr lang="en-HK" sz="1600" dirty="0">
                <a:solidFill>
                  <a:srgbClr val="241F1F"/>
                </a:solidFill>
                <a:latin typeface="StoneSerifITCPro-Medium"/>
              </a:rPr>
              <a:t> </a:t>
            </a:r>
            <a:r>
              <a:rPr lang="en-HK" sz="1600" dirty="0" err="1">
                <a:solidFill>
                  <a:srgbClr val="241F1F"/>
                </a:solidFill>
                <a:latin typeface="StoneSerifITCPro-Medium"/>
              </a:rPr>
              <a:t>unsur-unsur</a:t>
            </a:r>
            <a:r>
              <a:rPr lang="en-HK" sz="1600" dirty="0">
                <a:solidFill>
                  <a:srgbClr val="241F1F"/>
                </a:solidFill>
                <a:latin typeface="StoneSerifITCPro-Medium"/>
              </a:rPr>
              <a:t> yang </a:t>
            </a:r>
            <a:r>
              <a:rPr lang="en-HK" sz="1600" dirty="0" err="1">
                <a:solidFill>
                  <a:srgbClr val="241F1F"/>
                </a:solidFill>
                <a:latin typeface="StoneSerifITCPro-Medium"/>
              </a:rPr>
              <a:t>terlarut</a:t>
            </a:r>
            <a:r>
              <a:rPr lang="en-HK" sz="1600" dirty="0">
                <a:solidFill>
                  <a:srgbClr val="241F1F"/>
                </a:solidFill>
                <a:latin typeface="StoneSerifITCPro-Medium"/>
              </a:rPr>
              <a:t> </a:t>
            </a:r>
            <a:r>
              <a:rPr lang="en-HK" sz="1600" dirty="0" err="1">
                <a:solidFill>
                  <a:srgbClr val="241F1F"/>
                </a:solidFill>
                <a:latin typeface="StoneSerifITCPro-Medium"/>
              </a:rPr>
              <a:t>dalam</a:t>
            </a:r>
            <a:r>
              <a:rPr lang="en-HK" sz="1600" dirty="0">
                <a:solidFill>
                  <a:srgbClr val="241F1F"/>
                </a:solidFill>
                <a:latin typeface="StoneSerifITCPro-Medium"/>
              </a:rPr>
              <a:t> air. </a:t>
            </a:r>
            <a:r>
              <a:rPr lang="en-HK" sz="1600" dirty="0" err="1">
                <a:solidFill>
                  <a:srgbClr val="241F1F"/>
                </a:solidFill>
                <a:latin typeface="StoneSerifITCPro-Medium"/>
              </a:rPr>
              <a:t>Setelah</a:t>
            </a:r>
            <a:r>
              <a:rPr lang="en-HK" sz="1600" dirty="0">
                <a:solidFill>
                  <a:srgbClr val="241F1F"/>
                </a:solidFill>
                <a:latin typeface="StoneSerifITCPro-Medium"/>
              </a:rPr>
              <a:t> </a:t>
            </a:r>
            <a:r>
              <a:rPr lang="en-HK" sz="1600" dirty="0" err="1">
                <a:solidFill>
                  <a:srgbClr val="241F1F"/>
                </a:solidFill>
                <a:latin typeface="StoneSerifITCPro-Medium"/>
              </a:rPr>
              <a:t>itu</a:t>
            </a:r>
            <a:r>
              <a:rPr lang="en-HK" sz="1600" dirty="0">
                <a:solidFill>
                  <a:srgbClr val="241F1F"/>
                </a:solidFill>
                <a:latin typeface="StoneSerifITCPro-Medium"/>
              </a:rPr>
              <a:t> </a:t>
            </a:r>
            <a:r>
              <a:rPr lang="en-HK" sz="1600" dirty="0" err="1">
                <a:solidFill>
                  <a:srgbClr val="241F1F"/>
                </a:solidFill>
                <a:latin typeface="StoneSerifITCPro-Medium"/>
              </a:rPr>
              <a:t>terjadi</a:t>
            </a:r>
            <a:r>
              <a:rPr lang="en-HK" sz="1600" dirty="0">
                <a:solidFill>
                  <a:srgbClr val="241F1F"/>
                </a:solidFill>
                <a:latin typeface="StoneSerifITCPro-Medium"/>
              </a:rPr>
              <a:t>, O2 </a:t>
            </a:r>
            <a:r>
              <a:rPr lang="en-HK" sz="1600" dirty="0" err="1">
                <a:solidFill>
                  <a:srgbClr val="241F1F"/>
                </a:solidFill>
                <a:latin typeface="StoneSerifITCPro-Medium"/>
              </a:rPr>
              <a:t>akhirnya</a:t>
            </a:r>
            <a:r>
              <a:rPr lang="en-HK" sz="1600" dirty="0">
                <a:solidFill>
                  <a:srgbClr val="241F1F"/>
                </a:solidFill>
                <a:latin typeface="StoneSerifITCPro-Medium"/>
              </a:rPr>
              <a:t> </a:t>
            </a:r>
            <a:r>
              <a:rPr lang="en-HK" sz="1600" dirty="0" err="1">
                <a:solidFill>
                  <a:srgbClr val="241F1F"/>
                </a:solidFill>
                <a:latin typeface="StoneSerifITCPro-Medium"/>
              </a:rPr>
              <a:t>mulai</a:t>
            </a:r>
            <a:r>
              <a:rPr lang="en-HK" sz="1600" dirty="0">
                <a:solidFill>
                  <a:srgbClr val="241F1F"/>
                </a:solidFill>
                <a:latin typeface="StoneSerifITCPro-Medium"/>
              </a:rPr>
              <a:t> "</a:t>
            </a:r>
            <a:r>
              <a:rPr lang="en-HK" sz="1600" dirty="0" err="1">
                <a:solidFill>
                  <a:srgbClr val="241F1F"/>
                </a:solidFill>
                <a:latin typeface="StoneSerifITCPro-Medium"/>
              </a:rPr>
              <a:t>menguap</a:t>
            </a:r>
            <a:r>
              <a:rPr lang="en-HK" sz="1600" dirty="0">
                <a:solidFill>
                  <a:srgbClr val="241F1F"/>
                </a:solidFill>
                <a:latin typeface="StoneSerifITCPro-Medium"/>
              </a:rPr>
              <a:t>" </a:t>
            </a:r>
            <a:r>
              <a:rPr lang="en-HK" sz="1600" dirty="0" err="1">
                <a:solidFill>
                  <a:srgbClr val="241F1F"/>
                </a:solidFill>
                <a:latin typeface="StoneSerifITCPro-Medium"/>
              </a:rPr>
              <a:t>dari</a:t>
            </a:r>
            <a:r>
              <a:rPr lang="en-HK" sz="1600" dirty="0">
                <a:solidFill>
                  <a:srgbClr val="241F1F"/>
                </a:solidFill>
                <a:latin typeface="StoneSerifITCPro-Medium"/>
              </a:rPr>
              <a:t> air dan </a:t>
            </a:r>
            <a:r>
              <a:rPr lang="en-HK" sz="1600" dirty="0" err="1">
                <a:solidFill>
                  <a:srgbClr val="241F1F"/>
                </a:solidFill>
                <a:latin typeface="StoneSerifITCPro-Medium"/>
              </a:rPr>
              <a:t>memasuki</a:t>
            </a:r>
            <a:r>
              <a:rPr lang="en-HK" sz="1600" dirty="0">
                <a:solidFill>
                  <a:srgbClr val="241F1F"/>
                </a:solidFill>
                <a:latin typeface="StoneSerifITCPro-Medium"/>
              </a:rPr>
              <a:t> </a:t>
            </a:r>
            <a:r>
              <a:rPr lang="en-HK" sz="1600" dirty="0" err="1">
                <a:solidFill>
                  <a:srgbClr val="241F1F"/>
                </a:solidFill>
                <a:latin typeface="StoneSerifITCPro-Medium"/>
              </a:rPr>
              <a:t>atmosfer</a:t>
            </a:r>
            <a:r>
              <a:rPr lang="en-HK" sz="1600" dirty="0">
                <a:solidFill>
                  <a:srgbClr val="241F1F"/>
                </a:solidFill>
                <a:latin typeface="StoneSerifITCPro-Medium"/>
              </a:rPr>
              <a:t>. "</a:t>
            </a:r>
            <a:r>
              <a:rPr lang="en-HK" sz="1600" dirty="0" err="1">
                <a:solidFill>
                  <a:srgbClr val="241F1F"/>
                </a:solidFill>
                <a:latin typeface="StoneSerifITCPro-Medium"/>
              </a:rPr>
              <a:t>Revolusi</a:t>
            </a:r>
            <a:r>
              <a:rPr lang="en-HK" sz="1600" dirty="0">
                <a:solidFill>
                  <a:srgbClr val="241F1F"/>
                </a:solidFill>
                <a:latin typeface="StoneSerifITCPro-Medium"/>
              </a:rPr>
              <a:t> </a:t>
            </a:r>
            <a:r>
              <a:rPr lang="en-HK" sz="1600" dirty="0" err="1">
                <a:solidFill>
                  <a:srgbClr val="241F1F"/>
                </a:solidFill>
                <a:latin typeface="StoneSerifITCPro-Medium"/>
              </a:rPr>
              <a:t>oksigen</a:t>
            </a:r>
            <a:r>
              <a:rPr lang="en-HK" sz="1600" dirty="0">
                <a:solidFill>
                  <a:srgbClr val="241F1F"/>
                </a:solidFill>
                <a:latin typeface="StoneSerifITCPro-Medium"/>
              </a:rPr>
              <a:t>" </a:t>
            </a:r>
            <a:r>
              <a:rPr lang="en-HK" sz="1600" dirty="0" err="1">
                <a:solidFill>
                  <a:srgbClr val="241F1F"/>
                </a:solidFill>
                <a:latin typeface="StoneSerifITCPro-Medium"/>
              </a:rPr>
              <a:t>ini</a:t>
            </a:r>
            <a:r>
              <a:rPr lang="en-HK" sz="1600" dirty="0">
                <a:solidFill>
                  <a:srgbClr val="241F1F"/>
                </a:solidFill>
                <a:latin typeface="StoneSerifITCPro-Medium"/>
              </a:rPr>
              <a:t> </a:t>
            </a:r>
            <a:r>
              <a:rPr lang="en-HK" sz="1600" dirty="0" err="1">
                <a:solidFill>
                  <a:srgbClr val="241F1F"/>
                </a:solidFill>
                <a:latin typeface="StoneSerifITCPro-Medium"/>
              </a:rPr>
              <a:t>memiliki</a:t>
            </a:r>
            <a:r>
              <a:rPr lang="en-HK" sz="1600" dirty="0">
                <a:solidFill>
                  <a:srgbClr val="241F1F"/>
                </a:solidFill>
                <a:latin typeface="StoneSerifITCPro-Medium"/>
              </a:rPr>
              <a:t> </a:t>
            </a:r>
            <a:r>
              <a:rPr lang="en-HK" sz="1600" dirty="0" err="1">
                <a:solidFill>
                  <a:srgbClr val="241F1F"/>
                </a:solidFill>
                <a:latin typeface="StoneSerifITCPro-Medium"/>
              </a:rPr>
              <a:t>dampak</a:t>
            </a:r>
            <a:r>
              <a:rPr lang="en-HK" sz="1600" dirty="0">
                <a:solidFill>
                  <a:srgbClr val="241F1F"/>
                </a:solidFill>
                <a:latin typeface="StoneSerifITCPro-Medium"/>
              </a:rPr>
              <a:t> yang sangat </a:t>
            </a:r>
            <a:r>
              <a:rPr lang="en-HK" sz="1600" dirty="0" err="1">
                <a:solidFill>
                  <a:srgbClr val="241F1F"/>
                </a:solidFill>
                <a:latin typeface="StoneSerifITCPro-Medium"/>
              </a:rPr>
              <a:t>besar</a:t>
            </a:r>
            <a:r>
              <a:rPr lang="en-HK" sz="1600" dirty="0">
                <a:solidFill>
                  <a:srgbClr val="241F1F"/>
                </a:solidFill>
                <a:latin typeface="StoneSerifITCPro-Medium"/>
              </a:rPr>
              <a:t> pada </a:t>
            </a:r>
            <a:r>
              <a:rPr lang="en-HK" sz="1600" dirty="0" err="1">
                <a:solidFill>
                  <a:srgbClr val="241F1F"/>
                </a:solidFill>
                <a:latin typeface="StoneSerifITCPro-Medium"/>
              </a:rPr>
              <a:t>kehidupan</a:t>
            </a:r>
            <a:r>
              <a:rPr lang="en-HK" sz="1600" dirty="0">
                <a:solidFill>
                  <a:srgbClr val="241F1F"/>
                </a:solidFill>
                <a:latin typeface="StoneSerifITCPro-Medium"/>
              </a:rPr>
              <a:t>. </a:t>
            </a:r>
            <a:r>
              <a:rPr lang="en-HK" sz="1600" dirty="0" err="1">
                <a:solidFill>
                  <a:srgbClr val="241F1F"/>
                </a:solidFill>
                <a:latin typeface="StoneSerifITCPro-Medium"/>
              </a:rPr>
              <a:t>Dalam</a:t>
            </a:r>
            <a:r>
              <a:rPr lang="en-HK" sz="1600" dirty="0">
                <a:solidFill>
                  <a:srgbClr val="241F1F"/>
                </a:solidFill>
                <a:latin typeface="StoneSerifITCPro-Medium"/>
              </a:rPr>
              <a:t> </a:t>
            </a:r>
            <a:r>
              <a:rPr lang="en-HK" sz="1600" dirty="0" err="1">
                <a:solidFill>
                  <a:srgbClr val="241F1F"/>
                </a:solidFill>
                <a:latin typeface="StoneSerifITCPro-Medium"/>
              </a:rPr>
              <a:t>beberapa</a:t>
            </a:r>
            <a:r>
              <a:rPr lang="en-HK" sz="1600" dirty="0">
                <a:solidFill>
                  <a:srgbClr val="241F1F"/>
                </a:solidFill>
                <a:latin typeface="StoneSerifITCPro-Medium"/>
              </a:rPr>
              <a:t> </a:t>
            </a:r>
            <a:r>
              <a:rPr lang="en-HK" sz="1600" dirty="0" err="1">
                <a:solidFill>
                  <a:srgbClr val="241F1F"/>
                </a:solidFill>
                <a:latin typeface="StoneSerifITCPro-Medium"/>
              </a:rPr>
              <a:t>bentuk</a:t>
            </a:r>
            <a:r>
              <a:rPr lang="en-HK" sz="1600" dirty="0">
                <a:solidFill>
                  <a:srgbClr val="241F1F"/>
                </a:solidFill>
                <a:latin typeface="StoneSerifITCPro-Medium"/>
              </a:rPr>
              <a:t> </a:t>
            </a:r>
            <a:r>
              <a:rPr lang="en-HK" sz="1600" dirty="0" err="1">
                <a:solidFill>
                  <a:srgbClr val="241F1F"/>
                </a:solidFill>
                <a:latin typeface="StoneSerifITCPro-Medium"/>
              </a:rPr>
              <a:t>kimianya</a:t>
            </a:r>
            <a:r>
              <a:rPr lang="en-HK" sz="1600" dirty="0">
                <a:solidFill>
                  <a:srgbClr val="241F1F"/>
                </a:solidFill>
                <a:latin typeface="StoneSerifITCPro-Medium"/>
              </a:rPr>
              <a:t>, </a:t>
            </a:r>
            <a:r>
              <a:rPr lang="en-HK" sz="1600" dirty="0" err="1">
                <a:solidFill>
                  <a:srgbClr val="241F1F"/>
                </a:solidFill>
                <a:latin typeface="StoneSerifITCPro-Medium"/>
              </a:rPr>
              <a:t>oksigen</a:t>
            </a:r>
            <a:r>
              <a:rPr lang="en-HK" sz="1600" dirty="0">
                <a:solidFill>
                  <a:srgbClr val="241F1F"/>
                </a:solidFill>
                <a:latin typeface="StoneSerifITCPro-Medium"/>
              </a:rPr>
              <a:t> </a:t>
            </a:r>
            <a:r>
              <a:rPr lang="en-HK" sz="1600" dirty="0" err="1">
                <a:solidFill>
                  <a:srgbClr val="241F1F"/>
                </a:solidFill>
                <a:latin typeface="StoneSerifITCPro-Medium"/>
              </a:rPr>
              <a:t>menyerang</a:t>
            </a:r>
            <a:r>
              <a:rPr lang="en-HK" sz="1600" dirty="0">
                <a:solidFill>
                  <a:srgbClr val="241F1F"/>
                </a:solidFill>
                <a:latin typeface="StoneSerifITCPro-Medium"/>
              </a:rPr>
              <a:t> </a:t>
            </a:r>
            <a:r>
              <a:rPr lang="en-HK" sz="1600" dirty="0" err="1">
                <a:solidFill>
                  <a:srgbClr val="241F1F"/>
                </a:solidFill>
                <a:latin typeface="StoneSerifITCPro-Medium"/>
              </a:rPr>
              <a:t>ikatan</a:t>
            </a:r>
            <a:r>
              <a:rPr lang="en-HK" sz="1600" dirty="0">
                <a:solidFill>
                  <a:srgbClr val="241F1F"/>
                </a:solidFill>
                <a:latin typeface="StoneSerifITCPro-Medium"/>
              </a:rPr>
              <a:t> </a:t>
            </a:r>
            <a:r>
              <a:rPr lang="en-HK" sz="1600" dirty="0" err="1">
                <a:solidFill>
                  <a:srgbClr val="241F1F"/>
                </a:solidFill>
                <a:latin typeface="StoneSerifITCPro-Medium"/>
              </a:rPr>
              <a:t>kimia</a:t>
            </a:r>
            <a:r>
              <a:rPr lang="en-HK" sz="1600" dirty="0">
                <a:solidFill>
                  <a:srgbClr val="241F1F"/>
                </a:solidFill>
                <a:latin typeface="StoneSerifITCPro-Medium"/>
              </a:rPr>
              <a:t> dan </a:t>
            </a:r>
            <a:r>
              <a:rPr lang="en-HK" sz="1600" dirty="0" err="1">
                <a:solidFill>
                  <a:srgbClr val="241F1F"/>
                </a:solidFill>
                <a:latin typeface="StoneSerifITCPro-Medium"/>
              </a:rPr>
              <a:t>dapat</a:t>
            </a:r>
            <a:r>
              <a:rPr lang="en-HK" sz="1600" dirty="0">
                <a:solidFill>
                  <a:srgbClr val="241F1F"/>
                </a:solidFill>
                <a:latin typeface="StoneSerifITCPro-Medium"/>
              </a:rPr>
              <a:t> </a:t>
            </a:r>
            <a:r>
              <a:rPr lang="en-HK" sz="1600" dirty="0" err="1">
                <a:solidFill>
                  <a:srgbClr val="241F1F"/>
                </a:solidFill>
                <a:latin typeface="StoneSerifITCPro-Medium"/>
              </a:rPr>
              <a:t>menghambat</a:t>
            </a:r>
            <a:r>
              <a:rPr lang="en-HK" sz="1600" dirty="0">
                <a:solidFill>
                  <a:srgbClr val="241F1F"/>
                </a:solidFill>
                <a:latin typeface="StoneSerifITCPro-Medium"/>
              </a:rPr>
              <a:t> </a:t>
            </a:r>
            <a:r>
              <a:rPr lang="en-HK" sz="1600" dirty="0" err="1">
                <a:solidFill>
                  <a:srgbClr val="241F1F"/>
                </a:solidFill>
                <a:latin typeface="StoneSerifITCPro-Medium"/>
              </a:rPr>
              <a:t>enzim</a:t>
            </a:r>
            <a:r>
              <a:rPr lang="en-HK" sz="1600" dirty="0">
                <a:solidFill>
                  <a:srgbClr val="241F1F"/>
                </a:solidFill>
                <a:latin typeface="StoneSerifITCPro-Medium"/>
              </a:rPr>
              <a:t> </a:t>
            </a:r>
            <a:r>
              <a:rPr lang="en-HK" sz="1600" dirty="0" err="1">
                <a:solidFill>
                  <a:srgbClr val="241F1F"/>
                </a:solidFill>
                <a:latin typeface="StoneSerifITCPro-Medium"/>
              </a:rPr>
              <a:t>serta</a:t>
            </a:r>
            <a:r>
              <a:rPr lang="en-HK" sz="1600" dirty="0">
                <a:solidFill>
                  <a:srgbClr val="241F1F"/>
                </a:solidFill>
                <a:latin typeface="StoneSerifITCPro-Medium"/>
              </a:rPr>
              <a:t> </a:t>
            </a:r>
            <a:r>
              <a:rPr lang="en-HK" sz="1600" dirty="0" err="1">
                <a:solidFill>
                  <a:srgbClr val="241F1F"/>
                </a:solidFill>
                <a:latin typeface="StoneSerifITCPro-Medium"/>
              </a:rPr>
              <a:t>merusak</a:t>
            </a:r>
            <a:r>
              <a:rPr lang="en-HK" sz="1600" dirty="0">
                <a:solidFill>
                  <a:srgbClr val="241F1F"/>
                </a:solidFill>
                <a:latin typeface="StoneSerifITCPro-Medium"/>
              </a:rPr>
              <a:t> sel.</a:t>
            </a:r>
          </a:p>
          <a:p>
            <a:pPr algn="just"/>
            <a:endParaRPr lang="en-HK" sz="16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A46BA88-702E-86CE-836B-F1019C3C3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8250" y="875489"/>
            <a:ext cx="9618662" cy="642026"/>
          </a:xfrm>
        </p:spPr>
        <p:txBody>
          <a:bodyPr/>
          <a:lstStyle/>
          <a:p>
            <a:r>
              <a:rPr lang="en-AU" sz="2800" b="1" dirty="0"/>
              <a:t>Sejarah </a:t>
            </a:r>
            <a:r>
              <a:rPr lang="en-AU" sz="2800" b="1" dirty="0" err="1"/>
              <a:t>Kehidupan</a:t>
            </a:r>
            <a:r>
              <a:rPr lang="en-AU" sz="2800" b="1" dirty="0"/>
              <a:t> di Bumi</a:t>
            </a:r>
            <a:endParaRPr lang="en-HK" sz="2800" b="1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C4AAE0B-2FDB-4A4E-A1E9-BF003F6FC0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3027" y="3393015"/>
            <a:ext cx="2150734" cy="1552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6195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6">
            <a:extLst>
              <a:ext uri="{FF2B5EF4-FFF2-40B4-BE49-F238E27FC236}">
                <a16:creationId xmlns:a16="http://schemas.microsoft.com/office/drawing/2014/main" id="{8ABA6F95-747B-4FDF-946A-24A16ECC570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343525" y="37814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HK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8E48A72-B5CD-4DD4-9D0A-49D69FB1A2EB}"/>
              </a:ext>
            </a:extLst>
          </p:cNvPr>
          <p:cNvSpPr/>
          <p:nvPr/>
        </p:nvSpPr>
        <p:spPr>
          <a:xfrm>
            <a:off x="2736249" y="1910959"/>
            <a:ext cx="4893972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400" dirty="0" err="1"/>
              <a:t>Ingatlah</a:t>
            </a:r>
            <a:r>
              <a:rPr lang="en-US" sz="1400" dirty="0"/>
              <a:t> </a:t>
            </a:r>
            <a:r>
              <a:rPr lang="en-US" sz="1400" dirty="0" err="1"/>
              <a:t>bahwa</a:t>
            </a:r>
            <a:r>
              <a:rPr lang="en-US" sz="1400" dirty="0"/>
              <a:t> </a:t>
            </a:r>
            <a:r>
              <a:rPr lang="en-US" sz="1400" dirty="0" err="1"/>
              <a:t>sel</a:t>
            </a:r>
            <a:r>
              <a:rPr lang="en-US" sz="1400" dirty="0"/>
              <a:t> </a:t>
            </a:r>
            <a:r>
              <a:rPr lang="en-US" sz="1400" dirty="0" err="1"/>
              <a:t>eukariotik</a:t>
            </a:r>
            <a:r>
              <a:rPr lang="en-US" sz="1400" dirty="0"/>
              <a:t> </a:t>
            </a:r>
            <a:r>
              <a:rPr lang="en-US" sz="1400" dirty="0" err="1"/>
              <a:t>memiliki</a:t>
            </a:r>
            <a:r>
              <a:rPr lang="en-US" sz="1400" dirty="0"/>
              <a:t> </a:t>
            </a:r>
            <a:r>
              <a:rPr lang="en-US" sz="1400" dirty="0" err="1"/>
              <a:t>organisasi</a:t>
            </a:r>
            <a:r>
              <a:rPr lang="en-US" sz="1400" dirty="0"/>
              <a:t> yang </a:t>
            </a:r>
            <a:r>
              <a:rPr lang="en-US" sz="1400" dirty="0" err="1"/>
              <a:t>lebih</a:t>
            </a:r>
            <a:r>
              <a:rPr lang="en-US" sz="1400" dirty="0"/>
              <a:t> </a:t>
            </a:r>
            <a:r>
              <a:rPr lang="en-US" sz="1400" dirty="0" err="1"/>
              <a:t>kompleks</a:t>
            </a:r>
            <a:r>
              <a:rPr lang="en-US" sz="1400" dirty="0"/>
              <a:t> </a:t>
            </a:r>
            <a:r>
              <a:rPr lang="en-US" sz="1400" dirty="0" err="1"/>
              <a:t>daripada</a:t>
            </a:r>
            <a:r>
              <a:rPr lang="en-US" sz="1400" dirty="0"/>
              <a:t> </a:t>
            </a:r>
            <a:r>
              <a:rPr lang="en-US" sz="1400" dirty="0" err="1"/>
              <a:t>sel</a:t>
            </a:r>
            <a:r>
              <a:rPr lang="en-US" sz="1400" dirty="0"/>
              <a:t> </a:t>
            </a:r>
            <a:r>
              <a:rPr lang="en-US" sz="1400" dirty="0" err="1"/>
              <a:t>prokariotik</a:t>
            </a:r>
            <a:r>
              <a:rPr lang="en-US" sz="1400" dirty="0"/>
              <a:t>: Sel </a:t>
            </a:r>
            <a:r>
              <a:rPr lang="en-US" sz="1400" dirty="0" err="1"/>
              <a:t>eukariotik</a:t>
            </a:r>
            <a:r>
              <a:rPr lang="en-US" sz="1400" dirty="0"/>
              <a:t> </a:t>
            </a:r>
            <a:r>
              <a:rPr lang="en-US" sz="1400" dirty="0" err="1"/>
              <a:t>memiliki</a:t>
            </a:r>
            <a:r>
              <a:rPr lang="en-US" sz="1400" dirty="0"/>
              <a:t> </a:t>
            </a:r>
            <a:r>
              <a:rPr lang="en-US" sz="1400" dirty="0" err="1"/>
              <a:t>selubung</a:t>
            </a:r>
            <a:r>
              <a:rPr lang="en-US" sz="1400" dirty="0"/>
              <a:t> </a:t>
            </a:r>
            <a:r>
              <a:rPr lang="en-US" sz="1400" dirty="0" err="1"/>
              <a:t>nuklir</a:t>
            </a:r>
            <a:r>
              <a:rPr lang="en-US" sz="1400" dirty="0"/>
              <a:t>, </a:t>
            </a:r>
            <a:r>
              <a:rPr lang="en-US" sz="1400" dirty="0" err="1"/>
              <a:t>mitokondria</a:t>
            </a:r>
            <a:r>
              <a:rPr lang="en-US" sz="1400" dirty="0"/>
              <a:t>, </a:t>
            </a:r>
            <a:r>
              <a:rPr lang="en-US" sz="1400" dirty="0" err="1"/>
              <a:t>retikulum</a:t>
            </a:r>
            <a:r>
              <a:rPr lang="en-US" sz="1400" dirty="0"/>
              <a:t> </a:t>
            </a:r>
            <a:r>
              <a:rPr lang="en-US" sz="1400" dirty="0" err="1"/>
              <a:t>endoplasma</a:t>
            </a:r>
            <a:r>
              <a:rPr lang="en-US" sz="1400" dirty="0"/>
              <a:t>, dan </a:t>
            </a:r>
            <a:r>
              <a:rPr lang="en-US" sz="1400" dirty="0" err="1"/>
              <a:t>struktur</a:t>
            </a:r>
            <a:r>
              <a:rPr lang="en-US" sz="1400" dirty="0"/>
              <a:t> internal </a:t>
            </a:r>
            <a:r>
              <a:rPr lang="en-US" sz="1400" dirty="0" err="1"/>
              <a:t>lainnya</a:t>
            </a:r>
            <a:r>
              <a:rPr lang="en-US" sz="1400" dirty="0"/>
              <a:t> yang </a:t>
            </a:r>
            <a:r>
              <a:rPr lang="en-US" sz="1400" dirty="0" err="1"/>
              <a:t>tidak</a:t>
            </a:r>
            <a:r>
              <a:rPr lang="en-US" sz="1400" dirty="0"/>
              <a:t> </a:t>
            </a:r>
            <a:r>
              <a:rPr lang="en-US" sz="1400" dirty="0" err="1"/>
              <a:t>dimiliki</a:t>
            </a:r>
            <a:r>
              <a:rPr lang="en-US" sz="1400" dirty="0"/>
              <a:t> </a:t>
            </a:r>
            <a:r>
              <a:rPr lang="en-US" sz="1400" dirty="0" err="1"/>
              <a:t>prokariotik</a:t>
            </a:r>
            <a:r>
              <a:rPr lang="en-US" sz="1400" dirty="0"/>
              <a:t>. (</a:t>
            </a:r>
            <a:r>
              <a:rPr lang="en-US" sz="1400" dirty="0" err="1"/>
              <a:t>baca</a:t>
            </a:r>
            <a:r>
              <a:rPr lang="en-US" sz="1400" dirty="0"/>
              <a:t>: </a:t>
            </a:r>
            <a:r>
              <a:rPr lang="en-US" sz="1400" dirty="0" err="1"/>
              <a:t>endosimbiosis</a:t>
            </a:r>
            <a:r>
              <a:rPr lang="en-US" sz="1400" dirty="0"/>
              <a:t>)</a:t>
            </a:r>
          </a:p>
          <a:p>
            <a:pPr algn="just"/>
            <a:endParaRPr lang="en-US" sz="1400" dirty="0"/>
          </a:p>
          <a:p>
            <a:pPr algn="just"/>
            <a:r>
              <a:rPr lang="en-US" sz="1400" dirty="0" err="1"/>
              <a:t>Bagaimanapun</a:t>
            </a:r>
            <a:r>
              <a:rPr lang="en-US" sz="1400" dirty="0"/>
              <a:t> </a:t>
            </a:r>
            <a:r>
              <a:rPr lang="en-US" sz="1400" dirty="0" err="1"/>
              <a:t>hubungan</a:t>
            </a:r>
            <a:r>
              <a:rPr lang="en-US" sz="1400" dirty="0"/>
              <a:t> </a:t>
            </a:r>
            <a:r>
              <a:rPr lang="en-US" sz="1400" dirty="0" err="1"/>
              <a:t>itu</a:t>
            </a:r>
            <a:r>
              <a:rPr lang="en-US" sz="1400" dirty="0"/>
              <a:t> </a:t>
            </a:r>
            <a:r>
              <a:rPr lang="en-US" sz="1400" dirty="0" err="1"/>
              <a:t>dimulai</a:t>
            </a:r>
            <a:r>
              <a:rPr lang="en-US" sz="1400" dirty="0"/>
              <a:t>, </a:t>
            </a:r>
            <a:r>
              <a:rPr lang="en-US" sz="1400" dirty="0" err="1"/>
              <a:t>kita</a:t>
            </a:r>
            <a:r>
              <a:rPr lang="en-US" sz="1400" dirty="0"/>
              <a:t> </a:t>
            </a:r>
            <a:r>
              <a:rPr lang="en-US" sz="1400" dirty="0" err="1"/>
              <a:t>dapat</a:t>
            </a:r>
            <a:r>
              <a:rPr lang="en-US" sz="1400" dirty="0"/>
              <a:t> </a:t>
            </a:r>
            <a:r>
              <a:rPr lang="en-US" sz="1400" dirty="0" err="1"/>
              <a:t>membuat</a:t>
            </a:r>
            <a:r>
              <a:rPr lang="en-US" sz="1400" dirty="0"/>
              <a:t> </a:t>
            </a:r>
            <a:r>
              <a:rPr lang="en-US" sz="1400" dirty="0" err="1"/>
              <a:t>hipotesis</a:t>
            </a:r>
            <a:r>
              <a:rPr lang="en-US" sz="1400" dirty="0"/>
              <a:t> </a:t>
            </a:r>
            <a:r>
              <a:rPr lang="en-US" sz="1400" dirty="0" err="1"/>
              <a:t>bagaimana</a:t>
            </a:r>
            <a:r>
              <a:rPr lang="en-US" sz="1400" dirty="0"/>
              <a:t> </a:t>
            </a:r>
            <a:r>
              <a:rPr lang="en-US" sz="1400" dirty="0" err="1"/>
              <a:t>simbiosis</a:t>
            </a:r>
            <a:r>
              <a:rPr lang="en-US" sz="1400" dirty="0"/>
              <a:t> </a:t>
            </a:r>
            <a:r>
              <a:rPr lang="en-US" sz="1400" dirty="0" err="1"/>
              <a:t>tersebut</a:t>
            </a:r>
            <a:r>
              <a:rPr lang="en-US" sz="1400" dirty="0"/>
              <a:t> </a:t>
            </a:r>
            <a:r>
              <a:rPr lang="en-US" sz="1400" dirty="0" err="1"/>
              <a:t>dapat</a:t>
            </a:r>
            <a:r>
              <a:rPr lang="en-US" sz="1400" dirty="0"/>
              <a:t> </a:t>
            </a:r>
            <a:r>
              <a:rPr lang="en-US" sz="1400" dirty="0" err="1"/>
              <a:t>menjadi</a:t>
            </a:r>
            <a:r>
              <a:rPr lang="en-US" sz="1400" dirty="0"/>
              <a:t> </a:t>
            </a:r>
            <a:r>
              <a:rPr lang="en-US" sz="1400" dirty="0" err="1"/>
              <a:t>bermanfaat</a:t>
            </a:r>
            <a:r>
              <a:rPr lang="en-US" sz="1400" dirty="0"/>
              <a:t>. </a:t>
            </a:r>
            <a:r>
              <a:rPr lang="en-US" sz="1400" dirty="0" err="1"/>
              <a:t>Misalnya</a:t>
            </a:r>
            <a:r>
              <a:rPr lang="en-US" sz="1400" dirty="0"/>
              <a:t>, di dunia yang </a:t>
            </a:r>
            <a:r>
              <a:rPr lang="en-US" sz="1400" dirty="0" err="1"/>
              <a:t>semakin</a:t>
            </a:r>
            <a:r>
              <a:rPr lang="en-US" sz="1400" dirty="0"/>
              <a:t> </a:t>
            </a:r>
            <a:r>
              <a:rPr lang="en-US" sz="1400" dirty="0" err="1"/>
              <a:t>aerobik</a:t>
            </a:r>
            <a:r>
              <a:rPr lang="en-US" sz="1400" dirty="0"/>
              <a:t>, </a:t>
            </a:r>
            <a:r>
              <a:rPr lang="en-US" sz="1400" dirty="0" err="1"/>
              <a:t>inang</a:t>
            </a:r>
            <a:r>
              <a:rPr lang="en-US" sz="1400" dirty="0"/>
              <a:t> yang </a:t>
            </a:r>
            <a:r>
              <a:rPr lang="en-US" sz="1400" dirty="0" err="1"/>
              <a:t>sendiri</a:t>
            </a:r>
            <a:r>
              <a:rPr lang="en-US" sz="1400" dirty="0"/>
              <a:t> </a:t>
            </a:r>
            <a:r>
              <a:rPr lang="en-US" sz="1400" dirty="0" err="1"/>
              <a:t>merupakan</a:t>
            </a:r>
            <a:r>
              <a:rPr lang="en-US" sz="1400" dirty="0"/>
              <a:t> </a:t>
            </a:r>
            <a:r>
              <a:rPr lang="en-US" sz="1400" dirty="0" err="1"/>
              <a:t>anaerob</a:t>
            </a:r>
            <a:r>
              <a:rPr lang="en-US" sz="1400" dirty="0"/>
              <a:t> </a:t>
            </a:r>
            <a:r>
              <a:rPr lang="en-US" sz="1400" dirty="0" err="1"/>
              <a:t>akan</a:t>
            </a:r>
            <a:r>
              <a:rPr lang="en-US" sz="1400" dirty="0"/>
              <a:t> </a:t>
            </a:r>
            <a:r>
              <a:rPr lang="en-US" sz="1400" dirty="0" err="1"/>
              <a:t>mendapat</a:t>
            </a:r>
            <a:r>
              <a:rPr lang="en-US" sz="1400" dirty="0"/>
              <a:t> </a:t>
            </a:r>
            <a:r>
              <a:rPr lang="en-US" sz="1400" dirty="0" err="1"/>
              <a:t>manfaat</a:t>
            </a:r>
            <a:r>
              <a:rPr lang="en-US" sz="1400" dirty="0"/>
              <a:t> </a:t>
            </a:r>
            <a:r>
              <a:rPr lang="en-US" sz="1400" dirty="0" err="1"/>
              <a:t>dari</a:t>
            </a:r>
            <a:r>
              <a:rPr lang="en-US" sz="1400" dirty="0"/>
              <a:t> </a:t>
            </a:r>
            <a:r>
              <a:rPr lang="en-US" sz="1400" dirty="0" err="1"/>
              <a:t>endosimbion</a:t>
            </a:r>
            <a:r>
              <a:rPr lang="en-US" sz="1400" dirty="0"/>
              <a:t> yang </a:t>
            </a:r>
            <a:r>
              <a:rPr lang="en-US" sz="1400" dirty="0" err="1"/>
              <a:t>dapat</a:t>
            </a:r>
            <a:r>
              <a:rPr lang="en-US" sz="1400" dirty="0"/>
              <a:t> </a:t>
            </a:r>
            <a:r>
              <a:rPr lang="en-US" sz="1400" dirty="0" err="1"/>
              <a:t>memanfaatkan</a:t>
            </a:r>
            <a:r>
              <a:rPr lang="en-US" sz="1400" dirty="0"/>
              <a:t> </a:t>
            </a:r>
            <a:r>
              <a:rPr lang="en-US" sz="1400" dirty="0" err="1"/>
              <a:t>oksigen</a:t>
            </a:r>
            <a:r>
              <a:rPr lang="en-US" sz="1400" dirty="0"/>
              <a:t>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D36C0F-31C8-4F61-80D5-6392BAC19ACF}"/>
              </a:ext>
            </a:extLst>
          </p:cNvPr>
          <p:cNvSpPr/>
          <p:nvPr/>
        </p:nvSpPr>
        <p:spPr>
          <a:xfrm>
            <a:off x="1239435" y="1547991"/>
            <a:ext cx="364220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HK" sz="1800" dirty="0"/>
              <a:t>The First Eukaryotes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EDA823D-7C00-40CF-BC7C-970A6FC2DD49}"/>
              </a:ext>
            </a:extLst>
          </p:cNvPr>
          <p:cNvSpPr/>
          <p:nvPr/>
        </p:nvSpPr>
        <p:spPr>
          <a:xfrm>
            <a:off x="1238250" y="4317056"/>
            <a:ext cx="42461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/>
              <a:t>Early Multicellular Eukaryotes</a:t>
            </a:r>
            <a:endParaRPr lang="en-HK" sz="18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9F98400-07BC-4B71-878C-5A9A39B4F4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910" y="2095555"/>
            <a:ext cx="1712063" cy="139129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F3FC59D-8A85-4E94-B692-08A7F99FA7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428" y="4815293"/>
            <a:ext cx="1827025" cy="140260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0F89AC3-C26F-4A72-B3A6-D81B56778A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2390" y="1844098"/>
            <a:ext cx="2458223" cy="4814303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0F0F0B2-3A59-447F-BA11-E7A7BC3E34E6}"/>
              </a:ext>
            </a:extLst>
          </p:cNvPr>
          <p:cNvSpPr/>
          <p:nvPr/>
        </p:nvSpPr>
        <p:spPr>
          <a:xfrm>
            <a:off x="2833353" y="4722417"/>
            <a:ext cx="4893971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400" dirty="0" err="1"/>
              <a:t>Meningkatnya</a:t>
            </a:r>
            <a:r>
              <a:rPr lang="en-US" sz="1400" dirty="0"/>
              <a:t> </a:t>
            </a:r>
            <a:r>
              <a:rPr lang="en-US" sz="1400" dirty="0" err="1"/>
              <a:t>kompleksitas</a:t>
            </a:r>
            <a:r>
              <a:rPr lang="en-US" sz="1400" dirty="0"/>
              <a:t> </a:t>
            </a:r>
            <a:r>
              <a:rPr lang="en-US" sz="1400" dirty="0" err="1"/>
              <a:t>orkestra</a:t>
            </a:r>
            <a:r>
              <a:rPr lang="en-US" sz="1400" dirty="0"/>
              <a:t> </a:t>
            </a:r>
            <a:r>
              <a:rPr lang="en-US" sz="1400" dirty="0" err="1"/>
              <a:t>memungkinkan</a:t>
            </a:r>
            <a:r>
              <a:rPr lang="en-US" sz="1400" dirty="0"/>
              <a:t> </a:t>
            </a:r>
            <a:r>
              <a:rPr lang="en-US" sz="1400" dirty="0" err="1"/>
              <a:t>lebih</a:t>
            </a:r>
            <a:r>
              <a:rPr lang="en-US" sz="1400" dirty="0"/>
              <a:t> </a:t>
            </a:r>
            <a:r>
              <a:rPr lang="en-US" sz="1400" dirty="0" err="1"/>
              <a:t>banyak</a:t>
            </a:r>
            <a:r>
              <a:rPr lang="en-US" sz="1400" dirty="0"/>
              <a:t> </a:t>
            </a:r>
            <a:r>
              <a:rPr lang="en-US" sz="1400" dirty="0" err="1"/>
              <a:t>variasi</a:t>
            </a:r>
            <a:r>
              <a:rPr lang="en-US" sz="1400" dirty="0"/>
              <a:t>. </a:t>
            </a:r>
            <a:r>
              <a:rPr lang="en-US" sz="1400" dirty="0" err="1"/>
              <a:t>Setelah</a:t>
            </a:r>
            <a:r>
              <a:rPr lang="en-US" sz="1400" dirty="0"/>
              <a:t> </a:t>
            </a:r>
            <a:r>
              <a:rPr lang="en-US" sz="1400" dirty="0" err="1"/>
              <a:t>eukariota</a:t>
            </a:r>
            <a:r>
              <a:rPr lang="en-US" sz="1400" dirty="0"/>
              <a:t> </a:t>
            </a:r>
            <a:r>
              <a:rPr lang="en-US" sz="1400" dirty="0" err="1"/>
              <a:t>pertama</a:t>
            </a:r>
            <a:r>
              <a:rPr lang="en-US" sz="1400" dirty="0"/>
              <a:t> </a:t>
            </a:r>
            <a:r>
              <a:rPr lang="en-US" sz="1400" dirty="0" err="1"/>
              <a:t>muncul</a:t>
            </a:r>
            <a:r>
              <a:rPr lang="en-US" sz="1400" dirty="0"/>
              <a:t>, </a:t>
            </a:r>
            <a:r>
              <a:rPr lang="en-US" sz="1400" dirty="0" err="1"/>
              <a:t>berbagai</a:t>
            </a:r>
            <a:r>
              <a:rPr lang="en-US" sz="1400" dirty="0"/>
              <a:t> </a:t>
            </a:r>
            <a:r>
              <a:rPr lang="en-US" sz="1400" dirty="0" err="1"/>
              <a:t>bentuk</a:t>
            </a:r>
            <a:r>
              <a:rPr lang="en-US" sz="1400" dirty="0"/>
              <a:t> </a:t>
            </a:r>
            <a:r>
              <a:rPr lang="en-US" sz="1400" dirty="0" err="1"/>
              <a:t>uniseluler</a:t>
            </a:r>
            <a:r>
              <a:rPr lang="en-US" sz="1400" dirty="0"/>
              <a:t> </a:t>
            </a:r>
            <a:r>
              <a:rPr lang="en-US" sz="1400" dirty="0" err="1"/>
              <a:t>berevolusi</a:t>
            </a:r>
            <a:r>
              <a:rPr lang="en-US" sz="1400" dirty="0"/>
              <a:t>, </a:t>
            </a:r>
            <a:r>
              <a:rPr lang="en-US" sz="1400" dirty="0" err="1"/>
              <a:t>menghasilkan</a:t>
            </a:r>
            <a:r>
              <a:rPr lang="en-US" sz="1400" dirty="0"/>
              <a:t> </a:t>
            </a:r>
            <a:r>
              <a:rPr lang="en-US" sz="1400" dirty="0" err="1"/>
              <a:t>keanekaragaman</a:t>
            </a:r>
            <a:r>
              <a:rPr lang="en-US" sz="1400" dirty="0"/>
              <a:t> </a:t>
            </a:r>
            <a:r>
              <a:rPr lang="en-US" sz="1400" dirty="0" err="1"/>
              <a:t>eukariota</a:t>
            </a:r>
            <a:r>
              <a:rPr lang="en-US" sz="1400" dirty="0"/>
              <a:t> </a:t>
            </a:r>
            <a:r>
              <a:rPr lang="en-US" sz="1400" dirty="0" err="1"/>
              <a:t>bersel</a:t>
            </a:r>
            <a:r>
              <a:rPr lang="en-US" sz="1400" dirty="0"/>
              <a:t> </a:t>
            </a:r>
            <a:r>
              <a:rPr lang="en-US" sz="1400" dirty="0" err="1"/>
              <a:t>tunggal</a:t>
            </a:r>
            <a:r>
              <a:rPr lang="en-US" sz="1400" dirty="0"/>
              <a:t> yang </a:t>
            </a:r>
            <a:r>
              <a:rPr lang="en-US" sz="1400" dirty="0" err="1"/>
              <a:t>terus</a:t>
            </a:r>
            <a:r>
              <a:rPr lang="en-US" sz="1400" dirty="0"/>
              <a:t> </a:t>
            </a:r>
            <a:r>
              <a:rPr lang="en-US" sz="1400" dirty="0" err="1"/>
              <a:t>berkembang</a:t>
            </a:r>
            <a:r>
              <a:rPr lang="en-US" sz="1400" dirty="0"/>
              <a:t> </a:t>
            </a:r>
            <a:r>
              <a:rPr lang="en-US" sz="1400" dirty="0" err="1"/>
              <a:t>hingga</a:t>
            </a:r>
            <a:r>
              <a:rPr lang="en-US" sz="1400" dirty="0"/>
              <a:t> </a:t>
            </a:r>
            <a:r>
              <a:rPr lang="en-US" sz="1400" dirty="0" err="1"/>
              <a:t>saat</a:t>
            </a:r>
            <a:r>
              <a:rPr lang="en-US" sz="1400" dirty="0"/>
              <a:t> </a:t>
            </a:r>
            <a:r>
              <a:rPr lang="en-US" sz="1400" dirty="0" err="1"/>
              <a:t>ini</a:t>
            </a:r>
            <a:r>
              <a:rPr lang="en-US" sz="1400" dirty="0"/>
              <a:t>.</a:t>
            </a:r>
          </a:p>
          <a:p>
            <a:pPr algn="just"/>
            <a:endParaRPr lang="en-US" sz="1400" dirty="0"/>
          </a:p>
          <a:p>
            <a:pPr algn="just"/>
            <a:r>
              <a:rPr lang="en-US" sz="1400" dirty="0" err="1"/>
              <a:t>Beberapa</a:t>
            </a:r>
            <a:r>
              <a:rPr lang="en-US" sz="1400" dirty="0"/>
              <a:t> </a:t>
            </a:r>
            <a:r>
              <a:rPr lang="en-US" sz="1400" dirty="0" err="1"/>
              <a:t>eukariota</a:t>
            </a:r>
            <a:r>
              <a:rPr lang="en-US" sz="1400" dirty="0"/>
              <a:t> </a:t>
            </a:r>
            <a:r>
              <a:rPr lang="en-US" sz="1400" dirty="0" err="1"/>
              <a:t>bersel</a:t>
            </a:r>
            <a:r>
              <a:rPr lang="en-US" sz="1400" dirty="0"/>
              <a:t> </a:t>
            </a:r>
            <a:r>
              <a:rPr lang="en-US" sz="1400" dirty="0" err="1"/>
              <a:t>tunggal</a:t>
            </a:r>
            <a:r>
              <a:rPr lang="en-US" sz="1400" dirty="0"/>
              <a:t> </a:t>
            </a:r>
            <a:r>
              <a:rPr lang="en-US" sz="1400" dirty="0" err="1"/>
              <a:t>menghasilkan</a:t>
            </a:r>
            <a:r>
              <a:rPr lang="en-US" sz="1400" dirty="0"/>
              <a:t> </a:t>
            </a:r>
            <a:r>
              <a:rPr lang="en-US" sz="1400" dirty="0" err="1"/>
              <a:t>bentuk</a:t>
            </a:r>
            <a:r>
              <a:rPr lang="en-US" sz="1400" dirty="0"/>
              <a:t> </a:t>
            </a:r>
            <a:r>
              <a:rPr lang="en-US" sz="1400" dirty="0" err="1"/>
              <a:t>multiseluler</a:t>
            </a:r>
            <a:r>
              <a:rPr lang="en-US" sz="1400" dirty="0"/>
              <a:t>, yang </a:t>
            </a:r>
            <a:r>
              <a:rPr lang="en-US" sz="1400" dirty="0" err="1"/>
              <a:t>keturunannya</a:t>
            </a:r>
            <a:r>
              <a:rPr lang="en-US" sz="1400" dirty="0"/>
              <a:t> </a:t>
            </a:r>
            <a:r>
              <a:rPr lang="en-US" sz="1400" dirty="0" err="1"/>
              <a:t>meliputi</a:t>
            </a:r>
            <a:r>
              <a:rPr lang="en-US" sz="1400" dirty="0"/>
              <a:t> </a:t>
            </a:r>
            <a:r>
              <a:rPr lang="en-US" sz="1400" dirty="0" err="1"/>
              <a:t>berbagai</a:t>
            </a:r>
            <a:r>
              <a:rPr lang="en-US" sz="1400" dirty="0"/>
              <a:t> alga, </a:t>
            </a:r>
            <a:r>
              <a:rPr lang="en-US" sz="1400" dirty="0" err="1"/>
              <a:t>tumbuhan</a:t>
            </a:r>
            <a:r>
              <a:rPr lang="en-US" sz="1400" dirty="0"/>
              <a:t>, </a:t>
            </a:r>
            <a:r>
              <a:rPr lang="en-US" sz="1400" dirty="0" err="1"/>
              <a:t>jamur</a:t>
            </a:r>
            <a:r>
              <a:rPr lang="en-US" sz="1400" dirty="0"/>
              <a:t>, dan </a:t>
            </a:r>
            <a:r>
              <a:rPr lang="en-US" sz="1400" dirty="0" err="1"/>
              <a:t>hewan</a:t>
            </a:r>
            <a:r>
              <a:rPr lang="en-US" sz="1400" dirty="0"/>
              <a:t>. </a:t>
            </a:r>
            <a:r>
              <a:rPr lang="en-US" sz="1400" dirty="0" err="1"/>
              <a:t>Eukariota</a:t>
            </a:r>
            <a:r>
              <a:rPr lang="en-US" sz="1400" dirty="0"/>
              <a:t> </a:t>
            </a:r>
            <a:r>
              <a:rPr lang="en-US" sz="1400" dirty="0" err="1"/>
              <a:t>multiseluler</a:t>
            </a:r>
            <a:r>
              <a:rPr lang="en-US" sz="1400" dirty="0"/>
              <a:t> yang </a:t>
            </a:r>
            <a:r>
              <a:rPr lang="en-US" sz="1400" dirty="0" err="1"/>
              <a:t>lebih</a:t>
            </a:r>
            <a:r>
              <a:rPr lang="en-US" sz="1400" dirty="0"/>
              <a:t> </a:t>
            </a:r>
            <a:r>
              <a:rPr lang="en-US" sz="1400" dirty="0" err="1"/>
              <a:t>besar</a:t>
            </a:r>
            <a:r>
              <a:rPr lang="en-US" sz="1400" dirty="0"/>
              <a:t> dan </a:t>
            </a:r>
            <a:r>
              <a:rPr lang="en-US" sz="1400" dirty="0" err="1"/>
              <a:t>lebih</a:t>
            </a:r>
            <a:r>
              <a:rPr lang="en-US" sz="1400" dirty="0"/>
              <a:t> </a:t>
            </a:r>
            <a:r>
              <a:rPr lang="en-US" sz="1400" dirty="0" err="1"/>
              <a:t>beragam</a:t>
            </a:r>
            <a:r>
              <a:rPr lang="en-US" sz="1400" dirty="0"/>
              <a:t> </a:t>
            </a:r>
            <a:r>
              <a:rPr lang="en-US" sz="1400" dirty="0" err="1"/>
              <a:t>tidak</a:t>
            </a:r>
            <a:r>
              <a:rPr lang="en-US" sz="1400" dirty="0"/>
              <a:t> </a:t>
            </a:r>
            <a:r>
              <a:rPr lang="en-US" sz="1400" dirty="0" err="1"/>
              <a:t>muncul</a:t>
            </a:r>
            <a:r>
              <a:rPr lang="en-US" sz="1400" dirty="0"/>
              <a:t> </a:t>
            </a:r>
            <a:r>
              <a:rPr lang="en-US" sz="1400" dirty="0" err="1"/>
              <a:t>dalam</a:t>
            </a:r>
            <a:r>
              <a:rPr lang="en-US" sz="1400" dirty="0"/>
              <a:t> </a:t>
            </a:r>
            <a:r>
              <a:rPr lang="en-US" sz="1400" dirty="0" err="1"/>
              <a:t>catatan</a:t>
            </a:r>
            <a:r>
              <a:rPr lang="en-US" sz="1400" dirty="0"/>
              <a:t> </a:t>
            </a:r>
            <a:r>
              <a:rPr lang="en-US" sz="1400" dirty="0" err="1"/>
              <a:t>fosil</a:t>
            </a:r>
            <a:r>
              <a:rPr lang="en-US" sz="1400" dirty="0"/>
              <a:t> </a:t>
            </a:r>
            <a:r>
              <a:rPr lang="en-US" sz="1400" dirty="0" err="1"/>
              <a:t>hingga</a:t>
            </a:r>
            <a:r>
              <a:rPr lang="en-US" sz="1400" dirty="0"/>
              <a:t> </a:t>
            </a:r>
            <a:r>
              <a:rPr lang="en-US" sz="1400" dirty="0" err="1"/>
              <a:t>sekitar</a:t>
            </a:r>
            <a:r>
              <a:rPr lang="en-US" sz="1400" dirty="0"/>
              <a:t> 600 </a:t>
            </a:r>
            <a:r>
              <a:rPr lang="en-US" sz="1400" dirty="0" err="1"/>
              <a:t>juta</a:t>
            </a:r>
            <a:r>
              <a:rPr lang="en-US" sz="1400" dirty="0"/>
              <a:t> </a:t>
            </a:r>
            <a:r>
              <a:rPr lang="en-US" sz="1400" dirty="0" err="1"/>
              <a:t>tahun</a:t>
            </a:r>
            <a:r>
              <a:rPr lang="en-US" sz="1400" dirty="0"/>
              <a:t> yang </a:t>
            </a:r>
            <a:r>
              <a:rPr lang="en-US" sz="1400" dirty="0" err="1"/>
              <a:t>lalu</a:t>
            </a:r>
            <a:r>
              <a:rPr lang="en-US" sz="1400" dirty="0"/>
              <a:t>.</a:t>
            </a:r>
            <a:endParaRPr lang="en-US" sz="9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38D6C03-9710-B27D-DF1D-A5D22770B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8250" y="875489"/>
            <a:ext cx="9618662" cy="642026"/>
          </a:xfrm>
        </p:spPr>
        <p:txBody>
          <a:bodyPr/>
          <a:lstStyle/>
          <a:p>
            <a:r>
              <a:rPr lang="en-AU" sz="2800" b="1" dirty="0"/>
              <a:t>Sejarah </a:t>
            </a:r>
            <a:r>
              <a:rPr lang="en-AU" sz="2800" b="1" dirty="0" err="1"/>
              <a:t>Kehidupan</a:t>
            </a:r>
            <a:r>
              <a:rPr lang="en-AU" sz="2800" b="1" dirty="0"/>
              <a:t> di Bumi</a:t>
            </a:r>
            <a:endParaRPr lang="en-HK" sz="2800" b="1" dirty="0"/>
          </a:p>
        </p:txBody>
      </p:sp>
    </p:spTree>
    <p:extLst>
      <p:ext uri="{BB962C8B-B14F-4D97-AF65-F5344CB8AC3E}">
        <p14:creationId xmlns:p14="http://schemas.microsoft.com/office/powerpoint/2010/main" val="41272167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6">
            <a:extLst>
              <a:ext uri="{FF2B5EF4-FFF2-40B4-BE49-F238E27FC236}">
                <a16:creationId xmlns:a16="http://schemas.microsoft.com/office/drawing/2014/main" id="{8ABA6F95-747B-4FDF-946A-24A16ECC570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343525" y="37814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HK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8E48A72-B5CD-4DD4-9D0A-49D69FB1A2EB}"/>
              </a:ext>
            </a:extLst>
          </p:cNvPr>
          <p:cNvSpPr/>
          <p:nvPr/>
        </p:nvSpPr>
        <p:spPr>
          <a:xfrm>
            <a:off x="3243373" y="1806670"/>
            <a:ext cx="7183862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HK" sz="2000" dirty="0"/>
              <a:t>Banyak filum </a:t>
            </a:r>
            <a:r>
              <a:rPr lang="en-HK" sz="2000" dirty="0" err="1"/>
              <a:t>hewan</a:t>
            </a:r>
            <a:r>
              <a:rPr lang="en-HK" sz="2000" dirty="0"/>
              <a:t> masa </a:t>
            </a:r>
            <a:r>
              <a:rPr lang="en-HK" sz="2000" dirty="0" err="1"/>
              <a:t>kini</a:t>
            </a:r>
            <a:r>
              <a:rPr lang="en-HK" sz="2000" dirty="0"/>
              <a:t> </a:t>
            </a:r>
            <a:r>
              <a:rPr lang="en-HK" sz="2000" dirty="0" err="1"/>
              <a:t>tiba-tiba</a:t>
            </a:r>
            <a:r>
              <a:rPr lang="en-HK" sz="2000" dirty="0"/>
              <a:t> </a:t>
            </a:r>
            <a:r>
              <a:rPr lang="en-HK" sz="2000" dirty="0" err="1"/>
              <a:t>muncul</a:t>
            </a:r>
            <a:r>
              <a:rPr lang="en-HK" sz="2000" dirty="0"/>
              <a:t> </a:t>
            </a:r>
            <a:r>
              <a:rPr lang="en-HK" sz="2000" dirty="0" err="1"/>
              <a:t>dalam</a:t>
            </a:r>
            <a:r>
              <a:rPr lang="en-HK" sz="2000" dirty="0"/>
              <a:t> </a:t>
            </a:r>
            <a:r>
              <a:rPr lang="en-HK" sz="2000" dirty="0" err="1"/>
              <a:t>fosil</a:t>
            </a:r>
            <a:r>
              <a:rPr lang="en-HK" sz="2000" dirty="0"/>
              <a:t> yang </a:t>
            </a:r>
            <a:r>
              <a:rPr lang="en-HK" sz="2000" dirty="0" err="1"/>
              <a:t>terbentuk</a:t>
            </a:r>
            <a:r>
              <a:rPr lang="en-HK" sz="2000" dirty="0"/>
              <a:t> 535–525 </a:t>
            </a:r>
            <a:r>
              <a:rPr lang="en-HK" sz="2000" dirty="0" err="1"/>
              <a:t>juta</a:t>
            </a:r>
            <a:r>
              <a:rPr lang="en-HK" sz="2000" dirty="0"/>
              <a:t> </a:t>
            </a:r>
            <a:r>
              <a:rPr lang="en-HK" sz="2000" dirty="0" err="1"/>
              <a:t>tahun</a:t>
            </a:r>
            <a:r>
              <a:rPr lang="en-HK" sz="2000" dirty="0"/>
              <a:t> yang </a:t>
            </a:r>
            <a:r>
              <a:rPr lang="en-HK" sz="2000" dirty="0" err="1"/>
              <a:t>lalu</a:t>
            </a:r>
            <a:r>
              <a:rPr lang="en-HK" sz="2000" dirty="0"/>
              <a:t>, pada </a:t>
            </a:r>
            <a:r>
              <a:rPr lang="en-HK" sz="2000" dirty="0" err="1"/>
              <a:t>awal</a:t>
            </a:r>
            <a:r>
              <a:rPr lang="en-HK" sz="2000" dirty="0"/>
              <a:t> </a:t>
            </a:r>
            <a:r>
              <a:rPr lang="en-HK" sz="2000" dirty="0" err="1"/>
              <a:t>periode</a:t>
            </a:r>
            <a:r>
              <a:rPr lang="en-HK" sz="2000" dirty="0"/>
              <a:t> </a:t>
            </a:r>
            <a:r>
              <a:rPr lang="en-HK" sz="2000" dirty="0" err="1"/>
              <a:t>Kambrium</a:t>
            </a:r>
            <a:r>
              <a:rPr lang="en-HK" sz="2000" dirty="0"/>
              <a:t>. </a:t>
            </a:r>
            <a:r>
              <a:rPr lang="en-HK" sz="2000" dirty="0" err="1"/>
              <a:t>Fenomena</a:t>
            </a:r>
            <a:r>
              <a:rPr lang="en-HK" sz="2000" dirty="0"/>
              <a:t> </a:t>
            </a:r>
            <a:r>
              <a:rPr lang="en-HK" sz="2000" dirty="0" err="1"/>
              <a:t>ini</a:t>
            </a:r>
            <a:r>
              <a:rPr lang="en-HK" sz="2000" dirty="0"/>
              <a:t> </a:t>
            </a:r>
            <a:r>
              <a:rPr lang="en-HK" sz="2000" dirty="0" err="1"/>
              <a:t>disebut</a:t>
            </a:r>
            <a:r>
              <a:rPr lang="en-HK" sz="2000" dirty="0"/>
              <a:t> </a:t>
            </a:r>
            <a:r>
              <a:rPr lang="en-HK" sz="2000" dirty="0" err="1"/>
              <a:t>sebagai</a:t>
            </a:r>
            <a:r>
              <a:rPr lang="en-HK" sz="2000" dirty="0"/>
              <a:t> </a:t>
            </a:r>
            <a:r>
              <a:rPr lang="en-HK" sz="2000" dirty="0" err="1"/>
              <a:t>ledakan</a:t>
            </a:r>
            <a:r>
              <a:rPr lang="en-HK" sz="2000" dirty="0"/>
              <a:t> </a:t>
            </a:r>
            <a:r>
              <a:rPr lang="en-HK" sz="2000" dirty="0" err="1"/>
              <a:t>Kambrium</a:t>
            </a:r>
            <a:r>
              <a:rPr lang="en-HK" sz="2000" dirty="0"/>
              <a:t>. </a:t>
            </a:r>
            <a:r>
              <a:rPr lang="en-HK" sz="2000" dirty="0" err="1"/>
              <a:t>Fosil</a:t>
            </a:r>
            <a:r>
              <a:rPr lang="en-HK" sz="2000" dirty="0"/>
              <a:t> </a:t>
            </a:r>
            <a:r>
              <a:rPr lang="en-HK" sz="2000" dirty="0" err="1"/>
              <a:t>dari</a:t>
            </a:r>
            <a:r>
              <a:rPr lang="en-HK" sz="2000" dirty="0"/>
              <a:t> </a:t>
            </a:r>
            <a:r>
              <a:rPr lang="en-HK" sz="2000" dirty="0" err="1"/>
              <a:t>beberapa</a:t>
            </a:r>
            <a:r>
              <a:rPr lang="en-HK" sz="2000" dirty="0"/>
              <a:t> </a:t>
            </a:r>
            <a:r>
              <a:rPr lang="en-HK" sz="2000" dirty="0" err="1"/>
              <a:t>kelompok</a:t>
            </a:r>
            <a:r>
              <a:rPr lang="en-HK" sz="2000" dirty="0"/>
              <a:t> </a:t>
            </a:r>
            <a:r>
              <a:rPr lang="en-HK" sz="2000" dirty="0" err="1"/>
              <a:t>hewan</a:t>
            </a:r>
            <a:r>
              <a:rPr lang="en-HK" sz="2000" dirty="0"/>
              <a:t>—</a:t>
            </a:r>
            <a:r>
              <a:rPr lang="en-HK" sz="2000" dirty="0" err="1"/>
              <a:t>spons</a:t>
            </a:r>
            <a:r>
              <a:rPr lang="en-HK" sz="2000" dirty="0"/>
              <a:t>, cnidaria (</a:t>
            </a:r>
            <a:r>
              <a:rPr lang="en-HK" sz="2000" dirty="0" err="1"/>
              <a:t>anemon</a:t>
            </a:r>
            <a:r>
              <a:rPr lang="en-HK" sz="2000" dirty="0"/>
              <a:t> </a:t>
            </a:r>
            <a:r>
              <a:rPr lang="en-HK" sz="2000" dirty="0" err="1"/>
              <a:t>laut</a:t>
            </a:r>
            <a:r>
              <a:rPr lang="en-HK" sz="2000" dirty="0"/>
              <a:t> dan </a:t>
            </a:r>
            <a:r>
              <a:rPr lang="en-HK" sz="2000" dirty="0" err="1"/>
              <a:t>kerabatnya</a:t>
            </a:r>
            <a:r>
              <a:rPr lang="en-HK" sz="2000" dirty="0"/>
              <a:t>), dan </a:t>
            </a:r>
            <a:r>
              <a:rPr lang="en-HK" sz="2000" dirty="0" err="1"/>
              <a:t>moluska</a:t>
            </a:r>
            <a:r>
              <a:rPr lang="en-HK" sz="2000" dirty="0"/>
              <a:t> (</a:t>
            </a:r>
            <a:r>
              <a:rPr lang="en-HK" sz="2000" dirty="0" err="1"/>
              <a:t>siput</a:t>
            </a:r>
            <a:r>
              <a:rPr lang="en-HK" sz="2000" dirty="0"/>
              <a:t>, </a:t>
            </a:r>
            <a:r>
              <a:rPr lang="en-HK" sz="2000" dirty="0" err="1"/>
              <a:t>kerang</a:t>
            </a:r>
            <a:r>
              <a:rPr lang="en-HK" sz="2000" dirty="0"/>
              <a:t>, dan </a:t>
            </a:r>
            <a:r>
              <a:rPr lang="en-HK" sz="2000" dirty="0" err="1"/>
              <a:t>kerabatnya</a:t>
            </a:r>
            <a:r>
              <a:rPr lang="en-HK" sz="2000" dirty="0"/>
              <a:t>)—</a:t>
            </a:r>
            <a:r>
              <a:rPr lang="en-HK" sz="2000" dirty="0" err="1"/>
              <a:t>muncul</a:t>
            </a:r>
            <a:r>
              <a:rPr lang="en-HK" sz="2000" dirty="0"/>
              <a:t> </a:t>
            </a:r>
            <a:r>
              <a:rPr lang="en-HK" sz="2000" dirty="0" err="1"/>
              <a:t>dalam</a:t>
            </a:r>
            <a:r>
              <a:rPr lang="en-HK" sz="2000" dirty="0"/>
              <a:t> </a:t>
            </a:r>
            <a:r>
              <a:rPr lang="en-HK" sz="2000" dirty="0" err="1"/>
              <a:t>batuan</a:t>
            </a:r>
            <a:r>
              <a:rPr lang="en-HK" sz="2000" dirty="0"/>
              <a:t> yang </a:t>
            </a:r>
            <a:r>
              <a:rPr lang="en-HK" sz="2000" dirty="0" err="1"/>
              <a:t>bahkan</a:t>
            </a:r>
            <a:r>
              <a:rPr lang="en-HK" sz="2000" dirty="0"/>
              <a:t> </a:t>
            </a:r>
            <a:r>
              <a:rPr lang="en-HK" sz="2000" dirty="0" err="1"/>
              <a:t>lebih</a:t>
            </a:r>
            <a:r>
              <a:rPr lang="en-HK" sz="2000" dirty="0"/>
              <a:t> </a:t>
            </a:r>
            <a:r>
              <a:rPr lang="en-HK" sz="2000" dirty="0" err="1"/>
              <a:t>tua</a:t>
            </a:r>
            <a:r>
              <a:rPr lang="en-HK" sz="2000" dirty="0"/>
              <a:t> yang </a:t>
            </a:r>
            <a:r>
              <a:rPr lang="en-HK" sz="2000" dirty="0" err="1"/>
              <a:t>berasal</a:t>
            </a:r>
            <a:r>
              <a:rPr lang="en-HK" sz="2000" dirty="0"/>
              <a:t> </a:t>
            </a:r>
            <a:r>
              <a:rPr lang="en-HK" sz="2000" dirty="0" err="1"/>
              <a:t>dari</a:t>
            </a:r>
            <a:r>
              <a:rPr lang="en-HK" sz="2000" dirty="0"/>
              <a:t> </a:t>
            </a:r>
            <a:r>
              <a:rPr lang="en-HK" sz="2000" dirty="0" err="1"/>
              <a:t>akhir</a:t>
            </a:r>
            <a:r>
              <a:rPr lang="en-HK" sz="2000" dirty="0"/>
              <a:t> </a:t>
            </a:r>
            <a:r>
              <a:rPr lang="en-HK" sz="2000" dirty="0" err="1"/>
              <a:t>Proterozoikum</a:t>
            </a:r>
            <a:r>
              <a:rPr lang="en-HK" sz="2000" dirty="0"/>
              <a:t>.</a:t>
            </a:r>
            <a:endParaRPr lang="en-US" sz="11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D36C0F-31C8-4F61-80D5-6392BAC19ACF}"/>
              </a:ext>
            </a:extLst>
          </p:cNvPr>
          <p:cNvSpPr/>
          <p:nvPr/>
        </p:nvSpPr>
        <p:spPr>
          <a:xfrm>
            <a:off x="1075900" y="1413024"/>
            <a:ext cx="2794355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HK" dirty="0"/>
              <a:t>The Cambrian Explosion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B2CAB6-1224-4D22-AFE1-343B6EAF4E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900" y="2255254"/>
            <a:ext cx="1910098" cy="16785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F0867D0-9D36-412B-9336-8411D20FF9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800" y="4259561"/>
            <a:ext cx="2605495" cy="260549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861B5F7-620C-4D46-A70B-0CACF368FCCF}"/>
              </a:ext>
            </a:extLst>
          </p:cNvPr>
          <p:cNvSpPr/>
          <p:nvPr/>
        </p:nvSpPr>
        <p:spPr>
          <a:xfrm>
            <a:off x="4795295" y="4131146"/>
            <a:ext cx="3285589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800" i="1" dirty="0" err="1"/>
              <a:t>Secara</a:t>
            </a:r>
            <a:r>
              <a:rPr lang="en-US" sz="1800" i="1" dirty="0"/>
              <a:t> </a:t>
            </a:r>
            <a:r>
              <a:rPr lang="en-US" sz="1800" i="1" dirty="0" err="1"/>
              <a:t>keseluruhan</a:t>
            </a:r>
            <a:r>
              <a:rPr lang="en-US" sz="1800" i="1" dirty="0"/>
              <a:t>, </a:t>
            </a:r>
            <a:r>
              <a:rPr lang="en-US" sz="1800" i="1" dirty="0" err="1"/>
              <a:t>fosil</a:t>
            </a:r>
            <a:r>
              <a:rPr lang="en-US" sz="1800" i="1" dirty="0"/>
              <a:t> dan </a:t>
            </a:r>
            <a:r>
              <a:rPr lang="en-US" sz="1800" i="1" dirty="0" err="1"/>
              <a:t>analisis</a:t>
            </a:r>
            <a:r>
              <a:rPr lang="en-US" sz="1800" i="1" dirty="0"/>
              <a:t> DNA </a:t>
            </a:r>
            <a:r>
              <a:rPr lang="en-US" sz="1800" i="1" dirty="0" err="1"/>
              <a:t>menunjukkan</a:t>
            </a:r>
            <a:r>
              <a:rPr lang="en-US" sz="1800" i="1" dirty="0"/>
              <a:t> </a:t>
            </a:r>
            <a:r>
              <a:rPr lang="en-US" sz="1800" i="1" dirty="0" err="1"/>
              <a:t>bahwa</a:t>
            </a:r>
            <a:r>
              <a:rPr lang="en-US" sz="1800" i="1" dirty="0"/>
              <a:t> </a:t>
            </a:r>
            <a:r>
              <a:rPr lang="en-US" sz="1800" i="1" dirty="0" err="1"/>
              <a:t>hewan</a:t>
            </a:r>
            <a:r>
              <a:rPr lang="en-US" sz="1800" i="1" dirty="0"/>
              <a:t> </a:t>
            </a:r>
            <a:r>
              <a:rPr lang="en-US" sz="1800" i="1" dirty="0" err="1"/>
              <a:t>berasal</a:t>
            </a:r>
            <a:r>
              <a:rPr lang="en-US" sz="1800" i="1" dirty="0"/>
              <a:t> </a:t>
            </a:r>
            <a:r>
              <a:rPr lang="en-US" sz="1800" i="1" dirty="0" err="1"/>
              <a:t>sekitar</a:t>
            </a:r>
            <a:r>
              <a:rPr lang="en-US" sz="1800" i="1" dirty="0"/>
              <a:t> 700 </a:t>
            </a:r>
            <a:r>
              <a:rPr lang="en-US" sz="1800" i="1" dirty="0" err="1"/>
              <a:t>juta</a:t>
            </a:r>
            <a:r>
              <a:rPr lang="en-US" sz="1800" i="1" dirty="0"/>
              <a:t> </a:t>
            </a:r>
            <a:r>
              <a:rPr lang="en-US" sz="1800" i="1" dirty="0" err="1"/>
              <a:t>tahun</a:t>
            </a:r>
            <a:r>
              <a:rPr lang="en-US" sz="1800" i="1" dirty="0"/>
              <a:t> yang </a:t>
            </a:r>
            <a:r>
              <a:rPr lang="en-US" sz="1800" i="1" dirty="0" err="1"/>
              <a:t>lalu</a:t>
            </a:r>
            <a:r>
              <a:rPr lang="en-US" sz="1800" i="1" dirty="0"/>
              <a:t> dan </a:t>
            </a:r>
            <a:r>
              <a:rPr lang="en-US" sz="1800" i="1" dirty="0" err="1"/>
              <a:t>kemudian</a:t>
            </a:r>
            <a:r>
              <a:rPr lang="en-US" sz="1800" i="1" dirty="0"/>
              <a:t> </a:t>
            </a:r>
            <a:r>
              <a:rPr lang="en-US" sz="1800" i="1" dirty="0" err="1"/>
              <a:t>tetap</a:t>
            </a:r>
            <a:r>
              <a:rPr lang="en-US" sz="1800" i="1" dirty="0"/>
              <a:t> </a:t>
            </a:r>
            <a:r>
              <a:rPr lang="en-US" sz="1800" i="1" dirty="0" err="1"/>
              <a:t>berukuran</a:t>
            </a:r>
            <a:r>
              <a:rPr lang="en-US" sz="1800" i="1" dirty="0"/>
              <a:t> </a:t>
            </a:r>
            <a:r>
              <a:rPr lang="en-US" sz="1800" i="1" dirty="0" err="1"/>
              <a:t>kecil</a:t>
            </a:r>
            <a:r>
              <a:rPr lang="en-US" sz="1800" i="1" dirty="0"/>
              <a:t> </a:t>
            </a:r>
            <a:r>
              <a:rPr lang="en-US" sz="1800" i="1" dirty="0" err="1"/>
              <a:t>selama</a:t>
            </a:r>
            <a:r>
              <a:rPr lang="en-US" sz="1800" i="1" dirty="0"/>
              <a:t> </a:t>
            </a:r>
            <a:r>
              <a:rPr lang="en-US" sz="1800" i="1" dirty="0" err="1"/>
              <a:t>lebih</a:t>
            </a:r>
            <a:r>
              <a:rPr lang="en-US" sz="1800" i="1" dirty="0"/>
              <a:t> </a:t>
            </a:r>
            <a:r>
              <a:rPr lang="en-US" sz="1800" i="1" dirty="0" err="1"/>
              <a:t>dari</a:t>
            </a:r>
            <a:r>
              <a:rPr lang="en-US" sz="1800" i="1" dirty="0"/>
              <a:t> 100 </a:t>
            </a:r>
            <a:r>
              <a:rPr lang="en-US" sz="1800" i="1" dirty="0" err="1"/>
              <a:t>juta</a:t>
            </a:r>
            <a:r>
              <a:rPr lang="en-US" sz="1800" i="1" dirty="0"/>
              <a:t> </a:t>
            </a:r>
            <a:r>
              <a:rPr lang="en-US" sz="1800" i="1" dirty="0" err="1"/>
              <a:t>tahun</a:t>
            </a:r>
            <a:r>
              <a:rPr lang="en-US" sz="1800" i="1" dirty="0"/>
              <a:t>—</a:t>
            </a:r>
            <a:r>
              <a:rPr lang="en-US" sz="1800" i="1" dirty="0" err="1"/>
              <a:t>hingga</a:t>
            </a:r>
            <a:r>
              <a:rPr lang="en-US" sz="1800" i="1" dirty="0"/>
              <a:t> </a:t>
            </a:r>
            <a:r>
              <a:rPr lang="en-US" sz="1800" i="1" dirty="0" err="1"/>
              <a:t>mereka</a:t>
            </a:r>
            <a:r>
              <a:rPr lang="en-US" sz="1800" i="1" dirty="0"/>
              <a:t> </a:t>
            </a:r>
            <a:r>
              <a:rPr lang="en-US" sz="1800" i="1" dirty="0" err="1"/>
              <a:t>mengalami</a:t>
            </a:r>
            <a:r>
              <a:rPr lang="en-US" sz="1800" i="1" dirty="0"/>
              <a:t> </a:t>
            </a:r>
            <a:r>
              <a:rPr lang="en-US" sz="1800" i="1" dirty="0" err="1"/>
              <a:t>diversifikasi</a:t>
            </a:r>
            <a:r>
              <a:rPr lang="en-US" sz="1800" i="1" dirty="0"/>
              <a:t> </a:t>
            </a:r>
            <a:r>
              <a:rPr lang="en-US" sz="1800" i="1" dirty="0" err="1"/>
              <a:t>secara</a:t>
            </a:r>
            <a:r>
              <a:rPr lang="en-US" sz="1800" i="1" dirty="0"/>
              <a:t> </a:t>
            </a:r>
            <a:r>
              <a:rPr lang="en-US" sz="1800" i="1" dirty="0" err="1"/>
              <a:t>eksplosif</a:t>
            </a:r>
            <a:r>
              <a:rPr lang="en-US" sz="1800" i="1" dirty="0"/>
              <a:t> </a:t>
            </a:r>
            <a:r>
              <a:rPr lang="en-US" sz="1800" i="1" dirty="0" err="1"/>
              <a:t>selama</a:t>
            </a:r>
            <a:r>
              <a:rPr lang="en-US" sz="1800" i="1" dirty="0"/>
              <a:t> </a:t>
            </a:r>
            <a:r>
              <a:rPr lang="en-US" sz="1800" i="1" dirty="0" err="1"/>
              <a:t>periode</a:t>
            </a:r>
            <a:r>
              <a:rPr lang="en-US" sz="1800" i="1" dirty="0"/>
              <a:t> </a:t>
            </a:r>
            <a:r>
              <a:rPr lang="en-US" sz="1800" i="1" dirty="0" err="1"/>
              <a:t>Kambrium</a:t>
            </a:r>
            <a:r>
              <a:rPr lang="en-US" sz="1800" i="1" dirty="0"/>
              <a:t> dan </a:t>
            </a:r>
            <a:r>
              <a:rPr lang="en-US" sz="1800" i="1" dirty="0" err="1"/>
              <a:t>seterusnya</a:t>
            </a:r>
            <a:r>
              <a:rPr lang="en-US" sz="1800" i="1" dirty="0"/>
              <a:t>.</a:t>
            </a:r>
            <a:endParaRPr lang="en-HK" sz="1800" i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A384CE3-8B43-434A-9937-F227E751BE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3884" y="4762878"/>
            <a:ext cx="1838003" cy="1598858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15D5CD5A-E90C-87F7-2870-03343BC65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8250" y="875489"/>
            <a:ext cx="9618662" cy="642026"/>
          </a:xfrm>
        </p:spPr>
        <p:txBody>
          <a:bodyPr/>
          <a:lstStyle/>
          <a:p>
            <a:r>
              <a:rPr lang="en-AU" sz="2800" b="1" dirty="0"/>
              <a:t>Sejarah </a:t>
            </a:r>
            <a:r>
              <a:rPr lang="en-AU" sz="2800" b="1" dirty="0" err="1"/>
              <a:t>Kehidupan</a:t>
            </a:r>
            <a:r>
              <a:rPr lang="en-AU" sz="2800" b="1" dirty="0"/>
              <a:t> di Bumi</a:t>
            </a:r>
            <a:endParaRPr lang="en-HK" sz="2800" b="1" dirty="0"/>
          </a:p>
        </p:txBody>
      </p:sp>
    </p:spTree>
    <p:extLst>
      <p:ext uri="{BB962C8B-B14F-4D97-AF65-F5344CB8AC3E}">
        <p14:creationId xmlns:p14="http://schemas.microsoft.com/office/powerpoint/2010/main" val="23063494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8250" y="875489"/>
            <a:ext cx="9618662" cy="642026"/>
          </a:xfrm>
        </p:spPr>
        <p:txBody>
          <a:bodyPr/>
          <a:lstStyle/>
          <a:p>
            <a:r>
              <a:rPr lang="en-AU" sz="2800" dirty="0"/>
              <a:t>Teori </a:t>
            </a:r>
            <a:r>
              <a:rPr lang="en-AU" sz="2800" dirty="0" err="1"/>
              <a:t>Evolusi</a:t>
            </a:r>
            <a:endParaRPr lang="en-HK" sz="2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4C8ACB7-62F4-4DFA-BF4E-F704AD38BEDF}"/>
              </a:ext>
            </a:extLst>
          </p:cNvPr>
          <p:cNvSpPr/>
          <p:nvPr/>
        </p:nvSpPr>
        <p:spPr>
          <a:xfrm>
            <a:off x="1238250" y="1610476"/>
            <a:ext cx="8575451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i="1" dirty="0" err="1"/>
              <a:t>Evolusi</a:t>
            </a:r>
            <a:r>
              <a:rPr lang="en-US" sz="2400" b="1" i="1" dirty="0"/>
              <a:t> </a:t>
            </a:r>
            <a:r>
              <a:rPr lang="en-US" sz="2400" b="1" i="1" dirty="0" err="1"/>
              <a:t>biologis</a:t>
            </a:r>
            <a:r>
              <a:rPr lang="en-US" sz="2400" b="1" i="1" dirty="0"/>
              <a:t> </a:t>
            </a:r>
            <a:r>
              <a:rPr lang="en-US" sz="2400" b="1" i="1" dirty="0" err="1"/>
              <a:t>secara</a:t>
            </a:r>
            <a:r>
              <a:rPr lang="en-US" sz="2400" b="1" i="1" dirty="0"/>
              <a:t> </a:t>
            </a:r>
            <a:r>
              <a:rPr lang="en-US" sz="2400" b="1" i="1" dirty="0" err="1"/>
              <a:t>sederhana</a:t>
            </a:r>
            <a:r>
              <a:rPr lang="en-US" sz="2400" b="1" i="1" dirty="0"/>
              <a:t> </a:t>
            </a:r>
            <a:r>
              <a:rPr lang="en-US" sz="2400" b="1" i="1" dirty="0" err="1"/>
              <a:t>didefinisikan</a:t>
            </a:r>
            <a:r>
              <a:rPr lang="en-US" sz="2400" b="1" i="1" dirty="0"/>
              <a:t> </a:t>
            </a:r>
            <a:r>
              <a:rPr lang="en-US" sz="2400" b="1" i="1" dirty="0" err="1"/>
              <a:t>sebagai</a:t>
            </a:r>
            <a:r>
              <a:rPr lang="en-US" sz="2400" b="1" i="1" dirty="0"/>
              <a:t> </a:t>
            </a:r>
            <a:r>
              <a:rPr lang="en-US" sz="2400" b="1" i="1" dirty="0" err="1"/>
              <a:t>keturunan</a:t>
            </a:r>
            <a:r>
              <a:rPr lang="en-US" sz="2400" b="1" i="1" dirty="0"/>
              <a:t> </a:t>
            </a:r>
            <a:r>
              <a:rPr lang="en-US" sz="2400" b="1" i="1" dirty="0" err="1"/>
              <a:t>dengan</a:t>
            </a:r>
            <a:r>
              <a:rPr lang="en-US" sz="2400" b="1" i="1" dirty="0"/>
              <a:t> </a:t>
            </a:r>
            <a:r>
              <a:rPr lang="en-US" sz="2400" b="1" i="1" dirty="0" err="1"/>
              <a:t>modifikasi</a:t>
            </a:r>
            <a:r>
              <a:rPr lang="en-US" sz="2400" b="1" i="1" dirty="0"/>
              <a:t>;</a:t>
            </a:r>
          </a:p>
          <a:p>
            <a:pPr algn="ctr"/>
            <a:endParaRPr lang="en-US" sz="1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 err="1"/>
              <a:t>Modifikasi</a:t>
            </a:r>
            <a:r>
              <a:rPr lang="en-US" sz="2000" dirty="0"/>
              <a:t> </a:t>
            </a:r>
            <a:r>
              <a:rPr lang="en-US" sz="2000" dirty="0" err="1"/>
              <a:t>tersebut</a:t>
            </a:r>
            <a:r>
              <a:rPr lang="en-US" sz="2000" dirty="0"/>
              <a:t> </a:t>
            </a:r>
            <a:r>
              <a:rPr lang="en-US" sz="2000" dirty="0" err="1"/>
              <a:t>dapat</a:t>
            </a:r>
            <a:r>
              <a:rPr lang="en-US" sz="2000" dirty="0"/>
              <a:t> </a:t>
            </a:r>
            <a:r>
              <a:rPr lang="en-US" sz="2000" dirty="0" err="1"/>
              <a:t>berskala</a:t>
            </a:r>
            <a:r>
              <a:rPr lang="en-US" sz="2000" dirty="0"/>
              <a:t> </a:t>
            </a:r>
            <a:r>
              <a:rPr lang="en-US" sz="2000" dirty="0" err="1"/>
              <a:t>kecil</a:t>
            </a:r>
            <a:r>
              <a:rPr lang="en-US" sz="2000" dirty="0"/>
              <a:t> (</a:t>
            </a:r>
            <a:r>
              <a:rPr lang="en-US" sz="2000" dirty="0" err="1"/>
              <a:t>misalnya</a:t>
            </a:r>
            <a:r>
              <a:rPr lang="en-US" sz="2000" dirty="0"/>
              <a:t>, </a:t>
            </a:r>
            <a:r>
              <a:rPr lang="en-US" sz="2000" dirty="0" err="1"/>
              <a:t>dalam</a:t>
            </a:r>
            <a:r>
              <a:rPr lang="en-US" sz="2000" dirty="0"/>
              <a:t> </a:t>
            </a:r>
            <a:r>
              <a:rPr lang="en-US" sz="2000" dirty="0" err="1"/>
              <a:t>urutan</a:t>
            </a:r>
            <a:r>
              <a:rPr lang="en-US" sz="2000" dirty="0"/>
              <a:t> gen/protein) </a:t>
            </a:r>
            <a:r>
              <a:rPr lang="en-US" sz="2000" dirty="0" err="1"/>
              <a:t>atau</a:t>
            </a:r>
            <a:r>
              <a:rPr lang="en-US" sz="2000" dirty="0"/>
              <a:t> </a:t>
            </a:r>
            <a:r>
              <a:rPr lang="en-US" sz="2000" dirty="0" err="1"/>
              <a:t>berskala</a:t>
            </a:r>
            <a:r>
              <a:rPr lang="en-US" sz="2000" dirty="0"/>
              <a:t> </a:t>
            </a:r>
            <a:r>
              <a:rPr lang="en-US" sz="2000" dirty="0" err="1"/>
              <a:t>besar</a:t>
            </a:r>
            <a:r>
              <a:rPr lang="en-US" sz="2000" dirty="0"/>
              <a:t> (</a:t>
            </a:r>
            <a:r>
              <a:rPr lang="en-US" sz="2000" dirty="0" err="1"/>
              <a:t>misalnya</a:t>
            </a:r>
            <a:r>
              <a:rPr lang="en-US" sz="2000" dirty="0"/>
              <a:t>, </a:t>
            </a:r>
            <a:r>
              <a:rPr lang="en-US" sz="2000" dirty="0" err="1"/>
              <a:t>spesiasi</a:t>
            </a:r>
            <a:r>
              <a:rPr lang="en-US" sz="2000" dirty="0"/>
              <a:t>). </a:t>
            </a:r>
            <a:r>
              <a:rPr lang="en-US" sz="2000" dirty="0" err="1"/>
              <a:t>Setelah</a:t>
            </a:r>
            <a:r>
              <a:rPr lang="en-US" sz="2000" dirty="0"/>
              <a:t> </a:t>
            </a:r>
            <a:r>
              <a:rPr lang="en-US" sz="2000" dirty="0" err="1"/>
              <a:t>kehidupan</a:t>
            </a:r>
            <a:r>
              <a:rPr lang="en-US" sz="2000" dirty="0"/>
              <a:t> </a:t>
            </a:r>
            <a:r>
              <a:rPr lang="en-US" sz="2000" dirty="0" err="1"/>
              <a:t>muncul</a:t>
            </a:r>
            <a:r>
              <a:rPr lang="en-US" sz="2000" dirty="0"/>
              <a:t> di Bumi </a:t>
            </a:r>
            <a:r>
              <a:rPr lang="en-US" sz="2000" dirty="0" err="1"/>
              <a:t>sekitar</a:t>
            </a:r>
            <a:r>
              <a:rPr lang="en-US" sz="2000" dirty="0"/>
              <a:t> 3,6 </a:t>
            </a:r>
            <a:r>
              <a:rPr lang="en-US" sz="2000" dirty="0" err="1"/>
              <a:t>miliar</a:t>
            </a:r>
            <a:r>
              <a:rPr lang="en-US" sz="2000" dirty="0"/>
              <a:t> </a:t>
            </a:r>
            <a:r>
              <a:rPr lang="en-US" sz="2000" dirty="0" err="1"/>
              <a:t>tahun</a:t>
            </a:r>
            <a:r>
              <a:rPr lang="en-US" sz="2000" dirty="0"/>
              <a:t> yang </a:t>
            </a:r>
            <a:r>
              <a:rPr lang="en-US" sz="2000" dirty="0" err="1"/>
              <a:t>lalu</a:t>
            </a:r>
            <a:r>
              <a:rPr lang="en-US" sz="2000" dirty="0"/>
              <a:t>, </a:t>
            </a:r>
            <a:r>
              <a:rPr lang="en-US" sz="2000" dirty="0" err="1"/>
              <a:t>kehidupan</a:t>
            </a:r>
            <a:r>
              <a:rPr lang="en-US" sz="2000" dirty="0"/>
              <a:t> </a:t>
            </a:r>
            <a:r>
              <a:rPr lang="en-US" sz="2000" dirty="0" err="1"/>
              <a:t>berevolusi</a:t>
            </a:r>
            <a:r>
              <a:rPr lang="en-US" sz="2000" dirty="0"/>
              <a:t>, </a:t>
            </a:r>
            <a:r>
              <a:rPr lang="en-US" sz="2000" dirty="0" err="1"/>
              <a:t>semuanya</a:t>
            </a:r>
            <a:r>
              <a:rPr lang="en-US" sz="2000" dirty="0"/>
              <a:t> </a:t>
            </a:r>
            <a:r>
              <a:rPr lang="en-US" sz="2000" dirty="0" err="1"/>
              <a:t>dari</a:t>
            </a:r>
            <a:r>
              <a:rPr lang="en-US" sz="2000" dirty="0"/>
              <a:t> </a:t>
            </a:r>
            <a:r>
              <a:rPr lang="en-US" sz="2000" dirty="0" err="1"/>
              <a:t>satu</a:t>
            </a:r>
            <a:r>
              <a:rPr lang="en-US" sz="2000" dirty="0"/>
              <a:t> </a:t>
            </a:r>
            <a:r>
              <a:rPr lang="en-US" sz="2000" dirty="0" err="1"/>
              <a:t>bentuk</a:t>
            </a:r>
            <a:r>
              <a:rPr lang="en-US" sz="2000" dirty="0"/>
              <a:t> </a:t>
            </a:r>
            <a:r>
              <a:rPr lang="en-US" sz="2000" dirty="0" err="1"/>
              <a:t>leluhur</a:t>
            </a:r>
            <a:r>
              <a:rPr lang="en-US" sz="2000" dirty="0"/>
              <a:t> primordial, yang </a:t>
            </a:r>
            <a:r>
              <a:rPr lang="en-US" sz="2000" dirty="0" err="1"/>
              <a:t>disebut</a:t>
            </a:r>
            <a:r>
              <a:rPr lang="en-US" sz="2000" dirty="0"/>
              <a:t> </a:t>
            </a:r>
            <a:r>
              <a:rPr lang="en-US" sz="2000" dirty="0" err="1"/>
              <a:t>leluhur</a:t>
            </a:r>
            <a:r>
              <a:rPr lang="en-US" sz="2000" dirty="0"/>
              <a:t> </a:t>
            </a:r>
            <a:r>
              <a:rPr lang="en-US" sz="2000" dirty="0" err="1"/>
              <a:t>umum</a:t>
            </a:r>
            <a:r>
              <a:rPr lang="en-US" sz="2000" dirty="0"/>
              <a:t> universal </a:t>
            </a:r>
            <a:r>
              <a:rPr lang="en-US" sz="2000" dirty="0" err="1"/>
              <a:t>terakhir</a:t>
            </a:r>
            <a:r>
              <a:rPr lang="en-US" sz="2000" dirty="0"/>
              <a:t> (LUCA). Sejarah </a:t>
            </a:r>
            <a:r>
              <a:rPr lang="en-US" sz="2000" dirty="0" err="1"/>
              <a:t>evolusi</a:t>
            </a:r>
            <a:r>
              <a:rPr lang="en-US" sz="2000" dirty="0"/>
              <a:t> </a:t>
            </a:r>
            <a:r>
              <a:rPr lang="en-US" sz="2000" dirty="0" err="1"/>
              <a:t>keturunan</a:t>
            </a:r>
            <a:r>
              <a:rPr lang="en-US" sz="2000" dirty="0"/>
              <a:t> LUCA </a:t>
            </a:r>
            <a:r>
              <a:rPr lang="en-US" sz="2000" dirty="0" err="1"/>
              <a:t>membentuk</a:t>
            </a:r>
            <a:r>
              <a:rPr lang="en-US" sz="2000" dirty="0"/>
              <a:t> </a:t>
            </a:r>
            <a:r>
              <a:rPr lang="en-US" sz="2000" dirty="0" err="1"/>
              <a:t>pohon</a:t>
            </a:r>
            <a:r>
              <a:rPr lang="en-US" sz="2000" dirty="0"/>
              <a:t> </a:t>
            </a:r>
            <a:r>
              <a:rPr lang="en-US" sz="2000" dirty="0" err="1"/>
              <a:t>kehidupan</a:t>
            </a:r>
            <a:r>
              <a:rPr lang="en-US" sz="2000" dirty="0"/>
              <a:t>.</a:t>
            </a:r>
          </a:p>
          <a:p>
            <a:pPr algn="just"/>
            <a:endParaRPr lang="en-US" sz="2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 err="1"/>
              <a:t>Evolusi</a:t>
            </a:r>
            <a:r>
              <a:rPr lang="en-US" sz="2000" dirty="0"/>
              <a:t> </a:t>
            </a:r>
            <a:r>
              <a:rPr lang="en-US" sz="2000" dirty="0" err="1"/>
              <a:t>adalah</a:t>
            </a:r>
            <a:r>
              <a:rPr lang="en-US" sz="2000" dirty="0"/>
              <a:t> proses </a:t>
            </a:r>
            <a:r>
              <a:rPr lang="en-US" sz="2000" dirty="0" err="1"/>
              <a:t>berkelanjutan</a:t>
            </a:r>
            <a:r>
              <a:rPr lang="en-US" sz="2000" dirty="0"/>
              <a:t> yang </a:t>
            </a:r>
            <a:r>
              <a:rPr lang="en-US" sz="2000" dirty="0" err="1"/>
              <a:t>melibatkan</a:t>
            </a:r>
            <a:r>
              <a:rPr lang="en-US" sz="2000" dirty="0"/>
              <a:t> </a:t>
            </a:r>
            <a:r>
              <a:rPr lang="en-US" sz="2000" dirty="0" err="1"/>
              <a:t>pemisahan</a:t>
            </a:r>
            <a:r>
              <a:rPr lang="en-US" sz="2000" dirty="0"/>
              <a:t> garis </a:t>
            </a:r>
            <a:r>
              <a:rPr lang="en-US" sz="2000" dirty="0" err="1"/>
              <a:t>keturunan</a:t>
            </a:r>
            <a:r>
              <a:rPr lang="en-US" sz="2000" dirty="0"/>
              <a:t>, </a:t>
            </a:r>
            <a:r>
              <a:rPr lang="en-US" sz="2000" dirty="0" err="1"/>
              <a:t>divergensi</a:t>
            </a:r>
            <a:r>
              <a:rPr lang="en-US" sz="2000" dirty="0"/>
              <a:t> </a:t>
            </a:r>
            <a:r>
              <a:rPr lang="en-US" sz="2000" dirty="0" err="1"/>
              <a:t>keturunan</a:t>
            </a:r>
            <a:r>
              <a:rPr lang="en-US" sz="2000" dirty="0"/>
              <a:t>, dan </a:t>
            </a:r>
            <a:r>
              <a:rPr lang="en-US" sz="2000" dirty="0" err="1"/>
              <a:t>radiasi</a:t>
            </a:r>
            <a:r>
              <a:rPr lang="en-US" sz="2000" dirty="0"/>
              <a:t> </a:t>
            </a:r>
            <a:r>
              <a:rPr lang="en-US" sz="2000" dirty="0" err="1"/>
              <a:t>adaptif</a:t>
            </a:r>
            <a:r>
              <a:rPr lang="en-US" sz="2000" dirty="0"/>
              <a:t> </a:t>
            </a:r>
            <a:r>
              <a:rPr lang="en-US" sz="2000" dirty="0" err="1"/>
              <a:t>ke</a:t>
            </a:r>
            <a:r>
              <a:rPr lang="en-US" sz="2000" dirty="0"/>
              <a:t> </a:t>
            </a:r>
            <a:r>
              <a:rPr lang="en-US" sz="2000" dirty="0" err="1"/>
              <a:t>lingkungan</a:t>
            </a:r>
            <a:r>
              <a:rPr lang="en-US" sz="2000" dirty="0"/>
              <a:t> yang </a:t>
            </a:r>
            <a:r>
              <a:rPr lang="en-US" sz="2000" dirty="0" err="1"/>
              <a:t>berbeda</a:t>
            </a:r>
            <a:r>
              <a:rPr lang="en-US" sz="2000" dirty="0"/>
              <a:t> (</a:t>
            </a:r>
            <a:r>
              <a:rPr lang="en-US" sz="2000" dirty="0" err="1"/>
              <a:t>ceruk</a:t>
            </a:r>
            <a:r>
              <a:rPr lang="en-US" sz="2000" dirty="0"/>
              <a:t> </a:t>
            </a:r>
            <a:r>
              <a:rPr lang="en-US" sz="2000" dirty="0" err="1"/>
              <a:t>ekologis</a:t>
            </a:r>
            <a:r>
              <a:rPr lang="en-US" sz="2000" dirty="0"/>
              <a:t>) yang </a:t>
            </a:r>
            <a:r>
              <a:rPr lang="en-US" sz="2000" dirty="0" err="1"/>
              <a:t>menciptakan</a:t>
            </a:r>
            <a:r>
              <a:rPr lang="en-US" sz="2000" dirty="0"/>
              <a:t> </a:t>
            </a:r>
            <a:r>
              <a:rPr lang="en-US" sz="2000" dirty="0" err="1"/>
              <a:t>keragaman</a:t>
            </a:r>
            <a:r>
              <a:rPr lang="en-US" sz="2000" dirty="0"/>
              <a:t> </a:t>
            </a:r>
            <a:r>
              <a:rPr lang="en-US" sz="2000" dirty="0" err="1"/>
              <a:t>fenotipik</a:t>
            </a:r>
            <a:r>
              <a:rPr lang="en-US" sz="2000" dirty="0"/>
              <a:t> dan </a:t>
            </a:r>
            <a:r>
              <a:rPr lang="en-US" sz="2000" dirty="0" err="1"/>
              <a:t>pembentukan</a:t>
            </a:r>
            <a:r>
              <a:rPr lang="en-US" sz="2000" dirty="0"/>
              <a:t> </a:t>
            </a:r>
            <a:r>
              <a:rPr lang="en-US" sz="2000" dirty="0" err="1"/>
              <a:t>spesies</a:t>
            </a:r>
            <a:r>
              <a:rPr lang="en-US" sz="2000" dirty="0"/>
              <a:t> </a:t>
            </a:r>
            <a:r>
              <a:rPr lang="en-US" sz="2000" dirty="0" err="1"/>
              <a:t>baru</a:t>
            </a:r>
            <a:r>
              <a:rPr lang="en-US" sz="2000" dirty="0"/>
              <a:t>.</a:t>
            </a:r>
          </a:p>
          <a:p>
            <a:pPr algn="just"/>
            <a:endParaRPr lang="en-US" sz="2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 err="1"/>
              <a:t>Definisi</a:t>
            </a:r>
            <a:r>
              <a:rPr lang="en-US" sz="2000" dirty="0"/>
              <a:t> </a:t>
            </a:r>
            <a:r>
              <a:rPr lang="en-US" sz="2000" dirty="0" err="1"/>
              <a:t>spesies</a:t>
            </a:r>
            <a:r>
              <a:rPr lang="en-US" sz="2000" dirty="0"/>
              <a:t> </a:t>
            </a:r>
            <a:r>
              <a:rPr lang="en-US" sz="2000" dirty="0" err="1"/>
              <a:t>masih</a:t>
            </a:r>
            <a:r>
              <a:rPr lang="en-US" sz="2000" dirty="0"/>
              <a:t> </a:t>
            </a:r>
            <a:r>
              <a:rPr lang="en-US" sz="2000" dirty="0" err="1"/>
              <a:t>bisa</a:t>
            </a:r>
            <a:r>
              <a:rPr lang="en-US" sz="2000" dirty="0"/>
              <a:t> </a:t>
            </a:r>
            <a:r>
              <a:rPr lang="en-US" sz="2000" dirty="0" err="1"/>
              <a:t>diperdebatkan</a:t>
            </a:r>
            <a:r>
              <a:rPr lang="en-US" sz="2000" dirty="0"/>
              <a:t>, </a:t>
            </a:r>
            <a:r>
              <a:rPr lang="en-US" sz="2000" dirty="0" err="1"/>
              <a:t>namun</a:t>
            </a:r>
            <a:r>
              <a:rPr lang="en-US" sz="2000" dirty="0"/>
              <a:t> pada </a:t>
            </a:r>
            <a:r>
              <a:rPr lang="en-US" sz="2000" dirty="0" err="1"/>
              <a:t>intinya</a:t>
            </a:r>
            <a:r>
              <a:rPr lang="en-US" sz="2000" dirty="0"/>
              <a:t>, </a:t>
            </a:r>
            <a:r>
              <a:rPr lang="en-US" sz="2000" dirty="0" err="1"/>
              <a:t>spesies</a:t>
            </a:r>
            <a:r>
              <a:rPr lang="en-US" sz="2000" dirty="0"/>
              <a:t> </a:t>
            </a:r>
            <a:r>
              <a:rPr lang="en-US" sz="2000" dirty="0" err="1"/>
              <a:t>adalah</a:t>
            </a:r>
            <a:r>
              <a:rPr lang="en-US" sz="2000" dirty="0"/>
              <a:t> </a:t>
            </a:r>
            <a:r>
              <a:rPr lang="en-US" sz="2000" dirty="0" err="1"/>
              <a:t>komunitas</a:t>
            </a:r>
            <a:r>
              <a:rPr lang="en-US" sz="2000" dirty="0"/>
              <a:t> </a:t>
            </a:r>
            <a:r>
              <a:rPr lang="en-US" sz="2000" dirty="0" err="1"/>
              <a:t>reproduktif</a:t>
            </a:r>
            <a:r>
              <a:rPr lang="en-US" sz="2000" dirty="0"/>
              <a:t> yang </a:t>
            </a:r>
            <a:r>
              <a:rPr lang="en-US" sz="2000" dirty="0" err="1"/>
              <a:t>mewakili</a:t>
            </a:r>
            <a:r>
              <a:rPr lang="en-US" sz="2000" dirty="0"/>
              <a:t> </a:t>
            </a:r>
            <a:r>
              <a:rPr lang="en-US" sz="2000" dirty="0" err="1"/>
              <a:t>kumpulan</a:t>
            </a:r>
            <a:r>
              <a:rPr lang="en-US" sz="2000" dirty="0"/>
              <a:t> gen yang </a:t>
            </a:r>
            <a:r>
              <a:rPr lang="en-US" sz="2000" dirty="0" err="1"/>
              <a:t>unik</a:t>
            </a:r>
            <a:r>
              <a:rPr lang="en-US" sz="2000" dirty="0"/>
              <a:t>.</a:t>
            </a:r>
          </a:p>
          <a:p>
            <a:endParaRPr lang="en-US" sz="1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800" dirty="0"/>
          </a:p>
          <a:p>
            <a:pPr algn="ctr"/>
            <a:endParaRPr lang="en-US" sz="1800" dirty="0"/>
          </a:p>
        </p:txBody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8ABA6F95-747B-4FDF-946A-24A16ECC570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343525" y="37814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3662707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8250" y="875489"/>
            <a:ext cx="9618662" cy="642026"/>
          </a:xfrm>
        </p:spPr>
        <p:txBody>
          <a:bodyPr/>
          <a:lstStyle/>
          <a:p>
            <a:r>
              <a:rPr lang="en-AU" sz="2800" dirty="0"/>
              <a:t>Phylogeny and Phylogenetic Tree</a:t>
            </a:r>
            <a:endParaRPr lang="en-HK" sz="2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4C8ACB7-62F4-4DFA-BF4E-F704AD38BEDF}"/>
              </a:ext>
            </a:extLst>
          </p:cNvPr>
          <p:cNvSpPr/>
          <p:nvPr/>
        </p:nvSpPr>
        <p:spPr>
          <a:xfrm>
            <a:off x="1238250" y="1777901"/>
            <a:ext cx="8989967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 err="1"/>
              <a:t>Filogenetika</a:t>
            </a:r>
            <a:r>
              <a:rPr lang="en-US" sz="2000" dirty="0"/>
              <a:t> </a:t>
            </a:r>
            <a:r>
              <a:rPr lang="en-US" sz="2000" dirty="0" err="1"/>
              <a:t>adalah</a:t>
            </a:r>
            <a:r>
              <a:rPr lang="en-US" sz="2000" dirty="0"/>
              <a:t> </a:t>
            </a:r>
            <a:r>
              <a:rPr lang="en-US" sz="2000" dirty="0" err="1"/>
              <a:t>studi</a:t>
            </a:r>
            <a:r>
              <a:rPr lang="en-US" sz="2000" dirty="0"/>
              <a:t> </a:t>
            </a:r>
            <a:r>
              <a:rPr lang="en-US" sz="2000" dirty="0" err="1"/>
              <a:t>tentang</a:t>
            </a:r>
            <a:r>
              <a:rPr lang="en-US" sz="2000" dirty="0"/>
              <a:t> </a:t>
            </a:r>
            <a:r>
              <a:rPr lang="en-US" sz="2000" dirty="0" err="1"/>
              <a:t>filogeni</a:t>
            </a:r>
            <a:r>
              <a:rPr lang="en-US" sz="2000" dirty="0"/>
              <a:t>—</a:t>
            </a:r>
            <a:r>
              <a:rPr lang="en-US" sz="2000" dirty="0" err="1"/>
              <a:t>yaitu</a:t>
            </a:r>
            <a:r>
              <a:rPr lang="en-US" sz="2000" dirty="0"/>
              <a:t>, </a:t>
            </a:r>
            <a:r>
              <a:rPr lang="en-US" sz="2000" dirty="0" err="1"/>
              <a:t>studi</a:t>
            </a:r>
            <a:r>
              <a:rPr lang="en-US" sz="2000" dirty="0"/>
              <a:t> </a:t>
            </a:r>
            <a:r>
              <a:rPr lang="en-US" sz="2000" dirty="0" err="1"/>
              <a:t>tentang</a:t>
            </a:r>
            <a:r>
              <a:rPr lang="en-US" sz="2000" dirty="0"/>
              <a:t> </a:t>
            </a:r>
            <a:r>
              <a:rPr lang="en-US" sz="2000" dirty="0" err="1"/>
              <a:t>hubungan</a:t>
            </a:r>
            <a:r>
              <a:rPr lang="en-US" sz="2000" dirty="0"/>
              <a:t> </a:t>
            </a:r>
            <a:r>
              <a:rPr lang="en-US" sz="2000" dirty="0" err="1"/>
              <a:t>evolusi</a:t>
            </a:r>
            <a:r>
              <a:rPr lang="en-US" sz="2000" dirty="0"/>
              <a:t> di </a:t>
            </a:r>
            <a:r>
              <a:rPr lang="en-US" sz="2000" dirty="0" err="1"/>
              <a:t>antara</a:t>
            </a:r>
            <a:r>
              <a:rPr lang="en-US" sz="2000" dirty="0"/>
              <a:t> </a:t>
            </a:r>
            <a:r>
              <a:rPr lang="en-US" sz="2000" dirty="0" err="1"/>
              <a:t>berbagai</a:t>
            </a:r>
            <a:r>
              <a:rPr lang="en-US" sz="2000" dirty="0"/>
              <a:t> </a:t>
            </a:r>
            <a:r>
              <a:rPr lang="en-US" sz="2000" dirty="0" err="1"/>
              <a:t>organisme</a:t>
            </a:r>
            <a:r>
              <a:rPr lang="en-US" sz="2000" dirty="0"/>
              <a:t> dan </a:t>
            </a:r>
            <a:r>
              <a:rPr lang="en-US" sz="2000" dirty="0" err="1"/>
              <a:t>populasi</a:t>
            </a:r>
            <a:r>
              <a:rPr lang="en-US" sz="2000" dirty="0"/>
              <a:t>. </a:t>
            </a:r>
            <a:r>
              <a:rPr lang="en-US" sz="2000" dirty="0" err="1"/>
              <a:t>Menurut</a:t>
            </a:r>
            <a:r>
              <a:rPr lang="en-US" sz="2000" dirty="0"/>
              <a:t> </a:t>
            </a:r>
            <a:r>
              <a:rPr lang="en-US" sz="2000" dirty="0" err="1"/>
              <a:t>teori</a:t>
            </a:r>
            <a:r>
              <a:rPr lang="en-US" sz="2000" dirty="0"/>
              <a:t> </a:t>
            </a:r>
            <a:r>
              <a:rPr lang="en-US" sz="2000" dirty="0" err="1"/>
              <a:t>evolusi</a:t>
            </a:r>
            <a:r>
              <a:rPr lang="en-US" sz="2000" dirty="0"/>
              <a:t>, </a:t>
            </a:r>
            <a:r>
              <a:rPr lang="en-US" sz="2000" dirty="0" err="1"/>
              <a:t>kesamaan</a:t>
            </a:r>
            <a:r>
              <a:rPr lang="en-US" sz="2000" dirty="0"/>
              <a:t> di </a:t>
            </a:r>
            <a:r>
              <a:rPr lang="en-US" sz="2000" dirty="0" err="1"/>
              <a:t>antara</a:t>
            </a:r>
            <a:r>
              <a:rPr lang="en-US" sz="2000" dirty="0"/>
              <a:t> </a:t>
            </a:r>
            <a:r>
              <a:rPr lang="en-US" sz="2000" dirty="0" err="1"/>
              <a:t>organisme</a:t>
            </a:r>
            <a:r>
              <a:rPr lang="en-US" sz="2000" dirty="0"/>
              <a:t> dan </a:t>
            </a:r>
            <a:r>
              <a:rPr lang="en-US" sz="2000" dirty="0" err="1"/>
              <a:t>kelompok</a:t>
            </a:r>
            <a:r>
              <a:rPr lang="en-US" sz="2000" dirty="0"/>
              <a:t> </a:t>
            </a:r>
            <a:r>
              <a:rPr lang="en-US" sz="2000" dirty="0" err="1"/>
              <a:t>organisme</a:t>
            </a:r>
            <a:r>
              <a:rPr lang="en-US" sz="2000" dirty="0"/>
              <a:t> </a:t>
            </a:r>
            <a:r>
              <a:rPr lang="en-US" sz="2000" dirty="0" err="1"/>
              <a:t>disebabkan</a:t>
            </a:r>
            <a:r>
              <a:rPr lang="en-US" sz="2000" dirty="0"/>
              <a:t> oleh </a:t>
            </a:r>
            <a:r>
              <a:rPr lang="en-US" sz="2000" dirty="0" err="1"/>
              <a:t>keturunan</a:t>
            </a:r>
            <a:r>
              <a:rPr lang="en-US" sz="2000" dirty="0"/>
              <a:t> </a:t>
            </a:r>
            <a:r>
              <a:rPr lang="en-US" sz="2000" dirty="0" err="1"/>
              <a:t>mereka</a:t>
            </a:r>
            <a:r>
              <a:rPr lang="en-US" sz="2000" dirty="0"/>
              <a:t> </a:t>
            </a:r>
            <a:r>
              <a:rPr lang="en-US" sz="2000" dirty="0" err="1"/>
              <a:t>dari</a:t>
            </a:r>
            <a:r>
              <a:rPr lang="en-US" sz="2000" dirty="0"/>
              <a:t> </a:t>
            </a:r>
            <a:r>
              <a:rPr lang="en-US" sz="2000" dirty="0" err="1"/>
              <a:t>nenek</a:t>
            </a:r>
            <a:r>
              <a:rPr lang="en-US" sz="2000" dirty="0"/>
              <a:t> </a:t>
            </a:r>
            <a:r>
              <a:rPr lang="en-US" sz="2000" dirty="0" err="1"/>
              <a:t>moyang</a:t>
            </a:r>
            <a:r>
              <a:rPr lang="en-US" sz="2000" dirty="0"/>
              <a:t> yang </a:t>
            </a:r>
            <a:r>
              <a:rPr lang="en-US" sz="2000" dirty="0" err="1"/>
              <a:t>sama</a:t>
            </a:r>
            <a:r>
              <a:rPr lang="en-US" sz="2000" dirty="0"/>
              <a:t>.</a:t>
            </a:r>
          </a:p>
          <a:p>
            <a:pPr algn="just"/>
            <a:endParaRPr lang="en-US" sz="2000" dirty="0"/>
          </a:p>
          <a:p>
            <a:pPr algn="just"/>
            <a:r>
              <a:rPr lang="en-US" sz="2000" dirty="0" err="1"/>
              <a:t>Penggunaan</a:t>
            </a:r>
            <a:r>
              <a:rPr lang="en-US" sz="2000" dirty="0"/>
              <a:t> </a:t>
            </a:r>
            <a:r>
              <a:rPr lang="en-US" sz="2000" dirty="0" err="1"/>
              <a:t>informasi</a:t>
            </a:r>
            <a:r>
              <a:rPr lang="en-US" sz="2000" dirty="0"/>
              <a:t> </a:t>
            </a:r>
            <a:r>
              <a:rPr lang="en-US" sz="2000" dirty="0" err="1"/>
              <a:t>urutan</a:t>
            </a:r>
            <a:r>
              <a:rPr lang="en-US" sz="2000" dirty="0"/>
              <a:t> DNA dan protein </a:t>
            </a:r>
            <a:r>
              <a:rPr lang="en-US" sz="2000" dirty="0" err="1"/>
              <a:t>serta</a:t>
            </a:r>
            <a:r>
              <a:rPr lang="en-US" sz="2000" dirty="0"/>
              <a:t> </a:t>
            </a:r>
            <a:r>
              <a:rPr lang="en-US" sz="2000" dirty="0" err="1"/>
              <a:t>perubahannya</a:t>
            </a:r>
            <a:r>
              <a:rPr lang="en-US" sz="2000" dirty="0"/>
              <a:t> </a:t>
            </a:r>
            <a:r>
              <a:rPr lang="en-US" sz="2000" dirty="0" err="1"/>
              <a:t>sepanjang</a:t>
            </a:r>
            <a:r>
              <a:rPr lang="en-US" sz="2000" dirty="0"/>
              <a:t> </a:t>
            </a:r>
            <a:r>
              <a:rPr lang="en-US" sz="2000" dirty="0" err="1"/>
              <a:t>waktu</a:t>
            </a:r>
            <a:r>
              <a:rPr lang="en-US" sz="2000" dirty="0"/>
              <a:t> </a:t>
            </a:r>
            <a:r>
              <a:rPr lang="en-US" sz="2000" dirty="0" err="1"/>
              <a:t>evolusi</a:t>
            </a:r>
            <a:r>
              <a:rPr lang="en-US" sz="2000" dirty="0"/>
              <a:t> </a:t>
            </a:r>
            <a:r>
              <a:rPr lang="en-US" sz="2000" dirty="0" err="1"/>
              <a:t>untuk</a:t>
            </a:r>
            <a:r>
              <a:rPr lang="en-US" sz="2000" dirty="0"/>
              <a:t> </a:t>
            </a:r>
            <a:r>
              <a:rPr lang="en-US" sz="2000" dirty="0" err="1"/>
              <a:t>menyimpulkan</a:t>
            </a:r>
            <a:r>
              <a:rPr lang="en-US" sz="2000" dirty="0"/>
              <a:t> </a:t>
            </a:r>
            <a:r>
              <a:rPr lang="en-US" sz="2000" dirty="0" err="1"/>
              <a:t>hubungan</a:t>
            </a:r>
            <a:r>
              <a:rPr lang="en-US" sz="2000" dirty="0"/>
              <a:t> </a:t>
            </a:r>
            <a:r>
              <a:rPr lang="en-US" sz="2000" dirty="0" err="1"/>
              <a:t>evolusi</a:t>
            </a:r>
            <a:r>
              <a:rPr lang="en-US" sz="2000" dirty="0"/>
              <a:t> di </a:t>
            </a:r>
            <a:r>
              <a:rPr lang="en-US" sz="2000" dirty="0" err="1"/>
              <a:t>antara</a:t>
            </a:r>
            <a:r>
              <a:rPr lang="en-US" sz="2000" dirty="0"/>
              <a:t> </a:t>
            </a:r>
            <a:r>
              <a:rPr lang="en-US" sz="2000" dirty="0" err="1"/>
              <a:t>sekumpulan</a:t>
            </a:r>
            <a:r>
              <a:rPr lang="en-US" sz="2000" dirty="0"/>
              <a:t> gen </a:t>
            </a:r>
            <a:r>
              <a:rPr lang="en-US" sz="2000" dirty="0" err="1"/>
              <a:t>atau</a:t>
            </a:r>
            <a:r>
              <a:rPr lang="en-US" sz="2000" dirty="0"/>
              <a:t> protein homolog </a:t>
            </a:r>
            <a:r>
              <a:rPr lang="en-US" sz="2000" dirty="0" err="1"/>
              <a:t>disebut</a:t>
            </a:r>
            <a:r>
              <a:rPr lang="en-US" sz="2000" dirty="0"/>
              <a:t> </a:t>
            </a:r>
            <a:r>
              <a:rPr lang="en-US" sz="2000" dirty="0" err="1"/>
              <a:t>sebagai</a:t>
            </a:r>
            <a:r>
              <a:rPr lang="en-US" sz="2000" dirty="0"/>
              <a:t> </a:t>
            </a:r>
            <a:r>
              <a:rPr lang="en-US" sz="2000" dirty="0" err="1"/>
              <a:t>filogenetika</a:t>
            </a:r>
            <a:r>
              <a:rPr lang="en-US" sz="2000" dirty="0"/>
              <a:t> </a:t>
            </a:r>
            <a:r>
              <a:rPr lang="en-US" sz="2000" dirty="0" err="1"/>
              <a:t>molekuler</a:t>
            </a:r>
            <a:r>
              <a:rPr lang="en-US" sz="2000" dirty="0"/>
              <a:t>.</a:t>
            </a:r>
          </a:p>
          <a:p>
            <a:pPr algn="just"/>
            <a:endParaRPr lang="en-US" sz="2000" dirty="0"/>
          </a:p>
          <a:p>
            <a:pPr algn="just"/>
            <a:r>
              <a:rPr lang="en-US" sz="2000" dirty="0"/>
              <a:t>Tujuan </a:t>
            </a:r>
            <a:r>
              <a:rPr lang="en-US" sz="2000" dirty="0" err="1"/>
              <a:t>filogenetika</a:t>
            </a:r>
            <a:r>
              <a:rPr lang="en-US" sz="2000" dirty="0"/>
              <a:t> </a:t>
            </a:r>
            <a:r>
              <a:rPr lang="en-US" sz="2000" dirty="0" err="1"/>
              <a:t>molekuler</a:t>
            </a:r>
            <a:r>
              <a:rPr lang="en-US" sz="2000" dirty="0"/>
              <a:t> </a:t>
            </a:r>
            <a:r>
              <a:rPr lang="en-US" sz="2000" dirty="0" err="1"/>
              <a:t>adalah</a:t>
            </a:r>
            <a:r>
              <a:rPr lang="en-US" sz="2000" dirty="0"/>
              <a:t> </a:t>
            </a:r>
            <a:r>
              <a:rPr lang="en-US" sz="2000" dirty="0" err="1"/>
              <a:t>untuk</a:t>
            </a:r>
            <a:r>
              <a:rPr lang="en-US" sz="2000" dirty="0"/>
              <a:t> </a:t>
            </a:r>
            <a:r>
              <a:rPr lang="en-US" sz="2000" dirty="0" err="1"/>
              <a:t>memperkirakan</a:t>
            </a:r>
            <a:r>
              <a:rPr lang="en-US" sz="2000" dirty="0"/>
              <a:t> </a:t>
            </a:r>
            <a:r>
              <a:rPr lang="en-US" sz="2000" dirty="0" err="1"/>
              <a:t>divergensi</a:t>
            </a:r>
            <a:r>
              <a:rPr lang="en-US" sz="2000" dirty="0"/>
              <a:t> </a:t>
            </a:r>
            <a:r>
              <a:rPr lang="en-US" sz="2000" dirty="0" err="1"/>
              <a:t>evolusi</a:t>
            </a:r>
            <a:r>
              <a:rPr lang="en-US" sz="2000" dirty="0"/>
              <a:t> </a:t>
            </a:r>
            <a:r>
              <a:rPr lang="en-US" sz="2000" dirty="0" err="1"/>
              <a:t>dari</a:t>
            </a:r>
            <a:r>
              <a:rPr lang="en-US" sz="2000" dirty="0"/>
              <a:t> </a:t>
            </a:r>
            <a:r>
              <a:rPr lang="en-US" sz="2000" dirty="0" err="1"/>
              <a:t>sekuens</a:t>
            </a:r>
            <a:r>
              <a:rPr lang="en-US" sz="2000" dirty="0"/>
              <a:t> DNA dan protein </a:t>
            </a:r>
            <a:r>
              <a:rPr lang="en-US" sz="2000" dirty="0" err="1"/>
              <a:t>dari</a:t>
            </a:r>
            <a:r>
              <a:rPr lang="en-US" sz="2000" dirty="0"/>
              <a:t> </a:t>
            </a:r>
            <a:r>
              <a:rPr lang="en-US" sz="2000" dirty="0" err="1"/>
              <a:t>sekuens</a:t>
            </a:r>
            <a:r>
              <a:rPr lang="en-US" sz="2000" dirty="0"/>
              <a:t> </a:t>
            </a:r>
            <a:r>
              <a:rPr lang="en-US" sz="2000" dirty="0" err="1"/>
              <a:t>leluhur</a:t>
            </a:r>
            <a:r>
              <a:rPr lang="en-US" sz="2000" dirty="0"/>
              <a:t> yang </a:t>
            </a:r>
            <a:r>
              <a:rPr lang="en-US" sz="2000" dirty="0" err="1"/>
              <a:t>sama</a:t>
            </a:r>
            <a:r>
              <a:rPr lang="en-US" sz="2000" dirty="0"/>
              <a:t>, dan </a:t>
            </a:r>
            <a:r>
              <a:rPr lang="en-US" sz="2000" dirty="0" err="1"/>
              <a:t>dengan</a:t>
            </a:r>
            <a:r>
              <a:rPr lang="en-US" sz="2000" dirty="0"/>
              <a:t> </a:t>
            </a:r>
            <a:r>
              <a:rPr lang="en-US" sz="2000" dirty="0" err="1"/>
              <a:t>demikian</a:t>
            </a:r>
            <a:r>
              <a:rPr lang="en-US" sz="2000" dirty="0"/>
              <a:t> </a:t>
            </a:r>
            <a:r>
              <a:rPr lang="en-US" sz="2000" dirty="0" err="1"/>
              <a:t>merekonstruksi</a:t>
            </a:r>
            <a:r>
              <a:rPr lang="en-US" sz="2000" dirty="0"/>
              <a:t> </a:t>
            </a:r>
            <a:r>
              <a:rPr lang="en-US" sz="2000" dirty="0" err="1"/>
              <a:t>hubungan</a:t>
            </a:r>
            <a:r>
              <a:rPr lang="en-US" sz="2000" dirty="0"/>
              <a:t> </a:t>
            </a:r>
            <a:r>
              <a:rPr lang="en-US" sz="2000" dirty="0" err="1"/>
              <a:t>evolusi</a:t>
            </a:r>
            <a:r>
              <a:rPr lang="en-US" sz="2000" dirty="0"/>
              <a:t> yang </a:t>
            </a:r>
            <a:r>
              <a:rPr lang="en-US" sz="2000" dirty="0" err="1"/>
              <a:t>benar</a:t>
            </a:r>
            <a:r>
              <a:rPr lang="en-US" sz="2000" dirty="0"/>
              <a:t> di </a:t>
            </a:r>
            <a:r>
              <a:rPr lang="en-US" sz="2000" dirty="0" err="1"/>
              <a:t>antara</a:t>
            </a:r>
            <a:r>
              <a:rPr lang="en-US" sz="2000" dirty="0"/>
              <a:t> </a:t>
            </a:r>
            <a:r>
              <a:rPr lang="en-US" sz="2000" dirty="0" err="1"/>
              <a:t>sekuens-sekuens</a:t>
            </a:r>
            <a:r>
              <a:rPr lang="en-US" sz="2000" dirty="0"/>
              <a:t> </a:t>
            </a:r>
            <a:r>
              <a:rPr lang="en-US" sz="2000" dirty="0" err="1"/>
              <a:t>ini</a:t>
            </a:r>
            <a:r>
              <a:rPr lang="en-US" sz="2000" dirty="0"/>
              <a:t> </a:t>
            </a:r>
            <a:r>
              <a:rPr lang="en-US" sz="2000" dirty="0" err="1"/>
              <a:t>dalam</a:t>
            </a:r>
            <a:r>
              <a:rPr lang="en-US" sz="2000" dirty="0"/>
              <a:t> </a:t>
            </a:r>
            <a:r>
              <a:rPr lang="en-US" sz="2000" dirty="0" err="1"/>
              <a:t>bentuk</a:t>
            </a:r>
            <a:r>
              <a:rPr lang="en-US" sz="2000" dirty="0"/>
              <a:t> </a:t>
            </a:r>
            <a:r>
              <a:rPr lang="en-US" sz="2000" dirty="0" err="1"/>
              <a:t>pohon</a:t>
            </a:r>
            <a:r>
              <a:rPr lang="en-US" sz="2000" dirty="0"/>
              <a:t> </a:t>
            </a:r>
            <a:r>
              <a:rPr lang="en-US" sz="2000" dirty="0" err="1"/>
              <a:t>filogenetik</a:t>
            </a:r>
            <a:r>
              <a:rPr lang="en-US" sz="2000" dirty="0"/>
              <a:t>.</a:t>
            </a:r>
          </a:p>
        </p:txBody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8ABA6F95-747B-4FDF-946A-24A16ECC570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71925" y="5205276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8434306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8250" y="875489"/>
            <a:ext cx="9618662" cy="642026"/>
          </a:xfrm>
        </p:spPr>
        <p:txBody>
          <a:bodyPr/>
          <a:lstStyle/>
          <a:p>
            <a:r>
              <a:rPr lang="en-AU" sz="2800" dirty="0"/>
              <a:t>Phylogenetic Tree</a:t>
            </a:r>
            <a:endParaRPr lang="en-HK" sz="2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4C8ACB7-62F4-4DFA-BF4E-F704AD38BEDF}"/>
              </a:ext>
            </a:extLst>
          </p:cNvPr>
          <p:cNvSpPr/>
          <p:nvPr/>
        </p:nvSpPr>
        <p:spPr>
          <a:xfrm>
            <a:off x="1238250" y="1666534"/>
            <a:ext cx="898996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800" b="1" dirty="0" err="1"/>
              <a:t>Pohon</a:t>
            </a:r>
            <a:r>
              <a:rPr lang="en-US" sz="1800" b="1" dirty="0"/>
              <a:t> </a:t>
            </a:r>
            <a:r>
              <a:rPr lang="en-US" sz="1800" b="1" dirty="0" err="1"/>
              <a:t>filogenetik</a:t>
            </a:r>
            <a:r>
              <a:rPr lang="en-US" sz="1800" b="1" dirty="0"/>
              <a:t> </a:t>
            </a:r>
            <a:r>
              <a:rPr lang="en-US" sz="1800" dirty="0"/>
              <a:t>(</a:t>
            </a:r>
            <a:r>
              <a:rPr lang="en-US" sz="1800" dirty="0" err="1"/>
              <a:t>atau</a:t>
            </a:r>
            <a:r>
              <a:rPr lang="en-US" sz="1800" dirty="0"/>
              <a:t> </a:t>
            </a:r>
            <a:r>
              <a:rPr lang="en-US" sz="1800" dirty="0" err="1"/>
              <a:t>pohon</a:t>
            </a:r>
            <a:r>
              <a:rPr lang="en-US" sz="1800" dirty="0"/>
              <a:t> </a:t>
            </a:r>
            <a:r>
              <a:rPr lang="en-US" sz="1800" dirty="0" err="1"/>
              <a:t>evolusi</a:t>
            </a:r>
            <a:r>
              <a:rPr lang="en-US" sz="1800" dirty="0"/>
              <a:t>, </a:t>
            </a:r>
            <a:r>
              <a:rPr lang="en-US" sz="1800" dirty="0" err="1"/>
              <a:t>kladogram</a:t>
            </a:r>
            <a:r>
              <a:rPr lang="en-US" sz="1800" dirty="0"/>
              <a:t>, </a:t>
            </a:r>
            <a:r>
              <a:rPr lang="en-US" sz="1800" dirty="0" err="1"/>
              <a:t>atau</a:t>
            </a:r>
            <a:r>
              <a:rPr lang="en-US" sz="1800" dirty="0"/>
              <a:t> dendrogram) </a:t>
            </a:r>
            <a:r>
              <a:rPr lang="en-US" sz="1800" dirty="0" err="1"/>
              <a:t>adalah</a:t>
            </a:r>
            <a:r>
              <a:rPr lang="en-US" sz="1800" dirty="0"/>
              <a:t> </a:t>
            </a:r>
            <a:r>
              <a:rPr lang="en-US" sz="1800" dirty="0" err="1"/>
              <a:t>representasi</a:t>
            </a:r>
            <a:r>
              <a:rPr lang="en-US" sz="1800" dirty="0"/>
              <a:t> </a:t>
            </a:r>
            <a:r>
              <a:rPr lang="en-US" sz="1800" dirty="0" err="1"/>
              <a:t>diagramatik</a:t>
            </a:r>
            <a:r>
              <a:rPr lang="en-US" sz="1800" dirty="0"/>
              <a:t> </a:t>
            </a:r>
            <a:r>
              <a:rPr lang="en-US" sz="1800" dirty="0" err="1"/>
              <a:t>dari</a:t>
            </a:r>
            <a:r>
              <a:rPr lang="en-US" sz="1800" dirty="0"/>
              <a:t> </a:t>
            </a:r>
            <a:r>
              <a:rPr lang="en-US" sz="1800" dirty="0" err="1"/>
              <a:t>hubungan</a:t>
            </a:r>
            <a:r>
              <a:rPr lang="en-US" sz="1800" dirty="0"/>
              <a:t> </a:t>
            </a:r>
            <a:r>
              <a:rPr lang="en-US" sz="1800" dirty="0" err="1"/>
              <a:t>evolusi</a:t>
            </a:r>
            <a:r>
              <a:rPr lang="en-US" sz="1800" dirty="0"/>
              <a:t> di </a:t>
            </a:r>
            <a:r>
              <a:rPr lang="en-US" sz="1800" dirty="0" err="1"/>
              <a:t>antara</a:t>
            </a:r>
            <a:r>
              <a:rPr lang="en-US" sz="1800" dirty="0"/>
              <a:t> </a:t>
            </a:r>
            <a:r>
              <a:rPr lang="en-US" sz="1800" dirty="0" err="1"/>
              <a:t>berbagai</a:t>
            </a:r>
            <a:r>
              <a:rPr lang="en-US" sz="1800" dirty="0"/>
              <a:t> </a:t>
            </a:r>
            <a:r>
              <a:rPr lang="en-US" sz="1800" dirty="0" err="1"/>
              <a:t>takson</a:t>
            </a:r>
            <a:r>
              <a:rPr lang="en-US" sz="1800" dirty="0"/>
              <a:t>. </a:t>
            </a:r>
            <a:r>
              <a:rPr lang="en-US" sz="1800" dirty="0" err="1"/>
              <a:t>Pohon</a:t>
            </a:r>
            <a:r>
              <a:rPr lang="en-US" sz="1800" dirty="0"/>
              <a:t> </a:t>
            </a:r>
            <a:r>
              <a:rPr lang="en-US" sz="1800" dirty="0" err="1"/>
              <a:t>filogenetik</a:t>
            </a:r>
            <a:r>
              <a:rPr lang="en-US" sz="1800" dirty="0"/>
              <a:t> </a:t>
            </a:r>
            <a:r>
              <a:rPr lang="en-US" sz="1800" dirty="0" err="1"/>
              <a:t>memiliki</a:t>
            </a:r>
            <a:r>
              <a:rPr lang="en-US" sz="1800" dirty="0"/>
              <a:t> </a:t>
            </a:r>
            <a:r>
              <a:rPr lang="en-US" sz="1800" dirty="0" err="1"/>
              <a:t>rekonstruksi</a:t>
            </a:r>
            <a:r>
              <a:rPr lang="en-US" sz="1800" dirty="0"/>
              <a:t> dan </a:t>
            </a:r>
            <a:r>
              <a:rPr lang="en-US" sz="1800" dirty="0" err="1"/>
              <a:t>penilaian</a:t>
            </a:r>
            <a:r>
              <a:rPr lang="en-US" sz="1800" dirty="0"/>
              <a:t> </a:t>
            </a:r>
            <a:r>
              <a:rPr lang="en-US" sz="1800" dirty="0" err="1"/>
              <a:t>keandalannya</a:t>
            </a:r>
            <a:r>
              <a:rPr lang="en-US" sz="1800" dirty="0"/>
              <a:t> </a:t>
            </a:r>
            <a:r>
              <a:rPr lang="en-US" sz="1800" dirty="0" err="1"/>
              <a:t>sendiri</a:t>
            </a:r>
            <a:r>
              <a:rPr lang="en-US" sz="1800" dirty="0"/>
              <a:t>.</a:t>
            </a:r>
            <a:endParaRPr lang="en-AU" sz="1800" dirty="0"/>
          </a:p>
        </p:txBody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8ABA6F95-747B-4FDF-946A-24A16ECC570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71925" y="5205276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HK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50CDA2-5F15-4547-8EBD-CF8CABD3A0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809" y="2736433"/>
            <a:ext cx="5167424" cy="406840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9A9AA11-ECD0-44BE-95AB-4B717A730DEF}"/>
              </a:ext>
            </a:extLst>
          </p:cNvPr>
          <p:cNvSpPr/>
          <p:nvPr/>
        </p:nvSpPr>
        <p:spPr>
          <a:xfrm>
            <a:off x="6080171" y="2775622"/>
            <a:ext cx="4148046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HK" sz="1600" dirty="0">
                <a:latin typeface="AdvP1491"/>
              </a:rPr>
              <a:t>Ini </a:t>
            </a:r>
            <a:r>
              <a:rPr lang="en-HK" sz="1600" dirty="0" err="1">
                <a:latin typeface="AdvP1491"/>
              </a:rPr>
              <a:t>adalah</a:t>
            </a:r>
            <a:r>
              <a:rPr lang="en-HK" sz="1600" dirty="0">
                <a:latin typeface="AdvP1491"/>
              </a:rPr>
              <a:t> diagram </a:t>
            </a:r>
            <a:r>
              <a:rPr lang="en-HK" sz="1600" dirty="0" err="1">
                <a:latin typeface="AdvP1491"/>
              </a:rPr>
              <a:t>percabangan</a:t>
            </a:r>
            <a:r>
              <a:rPr lang="en-HK" sz="1600" dirty="0">
                <a:latin typeface="AdvP1491"/>
              </a:rPr>
              <a:t> yang </a:t>
            </a:r>
            <a:r>
              <a:rPr lang="en-HK" sz="1600" dirty="0" err="1">
                <a:latin typeface="AdvP1491"/>
              </a:rPr>
              <a:t>terdiri</a:t>
            </a:r>
            <a:r>
              <a:rPr lang="en-HK" sz="1600" dirty="0">
                <a:latin typeface="AdvP1491"/>
              </a:rPr>
              <a:t> </a:t>
            </a:r>
            <a:r>
              <a:rPr lang="en-HK" sz="1600" dirty="0" err="1">
                <a:latin typeface="AdvP1491"/>
              </a:rPr>
              <a:t>dari</a:t>
            </a:r>
            <a:r>
              <a:rPr lang="en-HK" sz="1600" dirty="0">
                <a:latin typeface="AdvP1491"/>
              </a:rPr>
              <a:t> </a:t>
            </a:r>
            <a:r>
              <a:rPr lang="en-HK" sz="1600" dirty="0" err="1">
                <a:latin typeface="AdvP1491"/>
              </a:rPr>
              <a:t>simpul</a:t>
            </a:r>
            <a:r>
              <a:rPr lang="en-HK" sz="1600" dirty="0">
                <a:latin typeface="AdvP1491"/>
              </a:rPr>
              <a:t> dan </a:t>
            </a:r>
            <a:r>
              <a:rPr lang="en-HK" sz="1600" dirty="0" err="1">
                <a:latin typeface="AdvP1491"/>
              </a:rPr>
              <a:t>cabang</a:t>
            </a:r>
            <a:r>
              <a:rPr lang="en-HK" sz="1600" dirty="0">
                <a:latin typeface="AdvP1491"/>
              </a:rPr>
              <a:t>. Pola </a:t>
            </a:r>
            <a:r>
              <a:rPr lang="en-HK" sz="1600" dirty="0" err="1">
                <a:latin typeface="AdvP1491"/>
              </a:rPr>
              <a:t>percabangan</a:t>
            </a:r>
            <a:r>
              <a:rPr lang="en-HK" sz="1600" dirty="0">
                <a:latin typeface="AdvP1491"/>
              </a:rPr>
              <a:t> </a:t>
            </a:r>
            <a:r>
              <a:rPr lang="en-HK" sz="1600" dirty="0" err="1">
                <a:latin typeface="AdvP1491"/>
              </a:rPr>
              <a:t>pohon</a:t>
            </a:r>
            <a:r>
              <a:rPr lang="en-HK" sz="1600" dirty="0">
                <a:latin typeface="AdvP1491"/>
              </a:rPr>
              <a:t> </a:t>
            </a:r>
            <a:r>
              <a:rPr lang="en-HK" sz="1600" dirty="0" err="1">
                <a:latin typeface="AdvP1491"/>
              </a:rPr>
              <a:t>disebut</a:t>
            </a:r>
            <a:r>
              <a:rPr lang="en-HK" sz="1600" dirty="0">
                <a:latin typeface="AdvP1491"/>
              </a:rPr>
              <a:t> </a:t>
            </a:r>
            <a:r>
              <a:rPr lang="en-HK" sz="1600" dirty="0" err="1">
                <a:latin typeface="AdvP1491"/>
              </a:rPr>
              <a:t>topologi</a:t>
            </a:r>
            <a:r>
              <a:rPr lang="en-HK" sz="1600" dirty="0">
                <a:latin typeface="AdvP1491"/>
              </a:rPr>
              <a:t> </a:t>
            </a:r>
            <a:r>
              <a:rPr lang="en-HK" sz="1600" dirty="0" err="1">
                <a:latin typeface="AdvP1491"/>
              </a:rPr>
              <a:t>pohon</a:t>
            </a:r>
            <a:r>
              <a:rPr lang="en-HK" sz="1600" dirty="0">
                <a:latin typeface="AdvP1491"/>
              </a:rPr>
              <a:t>. Satu </a:t>
            </a:r>
            <a:r>
              <a:rPr lang="en-HK" sz="1600" dirty="0" err="1">
                <a:latin typeface="AdvP1491"/>
              </a:rPr>
              <a:t>cabang</a:t>
            </a:r>
            <a:r>
              <a:rPr lang="en-HK" sz="1600" dirty="0">
                <a:latin typeface="AdvP1491"/>
              </a:rPr>
              <a:t> </a:t>
            </a:r>
            <a:r>
              <a:rPr lang="en-HK" sz="1600" dirty="0" err="1">
                <a:latin typeface="AdvP1491"/>
              </a:rPr>
              <a:t>hanya</a:t>
            </a:r>
            <a:r>
              <a:rPr lang="en-HK" sz="1600" dirty="0">
                <a:latin typeface="AdvP1491"/>
              </a:rPr>
              <a:t> </a:t>
            </a:r>
            <a:r>
              <a:rPr lang="en-HK" sz="1600" dirty="0" err="1">
                <a:latin typeface="AdvP1491"/>
              </a:rPr>
              <a:t>dapat</a:t>
            </a:r>
            <a:r>
              <a:rPr lang="en-HK" sz="1600" dirty="0">
                <a:latin typeface="AdvP1491"/>
              </a:rPr>
              <a:t> </a:t>
            </a:r>
            <a:r>
              <a:rPr lang="en-HK" sz="1600" dirty="0" err="1">
                <a:latin typeface="AdvP1491"/>
              </a:rPr>
              <a:t>menghubungkan</a:t>
            </a:r>
            <a:r>
              <a:rPr lang="en-HK" sz="1600" dirty="0">
                <a:latin typeface="AdvP1491"/>
              </a:rPr>
              <a:t> dua </a:t>
            </a:r>
            <a:r>
              <a:rPr lang="en-HK" sz="1600" dirty="0" err="1">
                <a:latin typeface="AdvP1491"/>
              </a:rPr>
              <a:t>simpul</a:t>
            </a:r>
            <a:r>
              <a:rPr lang="en-HK" sz="1600" dirty="0">
                <a:latin typeface="AdvP1491"/>
              </a:rPr>
              <a:t>.</a:t>
            </a:r>
          </a:p>
          <a:p>
            <a:pPr algn="just"/>
            <a:endParaRPr lang="en-HK" sz="1600" dirty="0">
              <a:latin typeface="AdvP1491"/>
            </a:endParaRPr>
          </a:p>
          <a:p>
            <a:pPr algn="just"/>
            <a:r>
              <a:rPr lang="en-HK" sz="1600" dirty="0" err="1">
                <a:latin typeface="AdvP1491"/>
              </a:rPr>
              <a:t>Simpul</a:t>
            </a:r>
            <a:r>
              <a:rPr lang="en-HK" sz="1600" dirty="0">
                <a:latin typeface="AdvP1491"/>
              </a:rPr>
              <a:t> terminal </a:t>
            </a:r>
            <a:r>
              <a:rPr lang="en-HK" sz="1600" dirty="0" err="1">
                <a:latin typeface="AdvP1491"/>
              </a:rPr>
              <a:t>mewakili</a:t>
            </a:r>
            <a:r>
              <a:rPr lang="en-HK" sz="1600" dirty="0">
                <a:latin typeface="AdvP1491"/>
              </a:rPr>
              <a:t> unit </a:t>
            </a:r>
            <a:r>
              <a:rPr lang="en-HK" sz="1600" dirty="0" err="1">
                <a:latin typeface="AdvP1491"/>
              </a:rPr>
              <a:t>taksonomi</a:t>
            </a:r>
            <a:r>
              <a:rPr lang="en-HK" sz="1600" dirty="0">
                <a:latin typeface="AdvP1491"/>
              </a:rPr>
              <a:t> </a:t>
            </a:r>
            <a:r>
              <a:rPr lang="en-HK" sz="1600" dirty="0" err="1">
                <a:latin typeface="AdvP1491"/>
              </a:rPr>
              <a:t>operasional</a:t>
            </a:r>
            <a:r>
              <a:rPr lang="en-HK" sz="1600" dirty="0">
                <a:latin typeface="AdvP1491"/>
              </a:rPr>
              <a:t> (OTU) </a:t>
            </a:r>
            <a:r>
              <a:rPr lang="en-HK" sz="1600" dirty="0" err="1">
                <a:latin typeface="AdvP1491"/>
              </a:rPr>
              <a:t>atau</a:t>
            </a:r>
            <a:r>
              <a:rPr lang="en-HK" sz="1600" dirty="0">
                <a:latin typeface="AdvP1491"/>
              </a:rPr>
              <a:t> </a:t>
            </a:r>
            <a:r>
              <a:rPr lang="en-HK" sz="1600" dirty="0" err="1">
                <a:latin typeface="AdvP1491"/>
              </a:rPr>
              <a:t>daun</a:t>
            </a:r>
            <a:r>
              <a:rPr lang="en-HK" sz="1600" dirty="0">
                <a:latin typeface="AdvP1491"/>
              </a:rPr>
              <a:t>. OTU </a:t>
            </a:r>
            <a:r>
              <a:rPr lang="en-HK" sz="1600" dirty="0" err="1">
                <a:latin typeface="AdvP1491"/>
              </a:rPr>
              <a:t>adalah</a:t>
            </a:r>
            <a:r>
              <a:rPr lang="en-HK" sz="1600" dirty="0">
                <a:latin typeface="AdvP1491"/>
              </a:rPr>
              <a:t> </a:t>
            </a:r>
            <a:r>
              <a:rPr lang="en-HK" sz="1600" dirty="0" err="1">
                <a:latin typeface="AdvP1491"/>
              </a:rPr>
              <a:t>objek</a:t>
            </a:r>
            <a:r>
              <a:rPr lang="en-HK" sz="1600" dirty="0">
                <a:latin typeface="AdvP1491"/>
              </a:rPr>
              <a:t> </a:t>
            </a:r>
            <a:r>
              <a:rPr lang="en-HK" sz="1600" dirty="0" err="1">
                <a:latin typeface="AdvP1491"/>
              </a:rPr>
              <a:t>aktual</a:t>
            </a:r>
            <a:r>
              <a:rPr lang="en-HK" sz="1600" dirty="0">
                <a:latin typeface="AdvP1491"/>
              </a:rPr>
              <a:t>—</a:t>
            </a:r>
            <a:r>
              <a:rPr lang="en-HK" sz="1600" dirty="0" err="1">
                <a:latin typeface="AdvP1491"/>
              </a:rPr>
              <a:t>seperti</a:t>
            </a:r>
            <a:r>
              <a:rPr lang="en-HK" sz="1600" dirty="0">
                <a:latin typeface="AdvP1491"/>
              </a:rPr>
              <a:t> </a:t>
            </a:r>
            <a:r>
              <a:rPr lang="en-HK" sz="1600" dirty="0" err="1">
                <a:latin typeface="AdvP1491"/>
              </a:rPr>
              <a:t>spesies</a:t>
            </a:r>
            <a:r>
              <a:rPr lang="en-HK" sz="1600" dirty="0">
                <a:latin typeface="AdvP1491"/>
              </a:rPr>
              <a:t>, </a:t>
            </a:r>
            <a:r>
              <a:rPr lang="en-HK" sz="1600" dirty="0" err="1">
                <a:latin typeface="AdvP1491"/>
              </a:rPr>
              <a:t>populasi</a:t>
            </a:r>
            <a:r>
              <a:rPr lang="en-HK" sz="1600" dirty="0">
                <a:latin typeface="AdvP1491"/>
              </a:rPr>
              <a:t>, </a:t>
            </a:r>
            <a:r>
              <a:rPr lang="en-HK" sz="1600" dirty="0" err="1">
                <a:latin typeface="AdvP1491"/>
              </a:rPr>
              <a:t>atau</a:t>
            </a:r>
            <a:r>
              <a:rPr lang="en-HK" sz="1600" dirty="0">
                <a:latin typeface="AdvP1491"/>
              </a:rPr>
              <a:t> </a:t>
            </a:r>
            <a:r>
              <a:rPr lang="en-HK" sz="1600" dirty="0" err="1">
                <a:latin typeface="AdvP1491"/>
              </a:rPr>
              <a:t>sekuens</a:t>
            </a:r>
            <a:r>
              <a:rPr lang="en-HK" sz="1600" dirty="0">
                <a:latin typeface="AdvP1491"/>
              </a:rPr>
              <a:t> gen </a:t>
            </a:r>
            <a:r>
              <a:rPr lang="en-HK" sz="1600" dirty="0" err="1">
                <a:latin typeface="AdvP1491"/>
              </a:rPr>
              <a:t>atau</a:t>
            </a:r>
            <a:r>
              <a:rPr lang="en-HK" sz="1600" dirty="0">
                <a:latin typeface="AdvP1491"/>
              </a:rPr>
              <a:t> protein—yang </a:t>
            </a:r>
            <a:r>
              <a:rPr lang="en-HK" sz="1600" dirty="0" err="1">
                <a:latin typeface="AdvP1491"/>
              </a:rPr>
              <a:t>dibandingkan</a:t>
            </a:r>
            <a:r>
              <a:rPr lang="en-HK" sz="1600" dirty="0">
                <a:latin typeface="AdvP1491"/>
              </a:rPr>
              <a:t>, </a:t>
            </a:r>
            <a:r>
              <a:rPr lang="en-HK" sz="1600" dirty="0" err="1">
                <a:latin typeface="AdvP1491"/>
              </a:rPr>
              <a:t>sedangkan</a:t>
            </a:r>
            <a:r>
              <a:rPr lang="en-HK" sz="1600" dirty="0">
                <a:latin typeface="AdvP1491"/>
              </a:rPr>
              <a:t> </a:t>
            </a:r>
            <a:r>
              <a:rPr lang="en-HK" sz="1600" dirty="0" err="1">
                <a:latin typeface="AdvP1491"/>
              </a:rPr>
              <a:t>simpul</a:t>
            </a:r>
            <a:r>
              <a:rPr lang="en-HK" sz="1600" dirty="0">
                <a:latin typeface="AdvP1491"/>
              </a:rPr>
              <a:t> internal </a:t>
            </a:r>
            <a:r>
              <a:rPr lang="en-HK" sz="1600" dirty="0" err="1">
                <a:latin typeface="AdvP1491"/>
              </a:rPr>
              <a:t>mewakili</a:t>
            </a:r>
            <a:r>
              <a:rPr lang="en-HK" sz="1600" dirty="0">
                <a:latin typeface="AdvP1491"/>
              </a:rPr>
              <a:t> unit </a:t>
            </a:r>
            <a:r>
              <a:rPr lang="en-HK" sz="1600" dirty="0" err="1">
                <a:latin typeface="AdvP1491"/>
              </a:rPr>
              <a:t>taksonomi</a:t>
            </a:r>
            <a:r>
              <a:rPr lang="en-HK" sz="1600" dirty="0">
                <a:latin typeface="AdvP1491"/>
              </a:rPr>
              <a:t> </a:t>
            </a:r>
            <a:r>
              <a:rPr lang="en-HK" sz="1600" dirty="0" err="1">
                <a:latin typeface="AdvP1491"/>
              </a:rPr>
              <a:t>hipotetis</a:t>
            </a:r>
            <a:r>
              <a:rPr lang="en-HK" sz="1600" dirty="0">
                <a:latin typeface="AdvP1491"/>
              </a:rPr>
              <a:t> (HTU).</a:t>
            </a:r>
            <a:endParaRPr lang="en-HK" sz="1600" dirty="0"/>
          </a:p>
        </p:txBody>
      </p:sp>
    </p:spTree>
    <p:extLst>
      <p:ext uri="{BB962C8B-B14F-4D97-AF65-F5344CB8AC3E}">
        <p14:creationId xmlns:p14="http://schemas.microsoft.com/office/powerpoint/2010/main" val="41244550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8250" y="875489"/>
            <a:ext cx="9618662" cy="642026"/>
          </a:xfrm>
        </p:spPr>
        <p:txBody>
          <a:bodyPr/>
          <a:lstStyle/>
          <a:p>
            <a:r>
              <a:rPr lang="en-AU" sz="2800" dirty="0"/>
              <a:t>Phylogenetic Tree</a:t>
            </a:r>
            <a:endParaRPr lang="en-HK" sz="2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4C8ACB7-62F4-4DFA-BF4E-F704AD38BEDF}"/>
              </a:ext>
            </a:extLst>
          </p:cNvPr>
          <p:cNvSpPr/>
          <p:nvPr/>
        </p:nvSpPr>
        <p:spPr>
          <a:xfrm>
            <a:off x="1298188" y="1517515"/>
            <a:ext cx="8467453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 err="1"/>
              <a:t>Asumsi-asumsi</a:t>
            </a:r>
            <a:r>
              <a:rPr lang="en-US" sz="2000" dirty="0"/>
              <a:t> di </a:t>
            </a:r>
            <a:r>
              <a:rPr lang="en-US" sz="2000" dirty="0" err="1"/>
              <a:t>balik</a:t>
            </a:r>
            <a:r>
              <a:rPr lang="en-US" sz="2000" dirty="0"/>
              <a:t> </a:t>
            </a:r>
            <a:r>
              <a:rPr lang="en-US" sz="2000" dirty="0" err="1"/>
              <a:t>pembuatan</a:t>
            </a:r>
            <a:r>
              <a:rPr lang="en-US" sz="2000" dirty="0"/>
              <a:t> </a:t>
            </a:r>
            <a:r>
              <a:rPr lang="en-US" sz="2000" dirty="0" err="1"/>
              <a:t>pohon</a:t>
            </a:r>
            <a:r>
              <a:rPr lang="en-US" sz="2000" dirty="0"/>
              <a:t> </a:t>
            </a:r>
            <a:r>
              <a:rPr lang="en-US" sz="2000" dirty="0" err="1"/>
              <a:t>filogenetik</a:t>
            </a:r>
            <a:r>
              <a:rPr lang="en-US" sz="2000" dirty="0"/>
              <a:t>, </a:t>
            </a:r>
            <a:r>
              <a:rPr lang="en-US" sz="2000" dirty="0" err="1"/>
              <a:t>seperti</a:t>
            </a:r>
            <a:r>
              <a:rPr lang="en-US" sz="2000" dirty="0"/>
              <a:t>:</a:t>
            </a:r>
          </a:p>
          <a:p>
            <a:pPr marL="457200" indent="-457200" algn="just">
              <a:buAutoNum type="arabicParenBoth"/>
            </a:pPr>
            <a:r>
              <a:rPr lang="en-US" sz="2000" dirty="0" err="1"/>
              <a:t>Urutan-urutan</a:t>
            </a:r>
            <a:r>
              <a:rPr lang="en-US" sz="2000" dirty="0"/>
              <a:t> </a:t>
            </a:r>
            <a:r>
              <a:rPr lang="en-US" sz="2000" dirty="0" err="1"/>
              <a:t>tersebut</a:t>
            </a:r>
            <a:r>
              <a:rPr lang="en-US" sz="2000" dirty="0"/>
              <a:t> </a:t>
            </a:r>
            <a:r>
              <a:rPr lang="en-US" sz="2000" dirty="0" err="1"/>
              <a:t>bersifat</a:t>
            </a:r>
            <a:r>
              <a:rPr lang="en-US" sz="2000" dirty="0"/>
              <a:t> homolog—</a:t>
            </a:r>
            <a:r>
              <a:rPr lang="en-US" sz="2000" dirty="0" err="1"/>
              <a:t>artinya</a:t>
            </a:r>
            <a:r>
              <a:rPr lang="en-US" sz="2000" dirty="0"/>
              <a:t>, </a:t>
            </a:r>
            <a:r>
              <a:rPr lang="en-US" sz="2000" dirty="0" err="1"/>
              <a:t>urutan-urutan</a:t>
            </a:r>
            <a:r>
              <a:rPr lang="en-US" sz="2000" dirty="0"/>
              <a:t> </a:t>
            </a:r>
            <a:r>
              <a:rPr lang="en-US" sz="2000" dirty="0" err="1"/>
              <a:t>tersebut</a:t>
            </a:r>
            <a:r>
              <a:rPr lang="en-US" sz="2000" dirty="0"/>
              <a:t> </a:t>
            </a:r>
            <a:r>
              <a:rPr lang="en-US" sz="2000" dirty="0" err="1"/>
              <a:t>memiliki</a:t>
            </a:r>
            <a:r>
              <a:rPr lang="en-US" sz="2000" dirty="0"/>
              <a:t> </a:t>
            </a:r>
            <a:r>
              <a:rPr lang="en-US" sz="2000" dirty="0" err="1"/>
              <a:t>nenek</a:t>
            </a:r>
            <a:r>
              <a:rPr lang="en-US" sz="2000" dirty="0"/>
              <a:t> </a:t>
            </a:r>
            <a:r>
              <a:rPr lang="en-US" sz="2000" dirty="0" err="1"/>
              <a:t>moyang</a:t>
            </a:r>
            <a:r>
              <a:rPr lang="en-US" sz="2000" dirty="0"/>
              <a:t> yang </a:t>
            </a:r>
            <a:r>
              <a:rPr lang="en-US" sz="2000" dirty="0" err="1"/>
              <a:t>sama</a:t>
            </a:r>
            <a:r>
              <a:rPr lang="en-US" sz="2000" dirty="0"/>
              <a:t>, dan </a:t>
            </a:r>
            <a:r>
              <a:rPr lang="en-US" sz="2000" dirty="0" err="1"/>
              <a:t>mereka</a:t>
            </a:r>
            <a:r>
              <a:rPr lang="en-US" sz="2000" dirty="0"/>
              <a:t> </a:t>
            </a:r>
            <a:r>
              <a:rPr lang="en-US" sz="2000" dirty="0" err="1"/>
              <a:t>mengalami</a:t>
            </a:r>
            <a:r>
              <a:rPr lang="en-US" sz="2000" dirty="0"/>
              <a:t> </a:t>
            </a:r>
            <a:r>
              <a:rPr lang="en-US" sz="2000" dirty="0" err="1"/>
              <a:t>divergensi</a:t>
            </a:r>
            <a:r>
              <a:rPr lang="en-US" sz="2000" dirty="0"/>
              <a:t> </a:t>
            </a:r>
            <a:r>
              <a:rPr lang="en-US" sz="2000" dirty="0" err="1"/>
              <a:t>seiring</a:t>
            </a:r>
            <a:r>
              <a:rPr lang="en-US" sz="2000" dirty="0"/>
              <a:t> </a:t>
            </a:r>
            <a:r>
              <a:rPr lang="en-US" sz="2000" dirty="0" err="1"/>
              <a:t>waktu</a:t>
            </a:r>
            <a:r>
              <a:rPr lang="en-US" sz="2000" dirty="0"/>
              <a:t> </a:t>
            </a:r>
            <a:r>
              <a:rPr lang="en-US" sz="2000" dirty="0" err="1"/>
              <a:t>saat</a:t>
            </a:r>
            <a:r>
              <a:rPr lang="en-US" sz="2000" dirty="0"/>
              <a:t> </a:t>
            </a:r>
            <a:r>
              <a:rPr lang="en-US" sz="2000" dirty="0" err="1"/>
              <a:t>berevolusi</a:t>
            </a:r>
            <a:r>
              <a:rPr lang="en-US" sz="2000" dirty="0"/>
              <a:t>—dan</a:t>
            </a:r>
          </a:p>
          <a:p>
            <a:pPr marL="457200" indent="-457200" algn="just">
              <a:buAutoNum type="arabicParenBoth"/>
            </a:pPr>
            <a:r>
              <a:rPr lang="en-US" sz="2000" dirty="0" err="1"/>
              <a:t>Setiap</a:t>
            </a:r>
            <a:r>
              <a:rPr lang="en-US" sz="2000" dirty="0"/>
              <a:t> </a:t>
            </a:r>
            <a:r>
              <a:rPr lang="en-US" sz="2000" dirty="0" err="1"/>
              <a:t>posisi</a:t>
            </a:r>
            <a:r>
              <a:rPr lang="en-US" sz="2000" dirty="0"/>
              <a:t> </a:t>
            </a:r>
            <a:r>
              <a:rPr lang="en-US" sz="2000" dirty="0" err="1"/>
              <a:t>berevolusi</a:t>
            </a:r>
            <a:r>
              <a:rPr lang="en-US" sz="2000" dirty="0"/>
              <a:t> </a:t>
            </a:r>
            <a:r>
              <a:rPr lang="en-US" sz="2000" dirty="0" err="1"/>
              <a:t>secara</a:t>
            </a:r>
            <a:r>
              <a:rPr lang="en-US" sz="2000" dirty="0"/>
              <a:t> </a:t>
            </a:r>
            <a:r>
              <a:rPr lang="en-US" sz="2000" dirty="0" err="1"/>
              <a:t>independen</a:t>
            </a:r>
            <a:r>
              <a:rPr lang="en-US" sz="2000" dirty="0"/>
              <a:t>. </a:t>
            </a:r>
            <a:r>
              <a:rPr lang="en-US" sz="2000" dirty="0" err="1"/>
              <a:t>Kualitas</a:t>
            </a:r>
            <a:r>
              <a:rPr lang="en-US" sz="2000" dirty="0"/>
              <a:t> </a:t>
            </a:r>
            <a:r>
              <a:rPr lang="en-US" sz="2000" dirty="0" err="1"/>
              <a:t>penyelarasan</a:t>
            </a:r>
            <a:r>
              <a:rPr lang="en-US" sz="2000" dirty="0"/>
              <a:t> </a:t>
            </a:r>
            <a:r>
              <a:rPr lang="en-US" sz="2000" dirty="0" err="1"/>
              <a:t>sekuens</a:t>
            </a:r>
            <a:r>
              <a:rPr lang="en-US" sz="2000" dirty="0"/>
              <a:t> </a:t>
            </a:r>
            <a:r>
              <a:rPr lang="en-US" sz="2000" dirty="0" err="1"/>
              <a:t>berganda</a:t>
            </a:r>
            <a:r>
              <a:rPr lang="en-US" sz="2000" dirty="0"/>
              <a:t> </a:t>
            </a:r>
            <a:r>
              <a:rPr lang="en-US" sz="2000" dirty="0" err="1"/>
              <a:t>adalah</a:t>
            </a:r>
            <a:r>
              <a:rPr lang="en-US" sz="2000" dirty="0"/>
              <a:t> </a:t>
            </a:r>
            <a:r>
              <a:rPr lang="en-US" sz="2000" dirty="0" err="1"/>
              <a:t>kunci</a:t>
            </a:r>
            <a:r>
              <a:rPr lang="en-US" sz="2000" dirty="0"/>
              <a:t> </a:t>
            </a:r>
            <a:r>
              <a:rPr lang="en-US" sz="2000" dirty="0" err="1"/>
              <a:t>untuk</a:t>
            </a:r>
            <a:r>
              <a:rPr lang="en-US" sz="2000" dirty="0"/>
              <a:t> </a:t>
            </a:r>
            <a:r>
              <a:rPr lang="en-US" sz="2000" dirty="0" err="1"/>
              <a:t>mendapatkan</a:t>
            </a:r>
            <a:r>
              <a:rPr lang="en-US" sz="2000" dirty="0"/>
              <a:t> </a:t>
            </a:r>
            <a:r>
              <a:rPr lang="en-US" sz="2000" dirty="0" err="1"/>
              <a:t>pohon</a:t>
            </a:r>
            <a:r>
              <a:rPr lang="en-US" sz="2000" dirty="0"/>
              <a:t> </a:t>
            </a:r>
            <a:r>
              <a:rPr lang="en-US" sz="2000" dirty="0" err="1"/>
              <a:t>filogenetik</a:t>
            </a:r>
            <a:r>
              <a:rPr lang="en-US" sz="2000" dirty="0"/>
              <a:t> yang </a:t>
            </a:r>
            <a:r>
              <a:rPr lang="en-US" sz="2000" dirty="0" err="1"/>
              <a:t>dapat</a:t>
            </a:r>
            <a:r>
              <a:rPr lang="en-US" sz="2000" dirty="0"/>
              <a:t> </a:t>
            </a:r>
            <a:r>
              <a:rPr lang="en-US" sz="2000" dirty="0" err="1"/>
              <a:t>diandalkan</a:t>
            </a:r>
            <a:r>
              <a:rPr lang="en-US" sz="2000" dirty="0"/>
              <a:t>.</a:t>
            </a:r>
          </a:p>
          <a:p>
            <a:pPr algn="just"/>
            <a:endParaRPr lang="en-US" sz="2000" i="1" dirty="0"/>
          </a:p>
          <a:p>
            <a:pPr algn="ctr"/>
            <a:r>
              <a:rPr lang="en-US" sz="2000" b="1" i="1" dirty="0"/>
              <a:t>Saat </a:t>
            </a:r>
            <a:r>
              <a:rPr lang="en-US" sz="2000" b="1" i="1" dirty="0" err="1"/>
              <a:t>menggunakan</a:t>
            </a:r>
            <a:r>
              <a:rPr lang="en-US" sz="2000" b="1" i="1" dirty="0"/>
              <a:t> </a:t>
            </a:r>
            <a:r>
              <a:rPr lang="en-US" sz="2000" b="1" i="1" dirty="0" err="1"/>
              <a:t>sekuens</a:t>
            </a:r>
            <a:r>
              <a:rPr lang="en-US" sz="2000" b="1" i="1" dirty="0"/>
              <a:t> </a:t>
            </a:r>
            <a:r>
              <a:rPr lang="en-US" sz="2000" b="1" i="1" dirty="0" err="1"/>
              <a:t>pengkodean</a:t>
            </a:r>
            <a:r>
              <a:rPr lang="en-US" sz="2000" b="1" i="1" dirty="0"/>
              <a:t>, </a:t>
            </a:r>
            <a:r>
              <a:rPr lang="en-US" sz="2000" b="1" i="1" dirty="0" err="1"/>
              <a:t>sebaiknya</a:t>
            </a:r>
            <a:r>
              <a:rPr lang="en-US" sz="2000" b="1" i="1" dirty="0"/>
              <a:t> </a:t>
            </a:r>
            <a:r>
              <a:rPr lang="en-US" sz="2000" b="1" i="1" dirty="0" err="1"/>
              <a:t>menggunakan</a:t>
            </a:r>
            <a:r>
              <a:rPr lang="en-US" sz="2000" b="1" i="1" dirty="0"/>
              <a:t> </a:t>
            </a:r>
            <a:r>
              <a:rPr lang="en-US" sz="2000" b="1" i="1" dirty="0" err="1"/>
              <a:t>sekuens</a:t>
            </a:r>
            <a:r>
              <a:rPr lang="en-US" sz="2000" b="1" i="1" dirty="0"/>
              <a:t> protein </a:t>
            </a:r>
            <a:r>
              <a:rPr lang="en-US" sz="2000" b="1" i="1" dirty="0" err="1"/>
              <a:t>untuk</a:t>
            </a:r>
            <a:r>
              <a:rPr lang="en-US" sz="2000" b="1" i="1" dirty="0"/>
              <a:t> </a:t>
            </a:r>
            <a:r>
              <a:rPr lang="en-US" sz="2000" b="1" i="1" dirty="0" err="1"/>
              <a:t>merekonstruksi</a:t>
            </a:r>
            <a:r>
              <a:rPr lang="en-US" sz="2000" b="1" i="1" dirty="0"/>
              <a:t> </a:t>
            </a:r>
            <a:r>
              <a:rPr lang="en-US" sz="2000" b="1" i="1" dirty="0" err="1"/>
              <a:t>pohon</a:t>
            </a:r>
            <a:r>
              <a:rPr lang="en-US" sz="2000" b="1" i="1" dirty="0"/>
              <a:t> </a:t>
            </a:r>
            <a:r>
              <a:rPr lang="en-US" sz="2000" b="1" i="1" dirty="0" err="1"/>
              <a:t>filogenetik</a:t>
            </a:r>
            <a:r>
              <a:rPr lang="en-US" sz="2000" b="1" i="1" dirty="0"/>
              <a:t>.</a:t>
            </a:r>
          </a:p>
          <a:p>
            <a:pPr algn="ctr"/>
            <a:endParaRPr lang="en-US" sz="2000" dirty="0"/>
          </a:p>
          <a:p>
            <a:r>
              <a:rPr lang="sv-SE" sz="2000" dirty="0"/>
              <a:t>Pembuatan pohon filogenetik melibatkan langkah-langkah berikut:</a:t>
            </a:r>
            <a:endParaRPr lang="en-US" sz="2000" dirty="0"/>
          </a:p>
          <a:p>
            <a:pPr marL="457200" indent="-457200">
              <a:buAutoNum type="arabicParenBoth"/>
            </a:pPr>
            <a:r>
              <a:rPr lang="en-US" sz="2000" dirty="0" err="1"/>
              <a:t>Pemilihan</a:t>
            </a:r>
            <a:r>
              <a:rPr lang="en-US" sz="2000" dirty="0"/>
              <a:t> </a:t>
            </a:r>
            <a:r>
              <a:rPr lang="en-US" sz="2000" dirty="0" err="1"/>
              <a:t>penanda</a:t>
            </a:r>
            <a:r>
              <a:rPr lang="en-US" sz="2000" dirty="0"/>
              <a:t> </a:t>
            </a:r>
            <a:r>
              <a:rPr lang="en-US" sz="2000" dirty="0" err="1"/>
              <a:t>molekuler</a:t>
            </a:r>
            <a:r>
              <a:rPr lang="en-US" sz="2000" dirty="0"/>
              <a:t> yang </a:t>
            </a:r>
            <a:r>
              <a:rPr lang="en-US" sz="2000" dirty="0" err="1"/>
              <a:t>tepat</a:t>
            </a:r>
            <a:r>
              <a:rPr lang="en-US" sz="2000" dirty="0"/>
              <a:t> (gen/protein/DNA </a:t>
            </a:r>
            <a:r>
              <a:rPr lang="en-US" sz="2000" dirty="0" err="1"/>
              <a:t>mitokondria</a:t>
            </a:r>
            <a:r>
              <a:rPr lang="en-US" sz="2000" dirty="0"/>
              <a:t>)</a:t>
            </a:r>
          </a:p>
          <a:p>
            <a:pPr marL="457200" indent="-457200">
              <a:buAutoNum type="arabicParenBoth"/>
            </a:pPr>
            <a:r>
              <a:rPr lang="en-US" sz="2000" dirty="0" err="1"/>
              <a:t>Penyelarasan</a:t>
            </a:r>
            <a:r>
              <a:rPr lang="en-US" sz="2000" dirty="0"/>
              <a:t> </a:t>
            </a:r>
            <a:r>
              <a:rPr lang="en-US" sz="2000" dirty="0" err="1"/>
              <a:t>beberapa</a:t>
            </a:r>
            <a:r>
              <a:rPr lang="en-US" sz="2000" dirty="0"/>
              <a:t> </a:t>
            </a:r>
            <a:r>
              <a:rPr lang="en-US" sz="2000" dirty="0" err="1"/>
              <a:t>urutan</a:t>
            </a:r>
            <a:endParaRPr lang="en-US" sz="2000" dirty="0"/>
          </a:p>
          <a:p>
            <a:pPr marL="457200" indent="-457200">
              <a:buAutoNum type="arabicParenBoth"/>
            </a:pPr>
            <a:r>
              <a:rPr lang="en-US" sz="2000" dirty="0" err="1"/>
              <a:t>Pemilihan</a:t>
            </a:r>
            <a:r>
              <a:rPr lang="en-US" sz="2000" dirty="0"/>
              <a:t> model </a:t>
            </a:r>
            <a:r>
              <a:rPr lang="en-US" sz="2000" dirty="0" err="1"/>
              <a:t>evolusi</a:t>
            </a:r>
            <a:endParaRPr lang="en-US" sz="2000" dirty="0"/>
          </a:p>
          <a:p>
            <a:pPr marL="457200" indent="-457200">
              <a:buAutoNum type="arabicParenBoth"/>
            </a:pPr>
            <a:r>
              <a:rPr lang="en-US" sz="2000" dirty="0" err="1"/>
              <a:t>Konstruksi</a:t>
            </a:r>
            <a:r>
              <a:rPr lang="en-US" sz="2000" dirty="0"/>
              <a:t> </a:t>
            </a:r>
            <a:r>
              <a:rPr lang="en-US" sz="2000" dirty="0" err="1"/>
              <a:t>pohon</a:t>
            </a:r>
            <a:r>
              <a:rPr lang="en-US" sz="2000" dirty="0"/>
              <a:t> </a:t>
            </a:r>
            <a:r>
              <a:rPr lang="en-US" sz="2000" dirty="0" err="1"/>
              <a:t>filogenetik</a:t>
            </a:r>
            <a:endParaRPr lang="en-US" sz="2000" dirty="0"/>
          </a:p>
          <a:p>
            <a:pPr marL="457200" indent="-457200">
              <a:buAutoNum type="arabicParenBoth"/>
            </a:pPr>
            <a:r>
              <a:rPr lang="fi-FI" sz="2000" dirty="0"/>
              <a:t>Penilaian terhadap keandalan pohon tersebut.</a:t>
            </a:r>
            <a:endParaRPr lang="en-AU" sz="1600" dirty="0"/>
          </a:p>
        </p:txBody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8ABA6F95-747B-4FDF-946A-24A16ECC570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71925" y="5205276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8414697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8250" y="875489"/>
            <a:ext cx="9618662" cy="642026"/>
          </a:xfrm>
        </p:spPr>
        <p:txBody>
          <a:bodyPr/>
          <a:lstStyle/>
          <a:p>
            <a:r>
              <a:rPr lang="en-US" sz="2800" dirty="0"/>
              <a:t>Selection of the Appropriate Molecular </a:t>
            </a:r>
            <a:r>
              <a:rPr lang="de-DE" sz="2800" dirty="0"/>
              <a:t>Marker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4C8ACB7-62F4-4DFA-BF4E-F704AD38BEDF}"/>
              </a:ext>
            </a:extLst>
          </p:cNvPr>
          <p:cNvSpPr/>
          <p:nvPr/>
        </p:nvSpPr>
        <p:spPr>
          <a:xfrm>
            <a:off x="1238250" y="1616506"/>
            <a:ext cx="8428265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800" dirty="0" err="1"/>
              <a:t>Penanda</a:t>
            </a:r>
            <a:r>
              <a:rPr lang="en-US" sz="1800" dirty="0"/>
              <a:t> </a:t>
            </a:r>
            <a:r>
              <a:rPr lang="en-US" sz="1800" dirty="0" err="1"/>
              <a:t>molekuler</a:t>
            </a:r>
            <a:r>
              <a:rPr lang="en-US" sz="1800" dirty="0"/>
              <a:t> </a:t>
            </a:r>
            <a:r>
              <a:rPr lang="en-US" sz="1800" dirty="0" err="1"/>
              <a:t>dalam</a:t>
            </a:r>
            <a:r>
              <a:rPr lang="en-US" sz="1800" dirty="0"/>
              <a:t> </a:t>
            </a:r>
            <a:r>
              <a:rPr lang="en-US" sz="1800" dirty="0" err="1"/>
              <a:t>analisis</a:t>
            </a:r>
            <a:r>
              <a:rPr lang="en-US" sz="1800" dirty="0"/>
              <a:t> </a:t>
            </a:r>
            <a:r>
              <a:rPr lang="en-US" sz="1800" dirty="0" err="1"/>
              <a:t>filogenetik</a:t>
            </a:r>
            <a:r>
              <a:rPr lang="en-US" sz="1800" dirty="0"/>
              <a:t> </a:t>
            </a:r>
            <a:r>
              <a:rPr lang="en-US" sz="1800" dirty="0" err="1"/>
              <a:t>adalah</a:t>
            </a:r>
            <a:r>
              <a:rPr lang="en-US" sz="1800" dirty="0"/>
              <a:t> </a:t>
            </a:r>
            <a:r>
              <a:rPr lang="en-US" sz="1800" dirty="0" err="1"/>
              <a:t>informasi</a:t>
            </a:r>
            <a:r>
              <a:rPr lang="en-US" sz="1800" dirty="0"/>
              <a:t> </a:t>
            </a:r>
            <a:r>
              <a:rPr lang="en-US" sz="1800" dirty="0" err="1"/>
              <a:t>biologis</a:t>
            </a:r>
            <a:r>
              <a:rPr lang="en-US" sz="1800" dirty="0"/>
              <a:t> yang </a:t>
            </a:r>
            <a:r>
              <a:rPr lang="en-US" sz="1800" dirty="0" err="1"/>
              <a:t>digunakan</a:t>
            </a:r>
            <a:r>
              <a:rPr lang="en-US" sz="1800" dirty="0"/>
              <a:t> </a:t>
            </a:r>
            <a:r>
              <a:rPr lang="en-US" sz="1800" dirty="0" err="1"/>
              <a:t>untuk</a:t>
            </a:r>
            <a:r>
              <a:rPr lang="en-US" sz="1800" dirty="0"/>
              <a:t> </a:t>
            </a:r>
            <a:r>
              <a:rPr lang="en-US" sz="1800" dirty="0" err="1"/>
              <a:t>menyimpulkan</a:t>
            </a:r>
            <a:r>
              <a:rPr lang="en-US" sz="1800" dirty="0"/>
              <a:t> </a:t>
            </a:r>
            <a:r>
              <a:rPr lang="en-US" sz="1800" dirty="0" err="1"/>
              <a:t>hubungan</a:t>
            </a:r>
            <a:r>
              <a:rPr lang="en-US" sz="1800" dirty="0"/>
              <a:t> </a:t>
            </a:r>
            <a:r>
              <a:rPr lang="en-US" sz="1800" dirty="0" err="1"/>
              <a:t>evolusi</a:t>
            </a:r>
            <a:r>
              <a:rPr lang="en-US" sz="1800" dirty="0"/>
              <a:t> </a:t>
            </a:r>
            <a:r>
              <a:rPr lang="en-US" sz="1800" dirty="0" err="1"/>
              <a:t>antar</a:t>
            </a:r>
            <a:r>
              <a:rPr lang="en-US" sz="1800" dirty="0"/>
              <a:t> </a:t>
            </a:r>
            <a:r>
              <a:rPr lang="en-US" sz="1800" dirty="0" err="1"/>
              <a:t>taksa</a:t>
            </a:r>
            <a:r>
              <a:rPr lang="en-US" sz="1800" dirty="0"/>
              <a:t>. </a:t>
            </a:r>
            <a:r>
              <a:rPr lang="en-US" sz="1800" dirty="0" err="1"/>
              <a:t>Beberapa</a:t>
            </a:r>
            <a:r>
              <a:rPr lang="en-US" sz="1800" dirty="0"/>
              <a:t> </a:t>
            </a:r>
            <a:r>
              <a:rPr lang="en-US" sz="1800" dirty="0" err="1"/>
              <a:t>alasan</a:t>
            </a:r>
            <a:r>
              <a:rPr lang="en-US" sz="1800" dirty="0"/>
              <a:t> </a:t>
            </a:r>
            <a:r>
              <a:rPr lang="en-US" sz="1800" dirty="0" err="1"/>
              <a:t>mengapa</a:t>
            </a:r>
            <a:r>
              <a:rPr lang="en-US" sz="1800" dirty="0"/>
              <a:t> </a:t>
            </a:r>
            <a:r>
              <a:rPr lang="en-US" sz="1800" dirty="0" err="1"/>
              <a:t>sekuens</a:t>
            </a:r>
            <a:r>
              <a:rPr lang="en-US" sz="1800" dirty="0"/>
              <a:t> protein </a:t>
            </a:r>
            <a:r>
              <a:rPr lang="en-US" sz="1800" dirty="0" err="1"/>
              <a:t>lebih</a:t>
            </a:r>
            <a:r>
              <a:rPr lang="en-US" sz="1800" dirty="0"/>
              <a:t> </a:t>
            </a:r>
            <a:r>
              <a:rPr lang="en-US" sz="1800" dirty="0" err="1"/>
              <a:t>tepat</a:t>
            </a:r>
            <a:r>
              <a:rPr lang="en-US" sz="1800" dirty="0"/>
              <a:t> </a:t>
            </a:r>
            <a:r>
              <a:rPr lang="en-US" sz="1800" dirty="0" err="1"/>
              <a:t>dibandingkan</a:t>
            </a:r>
            <a:r>
              <a:rPr lang="en-US" sz="1800" dirty="0"/>
              <a:t> </a:t>
            </a:r>
            <a:r>
              <a:rPr lang="en-US" sz="1800" dirty="0" err="1"/>
              <a:t>asam</a:t>
            </a:r>
            <a:r>
              <a:rPr lang="en-US" sz="1800" dirty="0"/>
              <a:t> </a:t>
            </a:r>
            <a:r>
              <a:rPr lang="en-US" sz="1800" dirty="0" err="1"/>
              <a:t>nukleat</a:t>
            </a:r>
            <a:r>
              <a:rPr lang="en-US" sz="1800" dirty="0"/>
              <a:t> </a:t>
            </a:r>
            <a:r>
              <a:rPr lang="en-US" sz="1800" dirty="0" err="1"/>
              <a:t>adalah</a:t>
            </a:r>
            <a:r>
              <a:rPr lang="en-US" sz="1800" dirty="0"/>
              <a:t> </a:t>
            </a:r>
            <a:r>
              <a:rPr lang="en-US" sz="1800" dirty="0" err="1"/>
              <a:t>sebagai</a:t>
            </a:r>
            <a:r>
              <a:rPr lang="en-US" sz="1800" dirty="0"/>
              <a:t> </a:t>
            </a:r>
            <a:r>
              <a:rPr lang="en-US" sz="1800" dirty="0" err="1"/>
              <a:t>berikut</a:t>
            </a:r>
            <a:r>
              <a:rPr lang="en-US" sz="1800" dirty="0"/>
              <a:t>:</a:t>
            </a:r>
          </a:p>
          <a:p>
            <a:pPr algn="just"/>
            <a:endParaRPr lang="en-HK" sz="1800" dirty="0"/>
          </a:p>
          <a:p>
            <a:pPr marL="342900" indent="-342900" algn="just">
              <a:buAutoNum type="arabicPeriod"/>
            </a:pPr>
            <a:r>
              <a:rPr lang="en-US" sz="1800" dirty="0"/>
              <a:t>Ada </a:t>
            </a:r>
            <a:r>
              <a:rPr lang="en-US" sz="1800" dirty="0" err="1"/>
              <a:t>lebih</a:t>
            </a:r>
            <a:r>
              <a:rPr lang="en-US" sz="1800" dirty="0"/>
              <a:t> </a:t>
            </a:r>
            <a:r>
              <a:rPr lang="en-US" sz="1800" dirty="0" err="1"/>
              <a:t>banyak</a:t>
            </a:r>
            <a:r>
              <a:rPr lang="en-US" sz="1800" dirty="0"/>
              <a:t> </a:t>
            </a:r>
            <a:r>
              <a:rPr lang="en-US" sz="1800" dirty="0" err="1"/>
              <a:t>kemungkinan</a:t>
            </a:r>
            <a:r>
              <a:rPr lang="en-US" sz="1800" dirty="0"/>
              <a:t> </a:t>
            </a:r>
            <a:r>
              <a:rPr lang="en-US" sz="1800" dirty="0" err="1"/>
              <a:t>keadaan</a:t>
            </a:r>
            <a:r>
              <a:rPr lang="en-US" sz="1800" dirty="0"/>
              <a:t> </a:t>
            </a:r>
            <a:r>
              <a:rPr lang="en-US" sz="1800" dirty="0" err="1"/>
              <a:t>karakter</a:t>
            </a:r>
            <a:r>
              <a:rPr lang="en-US" sz="1800" dirty="0"/>
              <a:t> </a:t>
            </a:r>
            <a:r>
              <a:rPr lang="en-US" sz="1800" dirty="0" err="1"/>
              <a:t>untuk</a:t>
            </a:r>
            <a:r>
              <a:rPr lang="en-US" sz="1800" dirty="0"/>
              <a:t> </a:t>
            </a:r>
            <a:r>
              <a:rPr lang="en-US" sz="1800" dirty="0" err="1"/>
              <a:t>asam</a:t>
            </a:r>
            <a:r>
              <a:rPr lang="en-US" sz="1800" dirty="0"/>
              <a:t> amino (20) </a:t>
            </a:r>
            <a:r>
              <a:rPr lang="en-US" sz="1800" dirty="0" err="1"/>
              <a:t>daripada</a:t>
            </a:r>
            <a:r>
              <a:rPr lang="en-US" sz="1800" dirty="0"/>
              <a:t> </a:t>
            </a:r>
            <a:r>
              <a:rPr lang="en-US" sz="1800" dirty="0" err="1"/>
              <a:t>nukleotida</a:t>
            </a:r>
            <a:r>
              <a:rPr lang="en-US" sz="1800" dirty="0"/>
              <a:t> (4); terminal </a:t>
            </a:r>
            <a:r>
              <a:rPr lang="en-US" sz="1800" dirty="0" err="1"/>
              <a:t>dapat</a:t>
            </a:r>
            <a:r>
              <a:rPr lang="en-US" sz="1800" dirty="0"/>
              <a:t> </a:t>
            </a:r>
            <a:r>
              <a:rPr lang="en-US" sz="1800" dirty="0" err="1"/>
              <a:t>berbagi</a:t>
            </a:r>
            <a:r>
              <a:rPr lang="en-US" sz="1800" dirty="0"/>
              <a:t> </a:t>
            </a:r>
            <a:r>
              <a:rPr lang="en-US" sz="1800" dirty="0" err="1"/>
              <a:t>keadaan</a:t>
            </a:r>
            <a:r>
              <a:rPr lang="en-US" sz="1800" dirty="0"/>
              <a:t> </a:t>
            </a:r>
            <a:r>
              <a:rPr lang="en-US" sz="1800" dirty="0" err="1"/>
              <a:t>karakter</a:t>
            </a:r>
            <a:r>
              <a:rPr lang="en-US" sz="1800" dirty="0"/>
              <a:t> </a:t>
            </a:r>
            <a:r>
              <a:rPr lang="en-US" sz="1800" dirty="0" err="1"/>
              <a:t>secara</a:t>
            </a:r>
            <a:r>
              <a:rPr lang="en-US" sz="1800" dirty="0"/>
              <a:t> </a:t>
            </a:r>
            <a:r>
              <a:rPr lang="en-US" sz="1800" dirty="0" err="1"/>
              <a:t>kebetulan</a:t>
            </a:r>
            <a:r>
              <a:rPr lang="en-US" sz="1800" dirty="0"/>
              <a:t> </a:t>
            </a:r>
            <a:r>
              <a:rPr lang="en-US" sz="1800" dirty="0" err="1"/>
              <a:t>hanya</a:t>
            </a:r>
            <a:r>
              <a:rPr lang="en-US" sz="1800" dirty="0"/>
              <a:t> </a:t>
            </a:r>
            <a:r>
              <a:rPr lang="en-US" sz="1800" dirty="0" err="1"/>
              <a:t>karena</a:t>
            </a:r>
            <a:r>
              <a:rPr lang="en-US" sz="1800" dirty="0"/>
              <a:t> </a:t>
            </a:r>
            <a:r>
              <a:rPr lang="en-US" sz="1800" dirty="0" err="1"/>
              <a:t>posisi</a:t>
            </a:r>
            <a:r>
              <a:rPr lang="en-US" sz="1800" dirty="0"/>
              <a:t> </a:t>
            </a:r>
            <a:r>
              <a:rPr lang="en-US" sz="1800" dirty="0" err="1"/>
              <a:t>tertentu</a:t>
            </a:r>
            <a:r>
              <a:rPr lang="en-US" sz="1800" dirty="0"/>
              <a:t> </a:t>
            </a:r>
            <a:r>
              <a:rPr lang="en-US" sz="1800" dirty="0" err="1"/>
              <a:t>hanya</a:t>
            </a:r>
            <a:r>
              <a:rPr lang="en-US" sz="1800" dirty="0"/>
              <a:t> </a:t>
            </a:r>
            <a:r>
              <a:rPr lang="en-US" sz="1800" dirty="0" err="1"/>
              <a:t>dapat</a:t>
            </a:r>
            <a:r>
              <a:rPr lang="en-US" sz="1800" dirty="0"/>
              <a:t> </a:t>
            </a:r>
            <a:r>
              <a:rPr lang="en-US" sz="1800" dirty="0" err="1"/>
              <a:t>memiliki</a:t>
            </a:r>
            <a:r>
              <a:rPr lang="en-US" sz="1800" dirty="0"/>
              <a:t> </a:t>
            </a:r>
            <a:r>
              <a:rPr lang="en-US" sz="1800" dirty="0" err="1"/>
              <a:t>satu</a:t>
            </a:r>
            <a:r>
              <a:rPr lang="en-US" sz="1800" dirty="0"/>
              <a:t> </a:t>
            </a:r>
            <a:r>
              <a:rPr lang="en-US" sz="1800" dirty="0" err="1"/>
              <a:t>dari</a:t>
            </a:r>
            <a:r>
              <a:rPr lang="en-US" sz="1800" dirty="0"/>
              <a:t> 4 </a:t>
            </a:r>
            <a:r>
              <a:rPr lang="en-US" sz="1800" dirty="0" err="1"/>
              <a:t>kemungkinan</a:t>
            </a:r>
            <a:r>
              <a:rPr lang="en-US" sz="1800" dirty="0"/>
              <a:t> </a:t>
            </a:r>
            <a:r>
              <a:rPr lang="en-US" sz="1800" dirty="0" err="1"/>
              <a:t>keadaan</a:t>
            </a:r>
            <a:r>
              <a:rPr lang="en-US" sz="1800" dirty="0"/>
              <a:t> </a:t>
            </a:r>
            <a:r>
              <a:rPr lang="en-US" sz="1800" dirty="0" err="1"/>
              <a:t>karakter</a:t>
            </a:r>
            <a:r>
              <a:rPr lang="en-US" sz="1800" dirty="0"/>
              <a:t> (</a:t>
            </a:r>
            <a:r>
              <a:rPr lang="en-US" sz="1800" dirty="0" err="1"/>
              <a:t>berbeda</a:t>
            </a:r>
            <a:r>
              <a:rPr lang="en-US" sz="1800" dirty="0"/>
              <a:t> </a:t>
            </a:r>
            <a:r>
              <a:rPr lang="en-US" sz="1800" dirty="0" err="1"/>
              <a:t>dengan</a:t>
            </a:r>
            <a:r>
              <a:rPr lang="en-US" sz="1800" dirty="0"/>
              <a:t> 20 </a:t>
            </a:r>
            <a:r>
              <a:rPr lang="en-US" sz="1800" dirty="0" err="1"/>
              <a:t>untuk</a:t>
            </a:r>
            <a:r>
              <a:rPr lang="en-US" sz="1800" dirty="0"/>
              <a:t> </a:t>
            </a:r>
            <a:r>
              <a:rPr lang="en-US" sz="1800" dirty="0" err="1"/>
              <a:t>asam</a:t>
            </a:r>
            <a:r>
              <a:rPr lang="en-US" sz="1800" dirty="0"/>
              <a:t> amino).</a:t>
            </a:r>
          </a:p>
          <a:p>
            <a:pPr marL="342900" indent="-342900" algn="just">
              <a:buAutoNum type="arabicPeriod"/>
            </a:pPr>
            <a:r>
              <a:rPr lang="en-US" sz="1800" dirty="0" err="1"/>
              <a:t>Matriks</a:t>
            </a:r>
            <a:r>
              <a:rPr lang="en-US" sz="1800" dirty="0"/>
              <a:t> </a:t>
            </a:r>
            <a:r>
              <a:rPr lang="en-US" sz="1800" dirty="0" err="1"/>
              <a:t>substitusi</a:t>
            </a:r>
            <a:r>
              <a:rPr lang="en-US" sz="1800" dirty="0"/>
              <a:t> </a:t>
            </a:r>
            <a:r>
              <a:rPr lang="en-US" sz="1800" dirty="0" err="1"/>
              <a:t>asam</a:t>
            </a:r>
            <a:r>
              <a:rPr lang="en-US" sz="1800" dirty="0"/>
              <a:t> amino </a:t>
            </a:r>
            <a:r>
              <a:rPr lang="en-US" sz="1800" dirty="0" err="1"/>
              <a:t>lebih</a:t>
            </a:r>
            <a:r>
              <a:rPr lang="en-US" sz="1800" dirty="0"/>
              <a:t> </a:t>
            </a:r>
            <a:r>
              <a:rPr lang="en-US" sz="1800" dirty="0" err="1"/>
              <a:t>canggih</a:t>
            </a:r>
            <a:r>
              <a:rPr lang="en-US" sz="1800" dirty="0"/>
              <a:t> </a:t>
            </a:r>
            <a:r>
              <a:rPr lang="en-US" sz="1800" dirty="0" err="1"/>
              <a:t>daripada</a:t>
            </a:r>
            <a:r>
              <a:rPr lang="en-US" sz="1800" dirty="0"/>
              <a:t> </a:t>
            </a:r>
            <a:r>
              <a:rPr lang="en-US" sz="1800" dirty="0" err="1"/>
              <a:t>matriks</a:t>
            </a:r>
            <a:r>
              <a:rPr lang="en-US" sz="1800" dirty="0"/>
              <a:t> </a:t>
            </a:r>
            <a:r>
              <a:rPr lang="en-US" sz="1800" dirty="0" err="1"/>
              <a:t>substitusi</a:t>
            </a:r>
            <a:r>
              <a:rPr lang="en-US" sz="1800" dirty="0"/>
              <a:t> </a:t>
            </a:r>
            <a:r>
              <a:rPr lang="en-US" sz="1800" dirty="0" err="1"/>
              <a:t>nukleotida</a:t>
            </a:r>
            <a:r>
              <a:rPr lang="en-US" sz="1800" dirty="0"/>
              <a:t>.</a:t>
            </a:r>
          </a:p>
          <a:p>
            <a:pPr marL="342900" indent="-342900" algn="just">
              <a:buAutoNum type="arabicPeriod"/>
            </a:pPr>
            <a:r>
              <a:rPr lang="en-US" sz="1800" dirty="0" err="1"/>
              <a:t>Keberadaan</a:t>
            </a:r>
            <a:r>
              <a:rPr lang="en-US" sz="1800" dirty="0"/>
              <a:t> bias </a:t>
            </a:r>
            <a:r>
              <a:rPr lang="en-US" sz="1800" dirty="0" err="1"/>
              <a:t>kodon</a:t>
            </a:r>
            <a:r>
              <a:rPr lang="en-US" sz="1800" dirty="0"/>
              <a:t> </a:t>
            </a:r>
            <a:r>
              <a:rPr lang="en-US" sz="1800" dirty="0" err="1"/>
              <a:t>untuk</a:t>
            </a:r>
            <a:r>
              <a:rPr lang="en-US" sz="1800" dirty="0"/>
              <a:t> </a:t>
            </a:r>
            <a:r>
              <a:rPr lang="en-US" sz="1800" dirty="0" err="1"/>
              <a:t>asam</a:t>
            </a:r>
            <a:r>
              <a:rPr lang="en-US" sz="1800" dirty="0"/>
              <a:t> amino yang </a:t>
            </a:r>
            <a:r>
              <a:rPr lang="en-US" sz="1800" dirty="0" err="1"/>
              <a:t>sama</a:t>
            </a:r>
            <a:r>
              <a:rPr lang="en-US" sz="1800" dirty="0"/>
              <a:t> pada </a:t>
            </a:r>
            <a:r>
              <a:rPr lang="en-US" sz="1800" dirty="0" err="1"/>
              <a:t>spesies</a:t>
            </a:r>
            <a:r>
              <a:rPr lang="en-US" sz="1800" dirty="0"/>
              <a:t> yang </a:t>
            </a:r>
            <a:r>
              <a:rPr lang="en-US" sz="1800" dirty="0" err="1"/>
              <a:t>berbeda</a:t>
            </a:r>
            <a:r>
              <a:rPr lang="en-US" sz="1800" dirty="0"/>
              <a:t> </a:t>
            </a:r>
            <a:r>
              <a:rPr lang="en-US" sz="1800" dirty="0" err="1"/>
              <a:t>dapat</a:t>
            </a:r>
            <a:r>
              <a:rPr lang="en-US" sz="1800" dirty="0"/>
              <a:t> </a:t>
            </a:r>
            <a:r>
              <a:rPr lang="en-US" sz="1800" dirty="0" err="1"/>
              <a:t>secara</a:t>
            </a:r>
            <a:r>
              <a:rPr lang="en-US" sz="1800" dirty="0"/>
              <a:t> </a:t>
            </a:r>
            <a:r>
              <a:rPr lang="en-US" sz="1800" dirty="0" err="1"/>
              <a:t>artifisial</a:t>
            </a:r>
            <a:r>
              <a:rPr lang="en-US" sz="1800" dirty="0"/>
              <a:t> </a:t>
            </a:r>
            <a:r>
              <a:rPr lang="en-US" sz="1800" dirty="0" err="1"/>
              <a:t>meningkatkan</a:t>
            </a:r>
            <a:r>
              <a:rPr lang="en-US" sz="1800" dirty="0"/>
              <a:t> </a:t>
            </a:r>
            <a:r>
              <a:rPr lang="en-US" sz="1800" dirty="0" err="1"/>
              <a:t>variasi</a:t>
            </a:r>
            <a:r>
              <a:rPr lang="en-US" sz="1800" dirty="0"/>
              <a:t> </a:t>
            </a:r>
            <a:r>
              <a:rPr lang="en-US" sz="1800" dirty="0" err="1"/>
              <a:t>urutan</a:t>
            </a:r>
            <a:r>
              <a:rPr lang="en-US" sz="1800" dirty="0"/>
              <a:t> </a:t>
            </a:r>
            <a:r>
              <a:rPr lang="en-US" sz="1800" dirty="0" err="1"/>
              <a:t>nukleotida</a:t>
            </a:r>
            <a:r>
              <a:rPr lang="en-US" sz="1800" dirty="0"/>
              <a:t>.</a:t>
            </a:r>
          </a:p>
          <a:p>
            <a:pPr algn="just"/>
            <a:endParaRPr lang="en-HK" sz="1800" dirty="0"/>
          </a:p>
          <a:p>
            <a:pPr algn="just"/>
            <a:r>
              <a:rPr lang="en-HK" sz="1800" dirty="0" err="1"/>
              <a:t>Urutan</a:t>
            </a:r>
            <a:r>
              <a:rPr lang="en-HK" sz="1800" dirty="0"/>
              <a:t> gen yang </a:t>
            </a:r>
            <a:r>
              <a:rPr lang="en-HK" sz="1800" dirty="0" err="1"/>
              <a:t>berevolusi</a:t>
            </a:r>
            <a:r>
              <a:rPr lang="en-HK" sz="1800" dirty="0"/>
              <a:t> </a:t>
            </a:r>
            <a:r>
              <a:rPr lang="en-HK" sz="1800" dirty="0" err="1"/>
              <a:t>lambat</a:t>
            </a:r>
            <a:r>
              <a:rPr lang="en-HK" sz="1800" dirty="0"/>
              <a:t> </a:t>
            </a:r>
            <a:r>
              <a:rPr lang="en-HK" sz="1800" dirty="0" err="1"/>
              <a:t>dapat</a:t>
            </a:r>
            <a:r>
              <a:rPr lang="en-HK" sz="1800" dirty="0"/>
              <a:t> </a:t>
            </a:r>
            <a:r>
              <a:rPr lang="en-HK" sz="1800" dirty="0" err="1"/>
              <a:t>digunakan</a:t>
            </a:r>
            <a:r>
              <a:rPr lang="en-HK" sz="1800" dirty="0"/>
              <a:t> </a:t>
            </a:r>
            <a:r>
              <a:rPr lang="en-HK" sz="1800" dirty="0" err="1"/>
              <a:t>untuk</a:t>
            </a:r>
            <a:r>
              <a:rPr lang="en-HK" sz="1800" dirty="0"/>
              <a:t> </a:t>
            </a:r>
            <a:r>
              <a:rPr lang="en-HK" sz="1800" dirty="0" err="1"/>
              <a:t>menilai</a:t>
            </a:r>
            <a:r>
              <a:rPr lang="en-HK" sz="1800" dirty="0"/>
              <a:t> </a:t>
            </a:r>
            <a:r>
              <a:rPr lang="en-HK" sz="1800" dirty="0" err="1"/>
              <a:t>hubungan</a:t>
            </a:r>
            <a:r>
              <a:rPr lang="en-HK" sz="1800" dirty="0"/>
              <a:t> </a:t>
            </a:r>
            <a:r>
              <a:rPr lang="en-HK" sz="1800" dirty="0" err="1"/>
              <a:t>evolusi</a:t>
            </a:r>
            <a:r>
              <a:rPr lang="en-HK" sz="1800" dirty="0"/>
              <a:t> </a:t>
            </a:r>
            <a:r>
              <a:rPr lang="en-HK" sz="1800" dirty="0" err="1"/>
              <a:t>antara</a:t>
            </a:r>
            <a:r>
              <a:rPr lang="en-HK" sz="1800" dirty="0"/>
              <a:t> </a:t>
            </a:r>
            <a:r>
              <a:rPr lang="en-HK" sz="1800" dirty="0" err="1"/>
              <a:t>spesies</a:t>
            </a:r>
            <a:r>
              <a:rPr lang="en-HK" sz="1800" dirty="0"/>
              <a:t> yang </a:t>
            </a:r>
            <a:r>
              <a:rPr lang="en-HK" sz="1800" dirty="0" err="1"/>
              <a:t>berkerabat</a:t>
            </a:r>
            <a:r>
              <a:rPr lang="en-HK" sz="1800" dirty="0"/>
              <a:t> </a:t>
            </a:r>
            <a:r>
              <a:rPr lang="en-HK" sz="1800" dirty="0" err="1"/>
              <a:t>jauh</a:t>
            </a:r>
            <a:r>
              <a:rPr lang="en-HK" sz="1800" dirty="0"/>
              <a:t> dan, </a:t>
            </a:r>
            <a:r>
              <a:rPr lang="en-HK" sz="1800" dirty="0" err="1"/>
              <a:t>sebaliknya</a:t>
            </a:r>
            <a:r>
              <a:rPr lang="en-HK" sz="1800" dirty="0"/>
              <a:t>, </a:t>
            </a:r>
            <a:r>
              <a:rPr lang="en-HK" sz="1800" dirty="0" err="1"/>
              <a:t>urutan</a:t>
            </a:r>
            <a:r>
              <a:rPr lang="en-HK" sz="1800" dirty="0"/>
              <a:t> gen yang </a:t>
            </a:r>
            <a:r>
              <a:rPr lang="en-HK" sz="1800" dirty="0" err="1"/>
              <a:t>berevolusi</a:t>
            </a:r>
            <a:r>
              <a:rPr lang="en-HK" sz="1800" dirty="0"/>
              <a:t> </a:t>
            </a:r>
            <a:r>
              <a:rPr lang="en-HK" sz="1800" dirty="0" err="1"/>
              <a:t>cepat</a:t>
            </a:r>
            <a:r>
              <a:rPr lang="en-HK" sz="1800" dirty="0"/>
              <a:t> </a:t>
            </a:r>
            <a:r>
              <a:rPr lang="en-HK" sz="1800" dirty="0" err="1"/>
              <a:t>dapat</a:t>
            </a:r>
            <a:r>
              <a:rPr lang="en-HK" sz="1800" dirty="0"/>
              <a:t> </a:t>
            </a:r>
            <a:r>
              <a:rPr lang="en-HK" sz="1800" dirty="0" err="1"/>
              <a:t>digunakan</a:t>
            </a:r>
            <a:r>
              <a:rPr lang="en-HK" sz="1800" dirty="0"/>
              <a:t> </a:t>
            </a:r>
            <a:r>
              <a:rPr lang="en-HK" sz="1800" dirty="0" err="1"/>
              <a:t>untuk</a:t>
            </a:r>
            <a:r>
              <a:rPr lang="en-HK" sz="1800" dirty="0"/>
              <a:t> </a:t>
            </a:r>
            <a:r>
              <a:rPr lang="en-HK" sz="1800" dirty="0" err="1"/>
              <a:t>spesies</a:t>
            </a:r>
            <a:r>
              <a:rPr lang="en-HK" sz="1800" dirty="0"/>
              <a:t> yang </a:t>
            </a:r>
            <a:r>
              <a:rPr lang="en-HK" sz="1800" dirty="0" err="1"/>
              <a:t>baru</a:t>
            </a:r>
            <a:r>
              <a:rPr lang="en-HK" sz="1800" dirty="0"/>
              <a:t> </a:t>
            </a:r>
            <a:r>
              <a:rPr lang="en-HK" sz="1800" dirty="0" err="1"/>
              <a:t>berevolusi</a:t>
            </a:r>
            <a:r>
              <a:rPr lang="en-HK" sz="1800" dirty="0"/>
              <a:t>.</a:t>
            </a:r>
            <a:endParaRPr lang="en-AU" sz="1800" dirty="0"/>
          </a:p>
        </p:txBody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8ABA6F95-747B-4FDF-946A-24A16ECC570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71925" y="5205276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HK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EB5FDF-6411-4AD9-AD91-90E4280BF780}"/>
              </a:ext>
            </a:extLst>
          </p:cNvPr>
          <p:cNvSpPr/>
          <p:nvPr/>
        </p:nvSpPr>
        <p:spPr>
          <a:xfrm>
            <a:off x="1780812" y="6135948"/>
            <a:ext cx="712701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b="1" i="1" dirty="0"/>
              <a:t>Saat </a:t>
            </a:r>
            <a:r>
              <a:rPr lang="en-US" sz="1600" b="1" i="1" dirty="0" err="1"/>
              <a:t>menggunakan</a:t>
            </a:r>
            <a:r>
              <a:rPr lang="en-US" sz="1600" b="1" i="1" dirty="0"/>
              <a:t> </a:t>
            </a:r>
            <a:r>
              <a:rPr lang="en-US" sz="1600" b="1" i="1" dirty="0" err="1"/>
              <a:t>sekuens</a:t>
            </a:r>
            <a:r>
              <a:rPr lang="en-US" sz="1600" b="1" i="1" dirty="0"/>
              <a:t> </a:t>
            </a:r>
            <a:r>
              <a:rPr lang="en-US" sz="1600" b="1" i="1" dirty="0" err="1"/>
              <a:t>pengkodean</a:t>
            </a:r>
            <a:r>
              <a:rPr lang="en-US" sz="1600" b="1" i="1" dirty="0"/>
              <a:t>, </a:t>
            </a:r>
            <a:r>
              <a:rPr lang="en-US" sz="1600" b="1" i="1" dirty="0" err="1"/>
              <a:t>sebaiknya</a:t>
            </a:r>
            <a:r>
              <a:rPr lang="en-US" sz="1600" b="1" i="1" dirty="0"/>
              <a:t> </a:t>
            </a:r>
            <a:r>
              <a:rPr lang="en-US" sz="1600" b="1" i="1" dirty="0" err="1"/>
              <a:t>menggunakan</a:t>
            </a:r>
            <a:r>
              <a:rPr lang="en-US" sz="1600" b="1" i="1" dirty="0"/>
              <a:t> </a:t>
            </a:r>
            <a:r>
              <a:rPr lang="en-US" sz="1600" b="1" i="1" dirty="0" err="1"/>
              <a:t>sekuens</a:t>
            </a:r>
            <a:r>
              <a:rPr lang="en-US" sz="1600" b="1" i="1" dirty="0"/>
              <a:t> protein </a:t>
            </a:r>
            <a:r>
              <a:rPr lang="en-US" sz="1600" b="1" i="1" dirty="0" err="1"/>
              <a:t>untuk</a:t>
            </a:r>
            <a:r>
              <a:rPr lang="en-US" sz="1600" b="1" i="1" dirty="0"/>
              <a:t> </a:t>
            </a:r>
            <a:r>
              <a:rPr lang="en-US" sz="1600" b="1" i="1" dirty="0" err="1"/>
              <a:t>merekonstruksi</a:t>
            </a:r>
            <a:r>
              <a:rPr lang="en-US" sz="1600" b="1" i="1" dirty="0"/>
              <a:t> </a:t>
            </a:r>
            <a:r>
              <a:rPr lang="en-US" sz="1600" b="1" i="1" dirty="0" err="1"/>
              <a:t>pohon</a:t>
            </a:r>
            <a:r>
              <a:rPr lang="en-US" sz="1600" b="1" i="1" dirty="0"/>
              <a:t> </a:t>
            </a:r>
            <a:r>
              <a:rPr lang="en-US" sz="1600" b="1" i="1" dirty="0" err="1"/>
              <a:t>filogenetik</a:t>
            </a:r>
            <a:r>
              <a:rPr lang="en-US" sz="1600" b="1" i="1" dirty="0"/>
              <a:t>.</a:t>
            </a: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37896291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8250" y="875489"/>
            <a:ext cx="9618662" cy="642026"/>
          </a:xfrm>
        </p:spPr>
        <p:txBody>
          <a:bodyPr/>
          <a:lstStyle/>
          <a:p>
            <a:r>
              <a:rPr lang="en-AU" sz="2800" dirty="0" err="1"/>
              <a:t>Penyelarasan</a:t>
            </a:r>
            <a:r>
              <a:rPr lang="en-AU" sz="2800" dirty="0"/>
              <a:t> </a:t>
            </a:r>
            <a:r>
              <a:rPr lang="en-AU" sz="2800" dirty="0" err="1"/>
              <a:t>Urutan</a:t>
            </a:r>
            <a:r>
              <a:rPr lang="en-AU" sz="2800" dirty="0"/>
              <a:t> </a:t>
            </a:r>
            <a:r>
              <a:rPr lang="en-AU" sz="2800" dirty="0" err="1"/>
              <a:t>Berganda</a:t>
            </a:r>
            <a:endParaRPr lang="en-AU" sz="2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4C8ACB7-62F4-4DFA-BF4E-F704AD38BEDF}"/>
              </a:ext>
            </a:extLst>
          </p:cNvPr>
          <p:cNvSpPr/>
          <p:nvPr/>
        </p:nvSpPr>
        <p:spPr>
          <a:xfrm>
            <a:off x="1447256" y="1904006"/>
            <a:ext cx="8676458" cy="35240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 err="1"/>
              <a:t>Penyelarasan</a:t>
            </a:r>
            <a:r>
              <a:rPr lang="en-US" dirty="0"/>
              <a:t> </a:t>
            </a:r>
            <a:r>
              <a:rPr lang="en-US" dirty="0" err="1"/>
              <a:t>sekuens</a:t>
            </a:r>
            <a:r>
              <a:rPr lang="en-US" dirty="0"/>
              <a:t> </a:t>
            </a: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langkah</a:t>
            </a:r>
            <a:r>
              <a:rPr lang="en-US" dirty="0"/>
              <a:t> </a:t>
            </a:r>
            <a:r>
              <a:rPr lang="en-US" dirty="0" err="1"/>
              <a:t>terpenting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membangun</a:t>
            </a:r>
            <a:r>
              <a:rPr lang="en-US" dirty="0"/>
              <a:t> </a:t>
            </a:r>
            <a:r>
              <a:rPr lang="en-US" dirty="0" err="1"/>
              <a:t>pohon</a:t>
            </a:r>
            <a:r>
              <a:rPr lang="en-US" dirty="0"/>
              <a:t> </a:t>
            </a:r>
            <a:r>
              <a:rPr lang="en-US" dirty="0" err="1"/>
              <a:t>filogenetik</a:t>
            </a:r>
            <a:r>
              <a:rPr lang="en-US" dirty="0"/>
              <a:t> yang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diandalkan</a:t>
            </a:r>
            <a:r>
              <a:rPr lang="en-US" dirty="0"/>
              <a:t>. </a:t>
            </a:r>
            <a:r>
              <a:rPr lang="en-US" dirty="0" err="1"/>
              <a:t>Penyelarasan</a:t>
            </a:r>
            <a:r>
              <a:rPr lang="en-US" dirty="0"/>
              <a:t> </a:t>
            </a:r>
            <a:r>
              <a:rPr lang="en-US" dirty="0" err="1"/>
              <a:t>sekuens</a:t>
            </a:r>
            <a:r>
              <a:rPr lang="en-US" dirty="0"/>
              <a:t> </a:t>
            </a:r>
            <a:r>
              <a:rPr lang="en-US" dirty="0" err="1"/>
              <a:t>berganda</a:t>
            </a:r>
            <a:r>
              <a:rPr lang="en-US" dirty="0"/>
              <a:t> </a:t>
            </a:r>
            <a:r>
              <a:rPr lang="en-US" dirty="0" err="1"/>
              <a:t>mengidentifikasi</a:t>
            </a:r>
            <a:r>
              <a:rPr lang="en-US" dirty="0"/>
              <a:t> </a:t>
            </a:r>
            <a:r>
              <a:rPr lang="en-US" dirty="0" err="1"/>
              <a:t>blok</a:t>
            </a:r>
            <a:r>
              <a:rPr lang="en-US" dirty="0"/>
              <a:t> </a:t>
            </a:r>
            <a:r>
              <a:rPr lang="en-US" dirty="0" err="1"/>
              <a:t>residu</a:t>
            </a:r>
            <a:r>
              <a:rPr lang="en-US" dirty="0"/>
              <a:t> yang </a:t>
            </a:r>
            <a:r>
              <a:rPr lang="en-US" dirty="0" err="1"/>
              <a:t>terlestarikan</a:t>
            </a:r>
            <a:r>
              <a:rPr lang="en-US" dirty="0"/>
              <a:t>. </a:t>
            </a:r>
            <a:r>
              <a:rPr lang="en-US" dirty="0" err="1"/>
              <a:t>Penyelarasan</a:t>
            </a:r>
            <a:r>
              <a:rPr lang="en-US" dirty="0"/>
              <a:t> yang </a:t>
            </a:r>
            <a:r>
              <a:rPr lang="en-US" dirty="0" err="1"/>
              <a:t>baik</a:t>
            </a:r>
            <a:r>
              <a:rPr lang="en-US" dirty="0"/>
              <a:t> juga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sedikit</a:t>
            </a:r>
            <a:r>
              <a:rPr lang="en-US" dirty="0"/>
              <a:t> </a:t>
            </a:r>
            <a:r>
              <a:rPr lang="en-US" dirty="0" err="1"/>
              <a:t>celah</a:t>
            </a:r>
            <a:r>
              <a:rPr lang="en-US" dirty="0"/>
              <a:t>/</a:t>
            </a:r>
            <a:r>
              <a:rPr lang="en-US" dirty="0" err="1"/>
              <a:t>celah</a:t>
            </a:r>
            <a:r>
              <a:rPr lang="en-US" dirty="0"/>
              <a:t> </a:t>
            </a:r>
            <a:r>
              <a:rPr lang="en-US" dirty="0" err="1"/>
              <a:t>panjang</a:t>
            </a:r>
            <a:r>
              <a:rPr lang="en-US" dirty="0"/>
              <a:t>.</a:t>
            </a:r>
          </a:p>
          <a:p>
            <a:pPr algn="just"/>
            <a:endParaRPr lang="en-HK" sz="1600" dirty="0"/>
          </a:p>
          <a:p>
            <a:pPr algn="ctr"/>
            <a:r>
              <a:rPr lang="en-US" sz="2000" i="1" dirty="0" err="1"/>
              <a:t>Celah</a:t>
            </a:r>
            <a:r>
              <a:rPr lang="en-US" sz="2000" i="1" dirty="0"/>
              <a:t> </a:t>
            </a:r>
            <a:r>
              <a:rPr lang="en-US" sz="2000" i="1" dirty="0" err="1"/>
              <a:t>menunjukkan</a:t>
            </a:r>
            <a:r>
              <a:rPr lang="en-US" sz="2000" i="1" dirty="0"/>
              <a:t> </a:t>
            </a:r>
            <a:r>
              <a:rPr lang="en-US" sz="2000" i="1" dirty="0" err="1"/>
              <a:t>urutan</a:t>
            </a:r>
            <a:r>
              <a:rPr lang="en-US" sz="2000" i="1" dirty="0"/>
              <a:t> yang </a:t>
            </a:r>
            <a:r>
              <a:rPr lang="en-US" sz="2000" i="1" dirty="0" err="1"/>
              <a:t>diperoleh</a:t>
            </a:r>
            <a:r>
              <a:rPr lang="en-US" sz="2000" i="1" dirty="0"/>
              <a:t> </a:t>
            </a:r>
            <a:r>
              <a:rPr lang="en-US" sz="2000" i="1" dirty="0" err="1"/>
              <a:t>atau</a:t>
            </a:r>
            <a:r>
              <a:rPr lang="en-US" sz="2000" i="1" dirty="0"/>
              <a:t> </a:t>
            </a:r>
            <a:r>
              <a:rPr lang="en-US" sz="2000" i="1" dirty="0" err="1"/>
              <a:t>hilang</a:t>
            </a:r>
            <a:r>
              <a:rPr lang="en-US" sz="2000" i="1" dirty="0"/>
              <a:t> (</a:t>
            </a:r>
            <a:r>
              <a:rPr lang="en-US" sz="2000" i="1" dirty="0" err="1"/>
              <a:t>penyisipan</a:t>
            </a:r>
            <a:r>
              <a:rPr lang="en-US" sz="2000" i="1" dirty="0"/>
              <a:t>/</a:t>
            </a:r>
            <a:r>
              <a:rPr lang="en-US" sz="2000" i="1" dirty="0" err="1"/>
              <a:t>penghapusan</a:t>
            </a:r>
            <a:r>
              <a:rPr lang="en-US" sz="2000" i="1" dirty="0"/>
              <a:t>) </a:t>
            </a:r>
            <a:r>
              <a:rPr lang="en-US" sz="2000" i="1" dirty="0" err="1"/>
              <a:t>selama</a:t>
            </a:r>
            <a:r>
              <a:rPr lang="en-US" sz="2000" i="1" dirty="0"/>
              <a:t> </a:t>
            </a:r>
            <a:r>
              <a:rPr lang="en-US" sz="2000" i="1" dirty="0" err="1"/>
              <a:t>evolusi</a:t>
            </a:r>
            <a:r>
              <a:rPr lang="en-US" sz="2000" i="1" dirty="0"/>
              <a:t>.</a:t>
            </a:r>
          </a:p>
          <a:p>
            <a:pPr algn="ctr"/>
            <a:endParaRPr lang="en-HK" sz="2000" i="1" dirty="0"/>
          </a:p>
          <a:p>
            <a:pPr algn="just"/>
            <a:r>
              <a:rPr lang="en-US" dirty="0"/>
              <a:t>Tidak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aturan</a:t>
            </a:r>
            <a:r>
              <a:rPr lang="en-US" dirty="0"/>
              <a:t> </a:t>
            </a:r>
            <a:r>
              <a:rPr lang="en-US" dirty="0" err="1"/>
              <a:t>baku</a:t>
            </a:r>
            <a:r>
              <a:rPr lang="en-US" dirty="0"/>
              <a:t> </a:t>
            </a:r>
            <a:r>
              <a:rPr lang="en-US" dirty="0" err="1"/>
              <a:t>mengenai</a:t>
            </a:r>
            <a:r>
              <a:rPr lang="en-US" dirty="0"/>
              <a:t> </a:t>
            </a:r>
            <a:r>
              <a:rPr lang="en-US" dirty="0" err="1"/>
              <a:t>bagian</a:t>
            </a:r>
            <a:r>
              <a:rPr lang="en-US" dirty="0"/>
              <a:t> mana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perataan</a:t>
            </a:r>
            <a:r>
              <a:rPr lang="en-US" dirty="0"/>
              <a:t> yang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dihapus</a:t>
            </a:r>
            <a:r>
              <a:rPr lang="en-US" dirty="0"/>
              <a:t>; </a:t>
            </a:r>
            <a:r>
              <a:rPr lang="en-US" dirty="0" err="1"/>
              <a:t>pengguna</a:t>
            </a:r>
            <a:r>
              <a:rPr lang="en-US" dirty="0"/>
              <a:t>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pertimbangan</a:t>
            </a:r>
            <a:r>
              <a:rPr lang="en-US" dirty="0"/>
              <a:t> </a:t>
            </a:r>
            <a:r>
              <a:rPr lang="en-US" dirty="0" err="1"/>
              <a:t>sendiri</a:t>
            </a:r>
            <a:r>
              <a:rPr lang="en-US" dirty="0"/>
              <a:t>. Jika </a:t>
            </a:r>
            <a:r>
              <a:rPr lang="en-US" dirty="0" err="1"/>
              <a:t>perataan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ambigu</a:t>
            </a:r>
            <a:r>
              <a:rPr lang="en-US" dirty="0"/>
              <a:t> di </a:t>
            </a:r>
            <a:r>
              <a:rPr lang="en-US" dirty="0" err="1"/>
              <a:t>kedua</a:t>
            </a:r>
            <a:r>
              <a:rPr lang="en-US" dirty="0"/>
              <a:t> </a:t>
            </a:r>
            <a:r>
              <a:rPr lang="en-US" dirty="0" err="1"/>
              <a:t>ujungnya</a:t>
            </a:r>
            <a:r>
              <a:rPr lang="en-US" dirty="0"/>
              <a:t>, </a:t>
            </a:r>
            <a:r>
              <a:rPr lang="en-US" dirty="0" err="1"/>
              <a:t>ujung-ujung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dihapus</a:t>
            </a:r>
            <a:r>
              <a:rPr lang="en-US" dirty="0"/>
              <a:t>.</a:t>
            </a:r>
            <a:endParaRPr lang="en-AU" sz="1400" i="1" dirty="0"/>
          </a:p>
        </p:txBody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8ABA6F95-747B-4FDF-946A-24A16ECC570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71925" y="5205276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631186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8250" y="875489"/>
            <a:ext cx="9618662" cy="642026"/>
          </a:xfrm>
        </p:spPr>
        <p:txBody>
          <a:bodyPr/>
          <a:lstStyle/>
          <a:p>
            <a:r>
              <a:rPr lang="en-US" sz="2800" dirty="0"/>
              <a:t>Selection of a Model of Evolution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4C8ACB7-62F4-4DFA-BF4E-F704AD38BEDF}"/>
              </a:ext>
            </a:extLst>
          </p:cNvPr>
          <p:cNvSpPr/>
          <p:nvPr/>
        </p:nvSpPr>
        <p:spPr>
          <a:xfrm>
            <a:off x="1238250" y="1603443"/>
            <a:ext cx="8467453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800" dirty="0">
                <a:latin typeface="+mn-lt"/>
              </a:rPr>
              <a:t>“Model </a:t>
            </a:r>
            <a:r>
              <a:rPr lang="en-US" sz="1800" dirty="0" err="1">
                <a:latin typeface="+mn-lt"/>
              </a:rPr>
              <a:t>evolusi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dari</a:t>
            </a:r>
            <a:r>
              <a:rPr lang="en-US" sz="1800" dirty="0">
                <a:latin typeface="+mn-lt"/>
              </a:rPr>
              <a:t> data </a:t>
            </a:r>
            <a:r>
              <a:rPr lang="en-US" sz="1800" dirty="0" err="1">
                <a:latin typeface="+mn-lt"/>
              </a:rPr>
              <a:t>sekuens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adalah</a:t>
            </a:r>
            <a:r>
              <a:rPr lang="en-US" sz="1800" dirty="0">
                <a:latin typeface="+mn-lt"/>
              </a:rPr>
              <a:t> model </a:t>
            </a:r>
            <a:r>
              <a:rPr lang="en-US" sz="1800" dirty="0" err="1">
                <a:latin typeface="+mn-lt"/>
              </a:rPr>
              <a:t>substitusi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nukleotida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atau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asam</a:t>
            </a:r>
            <a:r>
              <a:rPr lang="en-US" sz="1800" dirty="0">
                <a:latin typeface="+mn-lt"/>
              </a:rPr>
              <a:t> amino </a:t>
            </a:r>
            <a:r>
              <a:rPr lang="en-US" sz="1800" dirty="0" err="1">
                <a:latin typeface="+mn-lt"/>
              </a:rPr>
              <a:t>serta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divergensi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sekuens</a:t>
            </a:r>
            <a:r>
              <a:rPr lang="en-US" sz="1800" dirty="0">
                <a:latin typeface="+mn-lt"/>
              </a:rPr>
              <a:t> yang </a:t>
            </a:r>
            <a:r>
              <a:rPr lang="en-US" sz="1800" dirty="0" err="1">
                <a:latin typeface="+mn-lt"/>
              </a:rPr>
              <a:t>diakibatkannya</a:t>
            </a:r>
            <a:r>
              <a:rPr lang="en-US" sz="1800" dirty="0">
                <a:latin typeface="+mn-lt"/>
              </a:rPr>
              <a:t>. Model-model </a:t>
            </a:r>
            <a:r>
              <a:rPr lang="en-US" sz="1800" dirty="0" err="1">
                <a:latin typeface="+mn-lt"/>
              </a:rPr>
              <a:t>ini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menyederhanakan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kompleksitas</a:t>
            </a:r>
            <a:r>
              <a:rPr lang="en-US" sz="1800" dirty="0">
                <a:latin typeface="+mn-lt"/>
              </a:rPr>
              <a:t> proses </a:t>
            </a:r>
            <a:r>
              <a:rPr lang="en-US" sz="1800" dirty="0" err="1">
                <a:latin typeface="+mn-lt"/>
              </a:rPr>
              <a:t>mutasi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biologis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menjadi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pola-pola</a:t>
            </a:r>
            <a:r>
              <a:rPr lang="en-US" sz="1800" dirty="0">
                <a:latin typeface="+mn-lt"/>
              </a:rPr>
              <a:t> yang </a:t>
            </a:r>
            <a:r>
              <a:rPr lang="en-US" sz="1800" dirty="0" err="1">
                <a:latin typeface="+mn-lt"/>
              </a:rPr>
              <a:t>lebih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sederhana</a:t>
            </a:r>
            <a:r>
              <a:rPr lang="en-US" sz="1800" dirty="0">
                <a:latin typeface="+mn-lt"/>
              </a:rPr>
              <a:t> yang </a:t>
            </a:r>
            <a:r>
              <a:rPr lang="en-US" sz="1800" dirty="0" err="1">
                <a:latin typeface="+mn-lt"/>
              </a:rPr>
              <a:t>dapat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dijelaskan</a:t>
            </a:r>
            <a:r>
              <a:rPr lang="en-US" sz="1800" dirty="0">
                <a:latin typeface="+mn-lt"/>
              </a:rPr>
              <a:t> dan </a:t>
            </a:r>
            <a:r>
              <a:rPr lang="en-US" sz="1800" dirty="0" err="1">
                <a:latin typeface="+mn-lt"/>
              </a:rPr>
              <a:t>diprediksi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menggunakan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sejumlah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kecil</a:t>
            </a:r>
            <a:r>
              <a:rPr lang="en-US" sz="1800" dirty="0">
                <a:latin typeface="+mn-lt"/>
              </a:rPr>
              <a:t> parameter </a:t>
            </a:r>
            <a:r>
              <a:rPr lang="en-US" sz="1800" dirty="0" err="1">
                <a:latin typeface="+mn-lt"/>
              </a:rPr>
              <a:t>statistik</a:t>
            </a:r>
            <a:r>
              <a:rPr lang="en-US" sz="1800" dirty="0">
                <a:latin typeface="+mn-lt"/>
              </a:rPr>
              <a:t>.”</a:t>
            </a:r>
          </a:p>
          <a:p>
            <a:pPr algn="just"/>
            <a:endParaRPr lang="en-US" sz="1800" dirty="0">
              <a:latin typeface="+mn-lt"/>
            </a:endParaRPr>
          </a:p>
          <a:p>
            <a:r>
              <a:rPr lang="en-US" sz="1800" dirty="0">
                <a:latin typeface="+mn-lt"/>
              </a:rPr>
              <a:t>Model </a:t>
            </a:r>
            <a:r>
              <a:rPr lang="en-US" sz="1800" dirty="0" err="1">
                <a:latin typeface="+mn-lt"/>
              </a:rPr>
              <a:t>substitusi</a:t>
            </a:r>
            <a:r>
              <a:rPr lang="en-US" sz="1800" dirty="0">
                <a:latin typeface="+mn-lt"/>
              </a:rPr>
              <a:t> paling </a:t>
            </a:r>
            <a:r>
              <a:rPr lang="en-US" sz="1800" dirty="0" err="1">
                <a:latin typeface="+mn-lt"/>
              </a:rPr>
              <a:t>sederhana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untuk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nukleotida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adalah</a:t>
            </a:r>
            <a:r>
              <a:rPr lang="en-US" sz="1800" dirty="0">
                <a:latin typeface="+mn-lt"/>
              </a:rPr>
              <a:t> model </a:t>
            </a:r>
            <a:r>
              <a:rPr lang="en-US" sz="1800" dirty="0" err="1">
                <a:latin typeface="+mn-lt"/>
              </a:rPr>
              <a:t>satu</a:t>
            </a:r>
            <a:r>
              <a:rPr lang="en-US" sz="1800" dirty="0">
                <a:latin typeface="+mn-lt"/>
              </a:rPr>
              <a:t> parameter Jukes-Cantor (JC). Model </a:t>
            </a:r>
            <a:r>
              <a:rPr lang="en-US" sz="1800" dirty="0" err="1">
                <a:latin typeface="+mn-lt"/>
              </a:rPr>
              <a:t>lainnya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adalah</a:t>
            </a:r>
            <a:r>
              <a:rPr lang="en-US" sz="1800" dirty="0">
                <a:latin typeface="+mn-lt"/>
              </a:rPr>
              <a:t>:</a:t>
            </a:r>
          </a:p>
          <a:p>
            <a:pPr marL="457200" indent="-457200">
              <a:buAutoNum type="arabicPeriod"/>
            </a:pPr>
            <a:r>
              <a:rPr lang="en-HK" sz="1800" dirty="0">
                <a:latin typeface="+mn-lt"/>
              </a:rPr>
              <a:t>Kimura’s two-parameter model</a:t>
            </a:r>
          </a:p>
          <a:p>
            <a:pPr marL="457200" indent="-457200">
              <a:buAutoNum type="arabicPeriod"/>
            </a:pPr>
            <a:r>
              <a:rPr lang="en-HK" sz="1800" dirty="0">
                <a:latin typeface="+mn-lt"/>
              </a:rPr>
              <a:t>Felsenstein </a:t>
            </a:r>
            <a:r>
              <a:rPr lang="en-US" sz="1800" dirty="0">
                <a:latin typeface="+mn-lt"/>
              </a:rPr>
              <a:t>model</a:t>
            </a:r>
          </a:p>
          <a:p>
            <a:pPr marL="457200" indent="-457200">
              <a:buAutoNum type="arabicPeriod"/>
            </a:pPr>
            <a:r>
              <a:rPr lang="en-US" sz="1800" dirty="0">
                <a:latin typeface="+mn-lt"/>
              </a:rPr>
              <a:t>Hasegawa-</a:t>
            </a:r>
            <a:r>
              <a:rPr lang="en-US" sz="1800" dirty="0" err="1">
                <a:latin typeface="+mn-lt"/>
              </a:rPr>
              <a:t>Kishono</a:t>
            </a:r>
            <a:r>
              <a:rPr lang="en-US" sz="1800" dirty="0">
                <a:latin typeface="+mn-lt"/>
              </a:rPr>
              <a:t>-Yano (HKY) </a:t>
            </a:r>
            <a:r>
              <a:rPr lang="en-HK" sz="1800" dirty="0">
                <a:latin typeface="+mn-lt"/>
              </a:rPr>
              <a:t>model</a:t>
            </a:r>
          </a:p>
          <a:p>
            <a:pPr marL="457200" indent="-457200">
              <a:buAutoNum type="arabicPeriod"/>
            </a:pPr>
            <a:endParaRPr lang="en-HK" sz="1800" dirty="0">
              <a:latin typeface="+mn-lt"/>
            </a:endParaRPr>
          </a:p>
          <a:p>
            <a:r>
              <a:rPr lang="en-US" sz="1800" dirty="0"/>
              <a:t>Model </a:t>
            </a:r>
            <a:r>
              <a:rPr lang="en-US" sz="1800" dirty="0" err="1"/>
              <a:t>substitusi</a:t>
            </a:r>
            <a:r>
              <a:rPr lang="en-US" sz="1800" dirty="0"/>
              <a:t> </a:t>
            </a:r>
            <a:r>
              <a:rPr lang="en-US" sz="1800" dirty="0" err="1"/>
              <a:t>asam</a:t>
            </a:r>
            <a:r>
              <a:rPr lang="en-US" sz="1800" dirty="0"/>
              <a:t> amino yang paling </a:t>
            </a:r>
            <a:r>
              <a:rPr lang="en-US" sz="1800" dirty="0" err="1"/>
              <a:t>sederhana</a:t>
            </a:r>
            <a:r>
              <a:rPr lang="en-US" sz="1800" dirty="0"/>
              <a:t> </a:t>
            </a:r>
            <a:r>
              <a:rPr lang="en-US" sz="1800" dirty="0" err="1"/>
              <a:t>adalah</a:t>
            </a:r>
            <a:r>
              <a:rPr lang="en-US" sz="1800" dirty="0"/>
              <a:t> model Bishop-Friday.</a:t>
            </a:r>
          </a:p>
          <a:p>
            <a:r>
              <a:rPr lang="en-HK" sz="1800" dirty="0">
                <a:latin typeface="+mn-lt"/>
              </a:rPr>
              <a:t>Other models are :</a:t>
            </a:r>
            <a:endParaRPr lang="en-US" sz="1800" dirty="0">
              <a:latin typeface="+mn-lt"/>
            </a:endParaRPr>
          </a:p>
          <a:p>
            <a:pPr marL="342900" indent="-342900">
              <a:buAutoNum type="arabicPeriod"/>
            </a:pPr>
            <a:r>
              <a:rPr lang="en-US" sz="1800" dirty="0" err="1">
                <a:latin typeface="+mn-lt"/>
              </a:rPr>
              <a:t>Dayhoff</a:t>
            </a:r>
            <a:r>
              <a:rPr lang="en-US" sz="1800" dirty="0">
                <a:latin typeface="+mn-lt"/>
              </a:rPr>
              <a:t> model (PAM)</a:t>
            </a:r>
          </a:p>
          <a:p>
            <a:pPr marL="342900" indent="-342900">
              <a:buAutoNum type="arabicPeriod"/>
            </a:pPr>
            <a:r>
              <a:rPr lang="en-US" sz="1800" dirty="0" err="1">
                <a:latin typeface="+mn-lt"/>
              </a:rPr>
              <a:t>JonesTaylorThornton</a:t>
            </a:r>
            <a:r>
              <a:rPr lang="en-US" sz="1800" dirty="0">
                <a:latin typeface="+mn-lt"/>
              </a:rPr>
              <a:t> (JTT) model</a:t>
            </a:r>
          </a:p>
          <a:p>
            <a:pPr marL="342900" indent="-342900">
              <a:buAutoNum type="arabicPeriod"/>
            </a:pPr>
            <a:r>
              <a:rPr lang="en-US" sz="1800" dirty="0">
                <a:latin typeface="+mn-lt"/>
              </a:rPr>
              <a:t>Whelan and Goldman (WAG) model</a:t>
            </a:r>
          </a:p>
          <a:p>
            <a:pPr marL="342900" indent="-342900">
              <a:buAutoNum type="arabicPeriod"/>
            </a:pPr>
            <a:r>
              <a:rPr lang="en-US" sz="1800" dirty="0">
                <a:latin typeface="+mn-lt"/>
              </a:rPr>
              <a:t>Le </a:t>
            </a:r>
            <a:r>
              <a:rPr lang="en-US" sz="1800" dirty="0" err="1">
                <a:latin typeface="+mn-lt"/>
              </a:rPr>
              <a:t>Gascuel</a:t>
            </a:r>
            <a:r>
              <a:rPr lang="en-US" sz="1800" dirty="0">
                <a:latin typeface="+mn-lt"/>
              </a:rPr>
              <a:t> (LG) model</a:t>
            </a:r>
            <a:endParaRPr lang="en-HK" sz="1800" dirty="0">
              <a:latin typeface="+mn-lt"/>
            </a:endParaRPr>
          </a:p>
        </p:txBody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8ABA6F95-747B-4FDF-946A-24A16ECC570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71925" y="5205276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4765447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8250" y="875489"/>
            <a:ext cx="9618662" cy="642026"/>
          </a:xfrm>
        </p:spPr>
        <p:txBody>
          <a:bodyPr/>
          <a:lstStyle/>
          <a:p>
            <a:r>
              <a:rPr lang="en-AU" sz="2800" dirty="0"/>
              <a:t>Construction of the Phylogenetic Tree</a:t>
            </a:r>
            <a:endParaRPr lang="en-HK" sz="2800" dirty="0"/>
          </a:p>
        </p:txBody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8ABA6F95-747B-4FDF-946A-24A16ECC570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343525" y="37814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H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1BB0C68-A479-46EA-B766-D7D101006142}"/>
              </a:ext>
            </a:extLst>
          </p:cNvPr>
          <p:cNvSpPr/>
          <p:nvPr/>
        </p:nvSpPr>
        <p:spPr>
          <a:xfrm>
            <a:off x="1332411" y="1645303"/>
            <a:ext cx="8190412" cy="48474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/>
              <a:t>Ini </a:t>
            </a:r>
            <a:r>
              <a:rPr lang="en-US" sz="2400" dirty="0" err="1"/>
              <a:t>adalah</a:t>
            </a:r>
            <a:r>
              <a:rPr lang="en-US" sz="2400" dirty="0"/>
              <a:t> </a:t>
            </a:r>
            <a:r>
              <a:rPr lang="en-US" sz="2400" dirty="0" err="1"/>
              <a:t>bidang</a:t>
            </a:r>
            <a:r>
              <a:rPr lang="en-US" sz="2400" dirty="0"/>
              <a:t> </a:t>
            </a:r>
            <a:r>
              <a:rPr lang="en-US" sz="2400" dirty="0" err="1"/>
              <a:t>komputasi</a:t>
            </a:r>
            <a:r>
              <a:rPr lang="en-US" sz="2400" dirty="0"/>
              <a:t> dan </a:t>
            </a:r>
            <a:r>
              <a:rPr lang="en-US" sz="2400" dirty="0" err="1"/>
              <a:t>statistik</a:t>
            </a:r>
            <a:r>
              <a:rPr lang="en-US" sz="2400" dirty="0"/>
              <a:t> yang sangat </a:t>
            </a:r>
            <a:r>
              <a:rPr lang="en-US" sz="2400" dirty="0" err="1"/>
              <a:t>khusus</a:t>
            </a:r>
            <a:r>
              <a:rPr lang="en-US" sz="2400" dirty="0"/>
              <a:t>. Oleh </a:t>
            </a:r>
            <a:r>
              <a:rPr lang="en-US" sz="2400" dirty="0" err="1"/>
              <a:t>karena</a:t>
            </a:r>
            <a:r>
              <a:rPr lang="en-US" sz="2400" dirty="0"/>
              <a:t> </a:t>
            </a:r>
            <a:r>
              <a:rPr lang="en-US" sz="2400" dirty="0" err="1"/>
              <a:t>itu</a:t>
            </a:r>
            <a:r>
              <a:rPr lang="en-US" sz="2400" dirty="0"/>
              <a:t>, </a:t>
            </a:r>
            <a:r>
              <a:rPr lang="en-US" sz="2400" dirty="0" err="1"/>
              <a:t>hanya</a:t>
            </a:r>
            <a:r>
              <a:rPr lang="en-US" sz="2400" dirty="0"/>
              <a:t> </a:t>
            </a:r>
            <a:r>
              <a:rPr lang="en-US" sz="2400" dirty="0" err="1"/>
              <a:t>beberapa</a:t>
            </a:r>
            <a:r>
              <a:rPr lang="en-US" sz="2400" dirty="0"/>
              <a:t> </a:t>
            </a:r>
            <a:r>
              <a:rPr lang="en-US" sz="2400" dirty="0" err="1"/>
              <a:t>prinsip</a:t>
            </a:r>
            <a:r>
              <a:rPr lang="en-US" sz="2400" dirty="0"/>
              <a:t> </a:t>
            </a:r>
            <a:r>
              <a:rPr lang="en-US" sz="2400" dirty="0" err="1"/>
              <a:t>umum</a:t>
            </a:r>
            <a:r>
              <a:rPr lang="en-US" sz="2400" dirty="0"/>
              <a:t> yang </a:t>
            </a:r>
            <a:r>
              <a:rPr lang="en-US" sz="2400" dirty="0" err="1"/>
              <a:t>dibahas</a:t>
            </a:r>
            <a:r>
              <a:rPr lang="en-US" sz="2400" dirty="0"/>
              <a:t> di </a:t>
            </a:r>
            <a:r>
              <a:rPr lang="en-US" sz="2400" dirty="0" err="1"/>
              <a:t>sini</a:t>
            </a:r>
            <a:r>
              <a:rPr lang="en-US" sz="2400" dirty="0"/>
              <a:t>. Metode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membangun</a:t>
            </a:r>
            <a:r>
              <a:rPr lang="en-US" sz="2400" dirty="0"/>
              <a:t> </a:t>
            </a:r>
            <a:r>
              <a:rPr lang="en-US" sz="2400" dirty="0" err="1"/>
              <a:t>pohon</a:t>
            </a:r>
            <a:r>
              <a:rPr lang="en-US" sz="2400" dirty="0"/>
              <a:t> </a:t>
            </a:r>
            <a:r>
              <a:rPr lang="en-US" sz="2400" dirty="0" err="1"/>
              <a:t>filogenetik</a:t>
            </a:r>
            <a:r>
              <a:rPr lang="en-US" sz="2400" dirty="0"/>
              <a:t> </a:t>
            </a:r>
            <a:r>
              <a:rPr lang="en-US" sz="2400" dirty="0" err="1"/>
              <a:t>dapat</a:t>
            </a:r>
            <a:r>
              <a:rPr lang="en-US" sz="2400" dirty="0"/>
              <a:t> </a:t>
            </a:r>
            <a:r>
              <a:rPr lang="en-US" sz="2400" dirty="0" err="1"/>
              <a:t>diklasifikasikan</a:t>
            </a:r>
            <a:r>
              <a:rPr lang="en-US" sz="2400" dirty="0"/>
              <a:t> </a:t>
            </a:r>
            <a:r>
              <a:rPr lang="en-US" sz="2400" dirty="0" err="1"/>
              <a:t>menjadi</a:t>
            </a:r>
            <a:r>
              <a:rPr lang="en-US" sz="2400" dirty="0"/>
              <a:t> dua </a:t>
            </a:r>
            <a:r>
              <a:rPr lang="en-US" sz="2400" dirty="0" err="1"/>
              <a:t>jenis</a:t>
            </a:r>
            <a:r>
              <a:rPr lang="en-US" sz="2400" dirty="0"/>
              <a:t> </a:t>
            </a:r>
            <a:r>
              <a:rPr lang="en-US" sz="2400" dirty="0" err="1"/>
              <a:t>utama</a:t>
            </a:r>
            <a:r>
              <a:rPr lang="en-US" sz="2400" dirty="0"/>
              <a:t>:</a:t>
            </a:r>
          </a:p>
          <a:p>
            <a:pPr algn="just"/>
            <a:endParaRPr lang="en-US" sz="2400" dirty="0"/>
          </a:p>
          <a:p>
            <a:pPr marL="457200" indent="-457200" algn="just">
              <a:buAutoNum type="arabicParenBoth"/>
            </a:pPr>
            <a:r>
              <a:rPr lang="en-US" sz="2400" dirty="0"/>
              <a:t>Distance-based</a:t>
            </a:r>
          </a:p>
          <a:p>
            <a:pPr marL="977900" lvl="1" indent="-457200" algn="just">
              <a:buAutoNum type="arabicParenBoth"/>
            </a:pPr>
            <a:r>
              <a:rPr lang="en-HK" sz="2400" dirty="0"/>
              <a:t>Unweighted Pair Group Method </a:t>
            </a:r>
            <a:r>
              <a:rPr lang="en-US" sz="2400" dirty="0"/>
              <a:t>with Arithmetic mean (UPGMA)</a:t>
            </a:r>
          </a:p>
          <a:p>
            <a:pPr marL="977900" lvl="1" indent="-457200" algn="just">
              <a:buAutoNum type="arabicParenBoth"/>
            </a:pPr>
            <a:r>
              <a:rPr lang="en-US" sz="2400" dirty="0"/>
              <a:t>Neighbor </a:t>
            </a:r>
            <a:r>
              <a:rPr lang="en-HK" sz="2400" dirty="0"/>
              <a:t>Joining (NJ).</a:t>
            </a:r>
            <a:endParaRPr lang="en-US" sz="2400" dirty="0"/>
          </a:p>
          <a:p>
            <a:pPr marL="457200" indent="-457200" algn="just">
              <a:buAutoNum type="arabicParenBoth"/>
            </a:pPr>
            <a:r>
              <a:rPr lang="en-US" sz="2400" dirty="0"/>
              <a:t>Character-based, also </a:t>
            </a:r>
            <a:r>
              <a:rPr lang="en-HK" sz="2400" dirty="0"/>
              <a:t>called the discrete method</a:t>
            </a:r>
          </a:p>
          <a:p>
            <a:pPr marL="977900" lvl="1" indent="-457200" algn="just">
              <a:buAutoNum type="arabicParenBoth"/>
            </a:pPr>
            <a:r>
              <a:rPr lang="en-US" sz="2400" dirty="0"/>
              <a:t>Maximum Parsimony (MP)</a:t>
            </a:r>
          </a:p>
          <a:p>
            <a:pPr marL="977900" lvl="1" indent="-457200" algn="just">
              <a:buAutoNum type="arabicParenBoth"/>
            </a:pPr>
            <a:r>
              <a:rPr lang="en-US" sz="2400" dirty="0"/>
              <a:t>Maximum </a:t>
            </a:r>
            <a:r>
              <a:rPr lang="en-HK" sz="2400" dirty="0"/>
              <a:t>Likelihood (ML).</a:t>
            </a:r>
          </a:p>
          <a:p>
            <a:pPr algn="just"/>
            <a:endParaRPr lang="en-HK" dirty="0"/>
          </a:p>
        </p:txBody>
      </p:sp>
    </p:spTree>
    <p:extLst>
      <p:ext uri="{BB962C8B-B14F-4D97-AF65-F5344CB8AC3E}">
        <p14:creationId xmlns:p14="http://schemas.microsoft.com/office/powerpoint/2010/main" val="10490868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8250" y="875489"/>
            <a:ext cx="9618662" cy="642026"/>
          </a:xfrm>
        </p:spPr>
        <p:txBody>
          <a:bodyPr/>
          <a:lstStyle/>
          <a:p>
            <a:r>
              <a:rPr lang="en-AU" sz="2800" dirty="0"/>
              <a:t>Construction of the Phylogenetic Tree</a:t>
            </a:r>
            <a:endParaRPr lang="en-HK" sz="2800" dirty="0"/>
          </a:p>
        </p:txBody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8ABA6F95-747B-4FDF-946A-24A16ECC570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343525" y="37814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HK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FC7855-D76F-3CD3-89AB-4857DFFD3BAC}"/>
              </a:ext>
            </a:extLst>
          </p:cNvPr>
          <p:cNvSpPr/>
          <p:nvPr/>
        </p:nvSpPr>
        <p:spPr>
          <a:xfrm>
            <a:off x="1031358" y="1734088"/>
            <a:ext cx="3843670" cy="529665"/>
          </a:xfrm>
          <a:prstGeom prst="rect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0000"/>
                </a:solidFill>
              </a:rPr>
              <a:t>PHYLOGENETIC TREES</a:t>
            </a:r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78067B7F-F0FB-D0CA-68C8-59DB9789FF33}"/>
              </a:ext>
            </a:extLst>
          </p:cNvPr>
          <p:cNvSpPr/>
          <p:nvPr/>
        </p:nvSpPr>
        <p:spPr>
          <a:xfrm>
            <a:off x="2110561" y="2272580"/>
            <a:ext cx="660326" cy="703553"/>
          </a:xfrm>
          <a:prstGeom prst="downArrow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097EFC1-F475-3AB3-7D24-75CDEE2E45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1717" y="1517515"/>
            <a:ext cx="4796921" cy="4157331"/>
          </a:xfrm>
          <a:prstGeom prst="rect">
            <a:avLst/>
          </a:prstGeom>
        </p:spPr>
      </p:pic>
      <p:sp>
        <p:nvSpPr>
          <p:cNvPr id="12" name="Arrow: Down 11">
            <a:extLst>
              <a:ext uri="{FF2B5EF4-FFF2-40B4-BE49-F238E27FC236}">
                <a16:creationId xmlns:a16="http://schemas.microsoft.com/office/drawing/2014/main" id="{45B90AB8-710E-C361-304B-278C98863A34}"/>
              </a:ext>
            </a:extLst>
          </p:cNvPr>
          <p:cNvSpPr/>
          <p:nvPr/>
        </p:nvSpPr>
        <p:spPr>
          <a:xfrm>
            <a:off x="2110561" y="3755808"/>
            <a:ext cx="660326" cy="703553"/>
          </a:xfrm>
          <a:prstGeom prst="downArrow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0ADE2F3-91FF-F9B4-467A-390B895B1D63}"/>
              </a:ext>
            </a:extLst>
          </p:cNvPr>
          <p:cNvSpPr/>
          <p:nvPr/>
        </p:nvSpPr>
        <p:spPr>
          <a:xfrm>
            <a:off x="802691" y="3032384"/>
            <a:ext cx="4241192" cy="703554"/>
          </a:xfrm>
          <a:prstGeom prst="rect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EVOLUTIONARY HISTORY OF SEQUENCE / SPECIES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AD9E0A0-0B0C-B0AE-5F65-B7217EBB67FF}"/>
              </a:ext>
            </a:extLst>
          </p:cNvPr>
          <p:cNvSpPr/>
          <p:nvPr/>
        </p:nvSpPr>
        <p:spPr>
          <a:xfrm>
            <a:off x="802691" y="4509614"/>
            <a:ext cx="4241192" cy="1355921"/>
          </a:xfrm>
          <a:prstGeom prst="rect">
            <a:avLst/>
          </a:prstGeom>
          <a:solidFill>
            <a:srgbClr val="FFFF00"/>
          </a:solidFill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UNWEIGHTED PAIR-GROUP METHOD USING ARITHMATIC MEAN  (UPGMA)</a:t>
            </a:r>
          </a:p>
        </p:txBody>
      </p:sp>
    </p:spTree>
    <p:extLst>
      <p:ext uri="{BB962C8B-B14F-4D97-AF65-F5344CB8AC3E}">
        <p14:creationId xmlns:p14="http://schemas.microsoft.com/office/powerpoint/2010/main" val="17629958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0CEAA-ACDC-3079-C385-924E72A01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27AD4-2C9A-D178-7854-B43CF661A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749" y="973218"/>
            <a:ext cx="9867014" cy="738624"/>
          </a:xfrm>
        </p:spPr>
        <p:txBody>
          <a:bodyPr/>
          <a:lstStyle/>
          <a:p>
            <a:pPr algn="ctr"/>
            <a:r>
              <a:rPr lang="en-US" sz="2500" b="1" dirty="0"/>
              <a:t>UNWEIGHTED PAIR-GROUP METHOD USING ARITHMATIC MEAN  (UPGMA)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4F84CA-6AC3-FC6F-0A28-2ECFD6FB21F4}"/>
              </a:ext>
            </a:extLst>
          </p:cNvPr>
          <p:cNvSpPr/>
          <p:nvPr/>
        </p:nvSpPr>
        <p:spPr>
          <a:xfrm>
            <a:off x="1332411" y="1996178"/>
            <a:ext cx="8789784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200" b="1" dirty="0"/>
              <a:t>STEPS</a:t>
            </a:r>
            <a:r>
              <a:rPr lang="en-US" sz="3200" dirty="0"/>
              <a:t>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HK" sz="2800" dirty="0"/>
              <a:t>Align and Name Them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HK" sz="2800" dirty="0"/>
              <a:t>Compare sequence them using pairwise sequence alignment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HK" sz="2800" dirty="0"/>
              <a:t>Count the Mismatch and record them in the table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HK" sz="2800" dirty="0"/>
              <a:t>Complete the table by comparing all the sequences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HK" sz="2800" dirty="0"/>
              <a:t>Look for the lowest value to find the first group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HK" sz="2800" dirty="0"/>
              <a:t>By finding the arithmetic mean step by step and construct the tree.</a:t>
            </a:r>
          </a:p>
        </p:txBody>
      </p:sp>
    </p:spTree>
    <p:extLst>
      <p:ext uri="{BB962C8B-B14F-4D97-AF65-F5344CB8AC3E}">
        <p14:creationId xmlns:p14="http://schemas.microsoft.com/office/powerpoint/2010/main" val="19197472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29E5E-1FF3-D89E-77B8-926D67155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9E950-3AEE-C459-4F94-B5592704F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749" y="973218"/>
            <a:ext cx="9867014" cy="738624"/>
          </a:xfrm>
        </p:spPr>
        <p:txBody>
          <a:bodyPr/>
          <a:lstStyle/>
          <a:p>
            <a:pPr algn="ctr"/>
            <a:r>
              <a:rPr lang="en-US" sz="2500" b="1" dirty="0"/>
              <a:t>UNWEIGHTED PAIR-GROUP METHOD USING ARITHMATIC MEAN  (UPGMA)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E9DA191-7BBF-61BF-917E-25CE1835EC35}"/>
              </a:ext>
            </a:extLst>
          </p:cNvPr>
          <p:cNvSpPr/>
          <p:nvPr/>
        </p:nvSpPr>
        <p:spPr>
          <a:xfrm>
            <a:off x="1151658" y="1765488"/>
            <a:ext cx="8789784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200" b="1" dirty="0" err="1"/>
              <a:t>Contoh</a:t>
            </a:r>
            <a:r>
              <a:rPr lang="en-US" sz="3200" b="1" dirty="0"/>
              <a:t> </a:t>
            </a:r>
            <a:r>
              <a:rPr lang="en-US" sz="3200" b="1" dirty="0" err="1"/>
              <a:t>soal</a:t>
            </a:r>
            <a:r>
              <a:rPr lang="en-US" sz="3200" b="1" dirty="0"/>
              <a:t>:</a:t>
            </a:r>
          </a:p>
          <a:p>
            <a:pPr algn="just"/>
            <a:r>
              <a:rPr lang="en-US" sz="3200" dirty="0" err="1"/>
              <a:t>Misalkan</a:t>
            </a:r>
            <a:r>
              <a:rPr lang="en-US" sz="3200" dirty="0"/>
              <a:t> </a:t>
            </a:r>
            <a:r>
              <a:rPr lang="en-US" sz="3200" dirty="0" err="1"/>
              <a:t>diketahui</a:t>
            </a:r>
            <a:r>
              <a:rPr lang="en-US" sz="3200" dirty="0"/>
              <a:t> lime </a:t>
            </a:r>
            <a:r>
              <a:rPr lang="en-US" sz="3200" dirty="0" err="1"/>
              <a:t>sekuens</a:t>
            </a:r>
            <a:r>
              <a:rPr lang="en-US" sz="3200" dirty="0"/>
              <a:t> DNA (A,B,C,D,E) </a:t>
            </a:r>
            <a:r>
              <a:rPr lang="en-US" sz="3200" dirty="0" err="1"/>
              <a:t>berikut</a:t>
            </a:r>
            <a:r>
              <a:rPr lang="en-US" sz="3200" dirty="0"/>
              <a:t> </a:t>
            </a:r>
            <a:r>
              <a:rPr lang="en-US" sz="3200" dirty="0" err="1"/>
              <a:t>ini</a:t>
            </a:r>
            <a:r>
              <a:rPr lang="en-US" sz="3200" dirty="0"/>
              <a:t> </a:t>
            </a:r>
            <a:r>
              <a:rPr lang="en-US" sz="3200" dirty="0" err="1"/>
              <a:t>yaitu</a:t>
            </a:r>
            <a:endParaRPr lang="en-US" sz="3200" dirty="0"/>
          </a:p>
          <a:p>
            <a:pPr algn="ctr"/>
            <a:r>
              <a:rPr lang="en-US" sz="3200" dirty="0"/>
              <a:t>A : ATCGATCG</a:t>
            </a:r>
          </a:p>
          <a:p>
            <a:pPr algn="ctr"/>
            <a:r>
              <a:rPr lang="en-US" sz="3200" dirty="0"/>
              <a:t>B : GTAGACGA</a:t>
            </a:r>
          </a:p>
          <a:p>
            <a:pPr algn="ctr"/>
            <a:r>
              <a:rPr lang="en-US" sz="3200" dirty="0"/>
              <a:t>C : ACCGTACG</a:t>
            </a:r>
          </a:p>
          <a:p>
            <a:pPr algn="ctr"/>
            <a:r>
              <a:rPr lang="en-US" sz="3200" dirty="0"/>
              <a:t>D : TCAGTCAG</a:t>
            </a:r>
          </a:p>
          <a:p>
            <a:pPr algn="ctr"/>
            <a:r>
              <a:rPr lang="en-US" sz="3200" dirty="0"/>
              <a:t>E  : GCCTACAG</a:t>
            </a:r>
            <a:endParaRPr lang="en-HK" sz="2800" dirty="0"/>
          </a:p>
        </p:txBody>
      </p:sp>
    </p:spTree>
    <p:extLst>
      <p:ext uri="{BB962C8B-B14F-4D97-AF65-F5344CB8AC3E}">
        <p14:creationId xmlns:p14="http://schemas.microsoft.com/office/powerpoint/2010/main" val="16160424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62D70-E4F7-09AD-11E3-526869F01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93653-7C31-380A-6CA1-A8B7F4112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749" y="973218"/>
            <a:ext cx="9867014" cy="738624"/>
          </a:xfrm>
        </p:spPr>
        <p:txBody>
          <a:bodyPr/>
          <a:lstStyle/>
          <a:p>
            <a:pPr algn="ctr"/>
            <a:r>
              <a:rPr lang="en-US" sz="2500" b="1" dirty="0"/>
              <a:t>UNWEIGHTED PAIR-GROUP METHOD USING ARITHMATIC MEAN  (UPGMA)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009DB6-8547-BC82-3DF9-8EC97314A8EA}"/>
              </a:ext>
            </a:extLst>
          </p:cNvPr>
          <p:cNvSpPr/>
          <p:nvPr/>
        </p:nvSpPr>
        <p:spPr>
          <a:xfrm>
            <a:off x="1342832" y="4778562"/>
            <a:ext cx="8789784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500" b="1" dirty="0"/>
              <a:t>PASANGAN A DAN B:</a:t>
            </a:r>
          </a:p>
          <a:p>
            <a:pPr algn="ctr"/>
            <a:r>
              <a:rPr lang="en-US" sz="2500" dirty="0"/>
              <a:t>A : ATCGATCG</a:t>
            </a:r>
          </a:p>
          <a:p>
            <a:pPr algn="ctr"/>
            <a:r>
              <a:rPr lang="en-US" sz="2500" dirty="0"/>
              <a:t>B : GTAGACGA</a:t>
            </a:r>
          </a:p>
          <a:p>
            <a:pPr algn="just"/>
            <a:r>
              <a:rPr lang="en-HK" sz="2500" dirty="0" err="1">
                <a:solidFill>
                  <a:srgbClr val="FF0000"/>
                </a:solidFill>
              </a:rPr>
              <a:t>Jumlah</a:t>
            </a:r>
            <a:r>
              <a:rPr lang="en-HK" sz="2500" dirty="0">
                <a:solidFill>
                  <a:srgbClr val="FF0000"/>
                </a:solidFill>
              </a:rPr>
              <a:t> Mismatch = 5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BA182A9-C7EF-3947-1810-6217C3FAA3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5305271"/>
              </p:ext>
            </p:extLst>
          </p:nvPr>
        </p:nvGraphicFramePr>
        <p:xfrm>
          <a:off x="1877132" y="1951519"/>
          <a:ext cx="7125762" cy="249978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87627">
                  <a:extLst>
                    <a:ext uri="{9D8B030D-6E8A-4147-A177-3AD203B41FA5}">
                      <a16:colId xmlns:a16="http://schemas.microsoft.com/office/drawing/2014/main" val="1437232487"/>
                    </a:ext>
                  </a:extLst>
                </a:gridCol>
                <a:gridCol w="1187627">
                  <a:extLst>
                    <a:ext uri="{9D8B030D-6E8A-4147-A177-3AD203B41FA5}">
                      <a16:colId xmlns:a16="http://schemas.microsoft.com/office/drawing/2014/main" val="479385730"/>
                    </a:ext>
                  </a:extLst>
                </a:gridCol>
                <a:gridCol w="1187627">
                  <a:extLst>
                    <a:ext uri="{9D8B030D-6E8A-4147-A177-3AD203B41FA5}">
                      <a16:colId xmlns:a16="http://schemas.microsoft.com/office/drawing/2014/main" val="3619448033"/>
                    </a:ext>
                  </a:extLst>
                </a:gridCol>
                <a:gridCol w="1187627">
                  <a:extLst>
                    <a:ext uri="{9D8B030D-6E8A-4147-A177-3AD203B41FA5}">
                      <a16:colId xmlns:a16="http://schemas.microsoft.com/office/drawing/2014/main" val="3613538614"/>
                    </a:ext>
                  </a:extLst>
                </a:gridCol>
                <a:gridCol w="1187627">
                  <a:extLst>
                    <a:ext uri="{9D8B030D-6E8A-4147-A177-3AD203B41FA5}">
                      <a16:colId xmlns:a16="http://schemas.microsoft.com/office/drawing/2014/main" val="2241859415"/>
                    </a:ext>
                  </a:extLst>
                </a:gridCol>
                <a:gridCol w="1187627">
                  <a:extLst>
                    <a:ext uri="{9D8B030D-6E8A-4147-A177-3AD203B41FA5}">
                      <a16:colId xmlns:a16="http://schemas.microsoft.com/office/drawing/2014/main" val="37117094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87136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14301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1929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4995318"/>
                  </a:ext>
                </a:extLst>
              </a:tr>
              <a:tr h="44238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45833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0604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822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00B0E-6D74-8FF7-A18F-7F05CE830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84D95-CE1B-F60C-0CCE-4E2287169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749" y="973218"/>
            <a:ext cx="9867014" cy="738624"/>
          </a:xfrm>
        </p:spPr>
        <p:txBody>
          <a:bodyPr/>
          <a:lstStyle/>
          <a:p>
            <a:pPr algn="ctr"/>
            <a:r>
              <a:rPr lang="en-US" sz="2500" b="1" dirty="0"/>
              <a:t>UNWEIGHTED PAIR-GROUP METHOD USING ARITHMATIC MEAN  (UPGMA)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D058EC-64DC-FCF9-49AE-FEF29A340AAA}"/>
              </a:ext>
            </a:extLst>
          </p:cNvPr>
          <p:cNvSpPr/>
          <p:nvPr/>
        </p:nvSpPr>
        <p:spPr>
          <a:xfrm>
            <a:off x="1342832" y="4706159"/>
            <a:ext cx="8789784" cy="17389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500" b="1" dirty="0"/>
              <a:t>PASANGAN A DAN C:</a:t>
            </a:r>
          </a:p>
          <a:p>
            <a:pPr algn="ctr"/>
            <a:r>
              <a:rPr lang="en-US" sz="2500" dirty="0"/>
              <a:t>A  : ATCGATCG</a:t>
            </a:r>
          </a:p>
          <a:p>
            <a:pPr algn="ctr"/>
            <a:r>
              <a:rPr lang="en-US" sz="2800" dirty="0"/>
              <a:t>  C   : ACCGTACG</a:t>
            </a:r>
          </a:p>
          <a:p>
            <a:pPr algn="just"/>
            <a:r>
              <a:rPr lang="en-HK" sz="2500" dirty="0" err="1">
                <a:solidFill>
                  <a:srgbClr val="FF0000"/>
                </a:solidFill>
              </a:rPr>
              <a:t>Jumlah</a:t>
            </a:r>
            <a:r>
              <a:rPr lang="en-HK" sz="2500" dirty="0">
                <a:solidFill>
                  <a:srgbClr val="FF0000"/>
                </a:solidFill>
              </a:rPr>
              <a:t> Mismatch = 3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B1C6350-F719-DF50-DFCB-87AA0DFA61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6189652"/>
              </p:ext>
            </p:extLst>
          </p:nvPr>
        </p:nvGraphicFramePr>
        <p:xfrm>
          <a:off x="1877132" y="1951519"/>
          <a:ext cx="7125762" cy="249978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87627">
                  <a:extLst>
                    <a:ext uri="{9D8B030D-6E8A-4147-A177-3AD203B41FA5}">
                      <a16:colId xmlns:a16="http://schemas.microsoft.com/office/drawing/2014/main" val="1437232487"/>
                    </a:ext>
                  </a:extLst>
                </a:gridCol>
                <a:gridCol w="1187627">
                  <a:extLst>
                    <a:ext uri="{9D8B030D-6E8A-4147-A177-3AD203B41FA5}">
                      <a16:colId xmlns:a16="http://schemas.microsoft.com/office/drawing/2014/main" val="479385730"/>
                    </a:ext>
                  </a:extLst>
                </a:gridCol>
                <a:gridCol w="1187627">
                  <a:extLst>
                    <a:ext uri="{9D8B030D-6E8A-4147-A177-3AD203B41FA5}">
                      <a16:colId xmlns:a16="http://schemas.microsoft.com/office/drawing/2014/main" val="3619448033"/>
                    </a:ext>
                  </a:extLst>
                </a:gridCol>
                <a:gridCol w="1187627">
                  <a:extLst>
                    <a:ext uri="{9D8B030D-6E8A-4147-A177-3AD203B41FA5}">
                      <a16:colId xmlns:a16="http://schemas.microsoft.com/office/drawing/2014/main" val="3613538614"/>
                    </a:ext>
                  </a:extLst>
                </a:gridCol>
                <a:gridCol w="1187627">
                  <a:extLst>
                    <a:ext uri="{9D8B030D-6E8A-4147-A177-3AD203B41FA5}">
                      <a16:colId xmlns:a16="http://schemas.microsoft.com/office/drawing/2014/main" val="2241859415"/>
                    </a:ext>
                  </a:extLst>
                </a:gridCol>
                <a:gridCol w="1187627">
                  <a:extLst>
                    <a:ext uri="{9D8B030D-6E8A-4147-A177-3AD203B41FA5}">
                      <a16:colId xmlns:a16="http://schemas.microsoft.com/office/drawing/2014/main" val="37117094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87136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14301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1929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4995318"/>
                  </a:ext>
                </a:extLst>
              </a:tr>
              <a:tr h="44238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45833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0604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11010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89385-CA96-EB42-FE4C-EA474C945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7B1D2-996D-8058-AA88-A4EE2F278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749" y="973218"/>
            <a:ext cx="9867014" cy="738624"/>
          </a:xfrm>
        </p:spPr>
        <p:txBody>
          <a:bodyPr/>
          <a:lstStyle/>
          <a:p>
            <a:pPr algn="ctr"/>
            <a:r>
              <a:rPr lang="en-US" sz="2500" b="1" dirty="0"/>
              <a:t>UNWEIGHTED PAIR-GROUP METHOD USING ARITHMATIC MEAN  (UPGMA)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A8EC2C6-EC78-31E4-020E-DFD849B1F1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0811501"/>
              </p:ext>
            </p:extLst>
          </p:nvPr>
        </p:nvGraphicFramePr>
        <p:xfrm>
          <a:off x="1877132" y="1951519"/>
          <a:ext cx="7607112" cy="36093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7852">
                  <a:extLst>
                    <a:ext uri="{9D8B030D-6E8A-4147-A177-3AD203B41FA5}">
                      <a16:colId xmlns:a16="http://schemas.microsoft.com/office/drawing/2014/main" val="1437232487"/>
                    </a:ext>
                  </a:extLst>
                </a:gridCol>
                <a:gridCol w="1267852">
                  <a:extLst>
                    <a:ext uri="{9D8B030D-6E8A-4147-A177-3AD203B41FA5}">
                      <a16:colId xmlns:a16="http://schemas.microsoft.com/office/drawing/2014/main" val="479385730"/>
                    </a:ext>
                  </a:extLst>
                </a:gridCol>
                <a:gridCol w="1267852">
                  <a:extLst>
                    <a:ext uri="{9D8B030D-6E8A-4147-A177-3AD203B41FA5}">
                      <a16:colId xmlns:a16="http://schemas.microsoft.com/office/drawing/2014/main" val="3619448033"/>
                    </a:ext>
                  </a:extLst>
                </a:gridCol>
                <a:gridCol w="1267852">
                  <a:extLst>
                    <a:ext uri="{9D8B030D-6E8A-4147-A177-3AD203B41FA5}">
                      <a16:colId xmlns:a16="http://schemas.microsoft.com/office/drawing/2014/main" val="3613538614"/>
                    </a:ext>
                  </a:extLst>
                </a:gridCol>
                <a:gridCol w="1267852">
                  <a:extLst>
                    <a:ext uri="{9D8B030D-6E8A-4147-A177-3AD203B41FA5}">
                      <a16:colId xmlns:a16="http://schemas.microsoft.com/office/drawing/2014/main" val="2241859415"/>
                    </a:ext>
                  </a:extLst>
                </a:gridCol>
                <a:gridCol w="1267852">
                  <a:extLst>
                    <a:ext uri="{9D8B030D-6E8A-4147-A177-3AD203B41FA5}">
                      <a16:colId xmlns:a16="http://schemas.microsoft.com/office/drawing/2014/main" val="3711709464"/>
                    </a:ext>
                  </a:extLst>
                </a:gridCol>
              </a:tblGrid>
              <a:tr h="594114">
                <a:tc>
                  <a:txBody>
                    <a:bodyPr/>
                    <a:lstStyle/>
                    <a:p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8713673"/>
                  </a:ext>
                </a:extLst>
              </a:tr>
              <a:tr h="594114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1430145"/>
                  </a:ext>
                </a:extLst>
              </a:tr>
              <a:tr h="594114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192969"/>
                  </a:ext>
                </a:extLst>
              </a:tr>
              <a:tr h="594114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4995318"/>
                  </a:ext>
                </a:extLst>
              </a:tr>
              <a:tr h="638739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4583316"/>
                  </a:ext>
                </a:extLst>
              </a:tr>
              <a:tr h="594114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0604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64662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3267D-B904-7D74-DE47-81FCB5601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F83F5-7848-5FD9-44C4-EDEEFF257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749" y="973218"/>
            <a:ext cx="9867014" cy="738624"/>
          </a:xfrm>
        </p:spPr>
        <p:txBody>
          <a:bodyPr/>
          <a:lstStyle/>
          <a:p>
            <a:pPr algn="ctr"/>
            <a:r>
              <a:rPr lang="en-US" sz="2500" b="1" dirty="0"/>
              <a:t>UNWEIGHTED PAIR-GROUP METHOD USING ARITHMATIC MEAN  (UPGMA)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3131BA3-238F-D401-5BA9-80B76D4DF0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6471887"/>
              </p:ext>
            </p:extLst>
          </p:nvPr>
        </p:nvGraphicFramePr>
        <p:xfrm>
          <a:off x="1356137" y="2106138"/>
          <a:ext cx="3460410" cy="3108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735">
                  <a:extLst>
                    <a:ext uri="{9D8B030D-6E8A-4147-A177-3AD203B41FA5}">
                      <a16:colId xmlns:a16="http://schemas.microsoft.com/office/drawing/2014/main" val="1437232487"/>
                    </a:ext>
                  </a:extLst>
                </a:gridCol>
                <a:gridCol w="576735">
                  <a:extLst>
                    <a:ext uri="{9D8B030D-6E8A-4147-A177-3AD203B41FA5}">
                      <a16:colId xmlns:a16="http://schemas.microsoft.com/office/drawing/2014/main" val="479385730"/>
                    </a:ext>
                  </a:extLst>
                </a:gridCol>
                <a:gridCol w="576735">
                  <a:extLst>
                    <a:ext uri="{9D8B030D-6E8A-4147-A177-3AD203B41FA5}">
                      <a16:colId xmlns:a16="http://schemas.microsoft.com/office/drawing/2014/main" val="3619448033"/>
                    </a:ext>
                  </a:extLst>
                </a:gridCol>
                <a:gridCol w="576735">
                  <a:extLst>
                    <a:ext uri="{9D8B030D-6E8A-4147-A177-3AD203B41FA5}">
                      <a16:colId xmlns:a16="http://schemas.microsoft.com/office/drawing/2014/main" val="3613538614"/>
                    </a:ext>
                  </a:extLst>
                </a:gridCol>
                <a:gridCol w="576735">
                  <a:extLst>
                    <a:ext uri="{9D8B030D-6E8A-4147-A177-3AD203B41FA5}">
                      <a16:colId xmlns:a16="http://schemas.microsoft.com/office/drawing/2014/main" val="2241859415"/>
                    </a:ext>
                  </a:extLst>
                </a:gridCol>
                <a:gridCol w="576735">
                  <a:extLst>
                    <a:ext uri="{9D8B030D-6E8A-4147-A177-3AD203B41FA5}">
                      <a16:colId xmlns:a16="http://schemas.microsoft.com/office/drawing/2014/main" val="3711709464"/>
                    </a:ext>
                  </a:extLst>
                </a:gridCol>
              </a:tblGrid>
              <a:tr h="381812">
                <a:tc>
                  <a:txBody>
                    <a:bodyPr/>
                    <a:lstStyle/>
                    <a:p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8713673"/>
                  </a:ext>
                </a:extLst>
              </a:tr>
              <a:tr h="381812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1430145"/>
                  </a:ext>
                </a:extLst>
              </a:tr>
              <a:tr h="381812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192969"/>
                  </a:ext>
                </a:extLst>
              </a:tr>
              <a:tr h="381812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4995318"/>
                  </a:ext>
                </a:extLst>
              </a:tr>
              <a:tr h="381812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4583316"/>
                  </a:ext>
                </a:extLst>
              </a:tr>
              <a:tr h="381812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060456"/>
                  </a:ext>
                </a:extLst>
              </a:tr>
            </a:tbl>
          </a:graphicData>
        </a:graphic>
      </p:graphicFrame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DAAB289-84A4-13D7-D014-CD8278C93D81}"/>
              </a:ext>
            </a:extLst>
          </p:cNvPr>
          <p:cNvCxnSpPr/>
          <p:nvPr/>
        </p:nvCxnSpPr>
        <p:spPr>
          <a:xfrm>
            <a:off x="584791" y="2881423"/>
            <a:ext cx="66985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67A4EAF-CC6A-2E1A-0C57-5F2ADA2966B9}"/>
              </a:ext>
            </a:extLst>
          </p:cNvPr>
          <p:cNvCxnSpPr>
            <a:cxnSpLocks/>
          </p:cNvCxnSpPr>
          <p:nvPr/>
        </p:nvCxnSpPr>
        <p:spPr>
          <a:xfrm>
            <a:off x="3359889" y="1416958"/>
            <a:ext cx="0" cy="5075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0FCD7847-2074-5485-8C1C-95226403CD6B}"/>
              </a:ext>
            </a:extLst>
          </p:cNvPr>
          <p:cNvSpPr/>
          <p:nvPr/>
        </p:nvSpPr>
        <p:spPr>
          <a:xfrm>
            <a:off x="5071729" y="2126872"/>
            <a:ext cx="5380076" cy="44627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b="1" dirty="0"/>
              <a:t>STEPS</a:t>
            </a:r>
            <a:r>
              <a:rPr lang="en-US" sz="2400" dirty="0"/>
              <a:t>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HK" sz="2000" dirty="0"/>
              <a:t>Once the table is finished, choose the lowest value to determine the first group.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HK" sz="2000" dirty="0"/>
              <a:t>The lowest number indicates that the two intersecting sequences were the last to diverge and are the most closely related to one another.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HK" sz="2000" dirty="0"/>
              <a:t>Once the first group has been chosen, the matrix must be modified. 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HK" sz="2000" dirty="0"/>
              <a:t>We now remove C from both sides and treat A and C as a single entity. 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HK" sz="2000" dirty="0"/>
              <a:t>Then using the average determine the next group. </a:t>
            </a:r>
          </a:p>
          <a:p>
            <a:pPr marL="457200" indent="-457200" algn="just">
              <a:buFont typeface="+mj-lt"/>
              <a:buAutoNum type="arabicPeriod"/>
            </a:pPr>
            <a:endParaRPr lang="en-HK" sz="2000" dirty="0"/>
          </a:p>
        </p:txBody>
      </p:sp>
    </p:spTree>
    <p:extLst>
      <p:ext uri="{BB962C8B-B14F-4D97-AF65-F5344CB8AC3E}">
        <p14:creationId xmlns:p14="http://schemas.microsoft.com/office/powerpoint/2010/main" val="39846073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B9093-5C4A-59FE-3644-31D7A0BF6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2775B-B36D-904C-4269-544FBBBE9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525" y="832615"/>
            <a:ext cx="9867014" cy="738624"/>
          </a:xfrm>
        </p:spPr>
        <p:txBody>
          <a:bodyPr/>
          <a:lstStyle/>
          <a:p>
            <a:pPr algn="ctr"/>
            <a:r>
              <a:rPr lang="en-US" sz="2000" b="1" dirty="0"/>
              <a:t>UNWEIGHTED PAIR-GROUP METHOD USING ARITHMATIC MEAN  (UPGMA)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23A0C12-920F-6AB4-AE85-BCFD17530B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8089281"/>
              </p:ext>
            </p:extLst>
          </p:nvPr>
        </p:nvGraphicFramePr>
        <p:xfrm>
          <a:off x="1005262" y="2031710"/>
          <a:ext cx="3460410" cy="3108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735">
                  <a:extLst>
                    <a:ext uri="{9D8B030D-6E8A-4147-A177-3AD203B41FA5}">
                      <a16:colId xmlns:a16="http://schemas.microsoft.com/office/drawing/2014/main" val="1437232487"/>
                    </a:ext>
                  </a:extLst>
                </a:gridCol>
                <a:gridCol w="576735">
                  <a:extLst>
                    <a:ext uri="{9D8B030D-6E8A-4147-A177-3AD203B41FA5}">
                      <a16:colId xmlns:a16="http://schemas.microsoft.com/office/drawing/2014/main" val="479385730"/>
                    </a:ext>
                  </a:extLst>
                </a:gridCol>
                <a:gridCol w="576735">
                  <a:extLst>
                    <a:ext uri="{9D8B030D-6E8A-4147-A177-3AD203B41FA5}">
                      <a16:colId xmlns:a16="http://schemas.microsoft.com/office/drawing/2014/main" val="3619448033"/>
                    </a:ext>
                  </a:extLst>
                </a:gridCol>
                <a:gridCol w="576735">
                  <a:extLst>
                    <a:ext uri="{9D8B030D-6E8A-4147-A177-3AD203B41FA5}">
                      <a16:colId xmlns:a16="http://schemas.microsoft.com/office/drawing/2014/main" val="3613538614"/>
                    </a:ext>
                  </a:extLst>
                </a:gridCol>
                <a:gridCol w="576735">
                  <a:extLst>
                    <a:ext uri="{9D8B030D-6E8A-4147-A177-3AD203B41FA5}">
                      <a16:colId xmlns:a16="http://schemas.microsoft.com/office/drawing/2014/main" val="2241859415"/>
                    </a:ext>
                  </a:extLst>
                </a:gridCol>
                <a:gridCol w="576735">
                  <a:extLst>
                    <a:ext uri="{9D8B030D-6E8A-4147-A177-3AD203B41FA5}">
                      <a16:colId xmlns:a16="http://schemas.microsoft.com/office/drawing/2014/main" val="3711709464"/>
                    </a:ext>
                  </a:extLst>
                </a:gridCol>
              </a:tblGrid>
              <a:tr h="381812">
                <a:tc>
                  <a:txBody>
                    <a:bodyPr/>
                    <a:lstStyle/>
                    <a:p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8713673"/>
                  </a:ext>
                </a:extLst>
              </a:tr>
              <a:tr h="381812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1430145"/>
                  </a:ext>
                </a:extLst>
              </a:tr>
              <a:tr h="381812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192969"/>
                  </a:ext>
                </a:extLst>
              </a:tr>
              <a:tr h="381812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4995318"/>
                  </a:ext>
                </a:extLst>
              </a:tr>
              <a:tr h="381812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4583316"/>
                  </a:ext>
                </a:extLst>
              </a:tr>
              <a:tr h="381812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060456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15B15E20-310F-D494-8CA3-62A73681573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44125084"/>
                  </p:ext>
                </p:extLst>
              </p:nvPr>
            </p:nvGraphicFramePr>
            <p:xfrm>
              <a:off x="5811662" y="1522810"/>
              <a:ext cx="3573826" cy="2590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37886">
                      <a:extLst>
                        <a:ext uri="{9D8B030D-6E8A-4147-A177-3AD203B41FA5}">
                          <a16:colId xmlns:a16="http://schemas.microsoft.com/office/drawing/2014/main" val="1437232487"/>
                        </a:ext>
                      </a:extLst>
                    </a:gridCol>
                    <a:gridCol w="752134">
                      <a:extLst>
                        <a:ext uri="{9D8B030D-6E8A-4147-A177-3AD203B41FA5}">
                          <a16:colId xmlns:a16="http://schemas.microsoft.com/office/drawing/2014/main" val="479385730"/>
                        </a:ext>
                      </a:extLst>
                    </a:gridCol>
                    <a:gridCol w="601382">
                      <a:extLst>
                        <a:ext uri="{9D8B030D-6E8A-4147-A177-3AD203B41FA5}">
                          <a16:colId xmlns:a16="http://schemas.microsoft.com/office/drawing/2014/main" val="3619448033"/>
                        </a:ext>
                      </a:extLst>
                    </a:gridCol>
                    <a:gridCol w="691212">
                      <a:extLst>
                        <a:ext uri="{9D8B030D-6E8A-4147-A177-3AD203B41FA5}">
                          <a16:colId xmlns:a16="http://schemas.microsoft.com/office/drawing/2014/main" val="2241859415"/>
                        </a:ext>
                      </a:extLst>
                    </a:gridCol>
                    <a:gridCol w="691212">
                      <a:extLst>
                        <a:ext uri="{9D8B030D-6E8A-4147-A177-3AD203B41FA5}">
                          <a16:colId xmlns:a16="http://schemas.microsoft.com/office/drawing/2014/main" val="3711709464"/>
                        </a:ext>
                      </a:extLst>
                    </a:gridCol>
                  </a:tblGrid>
                  <a:tr h="461275">
                    <a:tc>
                      <a:txBody>
                        <a:bodyPr/>
                        <a:lstStyle/>
                        <a:p>
                          <a:endParaRPr lang="en-US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/>
                            <a:t>A/C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/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18713673"/>
                      </a:ext>
                    </a:extLst>
                  </a:tr>
                  <a:tr h="4612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/>
                            <a:t>A/C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1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</m:oMath>
                            </m:oMathPara>
                          </a14:m>
                          <a:endParaRPr 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61430145"/>
                      </a:ext>
                    </a:extLst>
                  </a:tr>
                  <a:tr h="4612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2192969"/>
                      </a:ext>
                    </a:extLst>
                  </a:tr>
                  <a:tr h="4612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4995318"/>
                      </a:ext>
                    </a:extLst>
                  </a:tr>
                  <a:tr h="4612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1458331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15B15E20-310F-D494-8CA3-62A73681573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44125084"/>
                  </p:ext>
                </p:extLst>
              </p:nvPr>
            </p:nvGraphicFramePr>
            <p:xfrm>
              <a:off x="5811662" y="1522810"/>
              <a:ext cx="3573826" cy="2590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37886">
                      <a:extLst>
                        <a:ext uri="{9D8B030D-6E8A-4147-A177-3AD203B41FA5}">
                          <a16:colId xmlns:a16="http://schemas.microsoft.com/office/drawing/2014/main" val="1437232487"/>
                        </a:ext>
                      </a:extLst>
                    </a:gridCol>
                    <a:gridCol w="752134">
                      <a:extLst>
                        <a:ext uri="{9D8B030D-6E8A-4147-A177-3AD203B41FA5}">
                          <a16:colId xmlns:a16="http://schemas.microsoft.com/office/drawing/2014/main" val="479385730"/>
                        </a:ext>
                      </a:extLst>
                    </a:gridCol>
                    <a:gridCol w="601382">
                      <a:extLst>
                        <a:ext uri="{9D8B030D-6E8A-4147-A177-3AD203B41FA5}">
                          <a16:colId xmlns:a16="http://schemas.microsoft.com/office/drawing/2014/main" val="3619448033"/>
                        </a:ext>
                      </a:extLst>
                    </a:gridCol>
                    <a:gridCol w="691212">
                      <a:extLst>
                        <a:ext uri="{9D8B030D-6E8A-4147-A177-3AD203B41FA5}">
                          <a16:colId xmlns:a16="http://schemas.microsoft.com/office/drawing/2014/main" val="2241859415"/>
                        </a:ext>
                      </a:extLst>
                    </a:gridCol>
                    <a:gridCol w="691212">
                      <a:extLst>
                        <a:ext uri="{9D8B030D-6E8A-4147-A177-3AD203B41FA5}">
                          <a16:colId xmlns:a16="http://schemas.microsoft.com/office/drawing/2014/main" val="3711709464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endParaRPr lang="en-US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/>
                            <a:t>A/C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/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18713673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/>
                            <a:t>A/C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4646" t="-110588" r="-231313" b="-3352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61430145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2192969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4995318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1458331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Arrow: Right 6">
            <a:extLst>
              <a:ext uri="{FF2B5EF4-FFF2-40B4-BE49-F238E27FC236}">
                <a16:creationId xmlns:a16="http://schemas.microsoft.com/office/drawing/2014/main" id="{B7699838-41F5-FC19-4D07-B8237AA52117}"/>
              </a:ext>
            </a:extLst>
          </p:cNvPr>
          <p:cNvSpPr/>
          <p:nvPr/>
        </p:nvSpPr>
        <p:spPr>
          <a:xfrm>
            <a:off x="4657061" y="2133378"/>
            <a:ext cx="956931" cy="687351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423E48B-2208-3959-4B7D-17B70977AC78}"/>
              </a:ext>
            </a:extLst>
          </p:cNvPr>
          <p:cNvCxnSpPr/>
          <p:nvPr/>
        </p:nvCxnSpPr>
        <p:spPr>
          <a:xfrm>
            <a:off x="893135" y="5592726"/>
            <a:ext cx="0" cy="10632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DBEE8A2-1A06-497C-A8B9-482CC1FF42FC}"/>
              </a:ext>
            </a:extLst>
          </p:cNvPr>
          <p:cNvCxnSpPr>
            <a:cxnSpLocks/>
          </p:cNvCxnSpPr>
          <p:nvPr/>
        </p:nvCxnSpPr>
        <p:spPr>
          <a:xfrm flipH="1">
            <a:off x="893135" y="5592726"/>
            <a:ext cx="155944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10B417D-3C98-4938-3068-3D26C2128750}"/>
              </a:ext>
            </a:extLst>
          </p:cNvPr>
          <p:cNvCxnSpPr>
            <a:cxnSpLocks/>
          </p:cNvCxnSpPr>
          <p:nvPr/>
        </p:nvCxnSpPr>
        <p:spPr>
          <a:xfrm flipH="1">
            <a:off x="893135" y="6655981"/>
            <a:ext cx="155944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225D395-5FBF-8A8C-4A65-B8840A4851D6}"/>
              </a:ext>
            </a:extLst>
          </p:cNvPr>
          <p:cNvCxnSpPr>
            <a:cxnSpLocks/>
          </p:cNvCxnSpPr>
          <p:nvPr/>
        </p:nvCxnSpPr>
        <p:spPr>
          <a:xfrm>
            <a:off x="2981947" y="2169042"/>
            <a:ext cx="0" cy="17756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DF56E49-BBB0-C01D-6A23-B3ADE76CD6A6}"/>
              </a:ext>
            </a:extLst>
          </p:cNvPr>
          <p:cNvCxnSpPr/>
          <p:nvPr/>
        </p:nvCxnSpPr>
        <p:spPr>
          <a:xfrm>
            <a:off x="1083234" y="3827497"/>
            <a:ext cx="32796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9DC90606-15EB-0F37-C246-294E36B1E704}"/>
              </a:ext>
            </a:extLst>
          </p:cNvPr>
          <p:cNvSpPr/>
          <p:nvPr/>
        </p:nvSpPr>
        <p:spPr>
          <a:xfrm>
            <a:off x="2636874" y="5368104"/>
            <a:ext cx="1045535" cy="51036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1EA6EEE-592A-AE2B-1904-E920D35518CA}"/>
              </a:ext>
            </a:extLst>
          </p:cNvPr>
          <p:cNvSpPr/>
          <p:nvPr/>
        </p:nvSpPr>
        <p:spPr>
          <a:xfrm>
            <a:off x="2636873" y="6426095"/>
            <a:ext cx="1045535" cy="51036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270DEBD4-E3C9-3E96-DF7E-A1A2D1F94C3D}"/>
                  </a:ext>
                </a:extLst>
              </p:cNvPr>
              <p:cNvSpPr/>
              <p:nvPr/>
            </p:nvSpPr>
            <p:spPr>
              <a:xfrm>
                <a:off x="4784658" y="4448441"/>
                <a:ext cx="5645881" cy="2169041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457200" indent="-457200" algn="ctr">
                  <a:buAutoNum type="arabicPeriod"/>
                </a:pPr>
                <a:r>
                  <a:rPr lang="en-US" dirty="0"/>
                  <a:t>We have A and C, B, D, and E on both sides.</a:t>
                </a:r>
              </a:p>
              <a:p>
                <a:pPr marL="457200" indent="-457200" algn="ctr">
                  <a:buAutoNum type="arabicPeriod"/>
                </a:pPr>
                <a:r>
                  <a:rPr lang="en-US" dirty="0"/>
                  <a:t>It can be found as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5+7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270DEBD4-E3C9-3E96-DF7E-A1A2D1F94C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4658" y="4448441"/>
                <a:ext cx="5645881" cy="216904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64539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A8A1D-5F42-E33D-5DCC-560C80160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7305C-65E8-BC99-6202-15B2263A5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525" y="832615"/>
            <a:ext cx="9867014" cy="738624"/>
          </a:xfrm>
        </p:spPr>
        <p:txBody>
          <a:bodyPr/>
          <a:lstStyle/>
          <a:p>
            <a:pPr algn="ctr"/>
            <a:r>
              <a:rPr lang="en-US" sz="2000" b="1" dirty="0"/>
              <a:t>UNWEIGHTED PAIR-GROUP METHOD USING ARITHMATIC MEAN  (UPGMA)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343EB02-D477-6D90-57D7-97E8E4950A0D}"/>
              </a:ext>
            </a:extLst>
          </p:cNvPr>
          <p:cNvGraphicFramePr>
            <a:graphicFrameLocks noGrp="1"/>
          </p:cNvGraphicFramePr>
          <p:nvPr/>
        </p:nvGraphicFramePr>
        <p:xfrm>
          <a:off x="1005262" y="2031710"/>
          <a:ext cx="3460410" cy="3108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735">
                  <a:extLst>
                    <a:ext uri="{9D8B030D-6E8A-4147-A177-3AD203B41FA5}">
                      <a16:colId xmlns:a16="http://schemas.microsoft.com/office/drawing/2014/main" val="1437232487"/>
                    </a:ext>
                  </a:extLst>
                </a:gridCol>
                <a:gridCol w="576735">
                  <a:extLst>
                    <a:ext uri="{9D8B030D-6E8A-4147-A177-3AD203B41FA5}">
                      <a16:colId xmlns:a16="http://schemas.microsoft.com/office/drawing/2014/main" val="479385730"/>
                    </a:ext>
                  </a:extLst>
                </a:gridCol>
                <a:gridCol w="576735">
                  <a:extLst>
                    <a:ext uri="{9D8B030D-6E8A-4147-A177-3AD203B41FA5}">
                      <a16:colId xmlns:a16="http://schemas.microsoft.com/office/drawing/2014/main" val="3619448033"/>
                    </a:ext>
                  </a:extLst>
                </a:gridCol>
                <a:gridCol w="576735">
                  <a:extLst>
                    <a:ext uri="{9D8B030D-6E8A-4147-A177-3AD203B41FA5}">
                      <a16:colId xmlns:a16="http://schemas.microsoft.com/office/drawing/2014/main" val="3613538614"/>
                    </a:ext>
                  </a:extLst>
                </a:gridCol>
                <a:gridCol w="576735">
                  <a:extLst>
                    <a:ext uri="{9D8B030D-6E8A-4147-A177-3AD203B41FA5}">
                      <a16:colId xmlns:a16="http://schemas.microsoft.com/office/drawing/2014/main" val="2241859415"/>
                    </a:ext>
                  </a:extLst>
                </a:gridCol>
                <a:gridCol w="576735">
                  <a:extLst>
                    <a:ext uri="{9D8B030D-6E8A-4147-A177-3AD203B41FA5}">
                      <a16:colId xmlns:a16="http://schemas.microsoft.com/office/drawing/2014/main" val="3711709464"/>
                    </a:ext>
                  </a:extLst>
                </a:gridCol>
              </a:tblGrid>
              <a:tr h="381812">
                <a:tc>
                  <a:txBody>
                    <a:bodyPr/>
                    <a:lstStyle/>
                    <a:p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8713673"/>
                  </a:ext>
                </a:extLst>
              </a:tr>
              <a:tr h="381812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1430145"/>
                  </a:ext>
                </a:extLst>
              </a:tr>
              <a:tr h="381812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192969"/>
                  </a:ext>
                </a:extLst>
              </a:tr>
              <a:tr h="381812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4995318"/>
                  </a:ext>
                </a:extLst>
              </a:tr>
              <a:tr h="381812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4583316"/>
                  </a:ext>
                </a:extLst>
              </a:tr>
              <a:tr h="381812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060456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A8503012-7D7D-4719-D753-6001DB68A30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60213694"/>
                  </p:ext>
                </p:extLst>
              </p:nvPr>
            </p:nvGraphicFramePr>
            <p:xfrm>
              <a:off x="5811662" y="1522810"/>
              <a:ext cx="3573826" cy="2590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37886">
                      <a:extLst>
                        <a:ext uri="{9D8B030D-6E8A-4147-A177-3AD203B41FA5}">
                          <a16:colId xmlns:a16="http://schemas.microsoft.com/office/drawing/2014/main" val="1437232487"/>
                        </a:ext>
                      </a:extLst>
                    </a:gridCol>
                    <a:gridCol w="752134">
                      <a:extLst>
                        <a:ext uri="{9D8B030D-6E8A-4147-A177-3AD203B41FA5}">
                          <a16:colId xmlns:a16="http://schemas.microsoft.com/office/drawing/2014/main" val="479385730"/>
                        </a:ext>
                      </a:extLst>
                    </a:gridCol>
                    <a:gridCol w="601382">
                      <a:extLst>
                        <a:ext uri="{9D8B030D-6E8A-4147-A177-3AD203B41FA5}">
                          <a16:colId xmlns:a16="http://schemas.microsoft.com/office/drawing/2014/main" val="3619448033"/>
                        </a:ext>
                      </a:extLst>
                    </a:gridCol>
                    <a:gridCol w="691212">
                      <a:extLst>
                        <a:ext uri="{9D8B030D-6E8A-4147-A177-3AD203B41FA5}">
                          <a16:colId xmlns:a16="http://schemas.microsoft.com/office/drawing/2014/main" val="2241859415"/>
                        </a:ext>
                      </a:extLst>
                    </a:gridCol>
                    <a:gridCol w="691212">
                      <a:extLst>
                        <a:ext uri="{9D8B030D-6E8A-4147-A177-3AD203B41FA5}">
                          <a16:colId xmlns:a16="http://schemas.microsoft.com/office/drawing/2014/main" val="3711709464"/>
                        </a:ext>
                      </a:extLst>
                    </a:gridCol>
                  </a:tblGrid>
                  <a:tr h="461275">
                    <a:tc>
                      <a:txBody>
                        <a:bodyPr/>
                        <a:lstStyle/>
                        <a:p>
                          <a:endParaRPr lang="en-US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/>
                            <a:t>A/C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/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18713673"/>
                      </a:ext>
                    </a:extLst>
                  </a:tr>
                  <a:tr h="4612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/>
                            <a:t>A/C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1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</m:oMath>
                            </m:oMathPara>
                          </a14:m>
                          <a:endParaRPr 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61430145"/>
                      </a:ext>
                    </a:extLst>
                  </a:tr>
                  <a:tr h="4612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2192969"/>
                      </a:ext>
                    </a:extLst>
                  </a:tr>
                  <a:tr h="4612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4995318"/>
                      </a:ext>
                    </a:extLst>
                  </a:tr>
                  <a:tr h="46127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1458331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A8503012-7D7D-4719-D753-6001DB68A30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60213694"/>
                  </p:ext>
                </p:extLst>
              </p:nvPr>
            </p:nvGraphicFramePr>
            <p:xfrm>
              <a:off x="5811662" y="1522810"/>
              <a:ext cx="3573826" cy="2590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37886">
                      <a:extLst>
                        <a:ext uri="{9D8B030D-6E8A-4147-A177-3AD203B41FA5}">
                          <a16:colId xmlns:a16="http://schemas.microsoft.com/office/drawing/2014/main" val="1437232487"/>
                        </a:ext>
                      </a:extLst>
                    </a:gridCol>
                    <a:gridCol w="752134">
                      <a:extLst>
                        <a:ext uri="{9D8B030D-6E8A-4147-A177-3AD203B41FA5}">
                          <a16:colId xmlns:a16="http://schemas.microsoft.com/office/drawing/2014/main" val="479385730"/>
                        </a:ext>
                      </a:extLst>
                    </a:gridCol>
                    <a:gridCol w="601382">
                      <a:extLst>
                        <a:ext uri="{9D8B030D-6E8A-4147-A177-3AD203B41FA5}">
                          <a16:colId xmlns:a16="http://schemas.microsoft.com/office/drawing/2014/main" val="3619448033"/>
                        </a:ext>
                      </a:extLst>
                    </a:gridCol>
                    <a:gridCol w="691212">
                      <a:extLst>
                        <a:ext uri="{9D8B030D-6E8A-4147-A177-3AD203B41FA5}">
                          <a16:colId xmlns:a16="http://schemas.microsoft.com/office/drawing/2014/main" val="2241859415"/>
                        </a:ext>
                      </a:extLst>
                    </a:gridCol>
                    <a:gridCol w="691212">
                      <a:extLst>
                        <a:ext uri="{9D8B030D-6E8A-4147-A177-3AD203B41FA5}">
                          <a16:colId xmlns:a16="http://schemas.microsoft.com/office/drawing/2014/main" val="3711709464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endParaRPr lang="en-US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/>
                            <a:t>A/C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/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18713673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/>
                            <a:t>A/C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4646" t="-110588" r="-231313" b="-3352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19469" t="-110588" r="-102655" b="-3352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61430145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2192969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4995318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1458331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Arrow: Right 6">
            <a:extLst>
              <a:ext uri="{FF2B5EF4-FFF2-40B4-BE49-F238E27FC236}">
                <a16:creationId xmlns:a16="http://schemas.microsoft.com/office/drawing/2014/main" id="{743B12E3-A094-8983-74CD-09BE3DBBB49E}"/>
              </a:ext>
            </a:extLst>
          </p:cNvPr>
          <p:cNvSpPr/>
          <p:nvPr/>
        </p:nvSpPr>
        <p:spPr>
          <a:xfrm>
            <a:off x="4657061" y="2133378"/>
            <a:ext cx="956931" cy="687351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D3B452B-BA79-4D38-51EB-10B3E0DC6969}"/>
              </a:ext>
            </a:extLst>
          </p:cNvPr>
          <p:cNvCxnSpPr/>
          <p:nvPr/>
        </p:nvCxnSpPr>
        <p:spPr>
          <a:xfrm>
            <a:off x="893135" y="5592726"/>
            <a:ext cx="0" cy="10632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FF3BA5A-A254-CB23-A8BC-34110FD3ED01}"/>
              </a:ext>
            </a:extLst>
          </p:cNvPr>
          <p:cNvCxnSpPr>
            <a:cxnSpLocks/>
          </p:cNvCxnSpPr>
          <p:nvPr/>
        </p:nvCxnSpPr>
        <p:spPr>
          <a:xfrm flipH="1">
            <a:off x="893135" y="5592726"/>
            <a:ext cx="155944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387C07A-0027-7BD2-9DDB-E6CF9ACE4AE8}"/>
              </a:ext>
            </a:extLst>
          </p:cNvPr>
          <p:cNvCxnSpPr>
            <a:cxnSpLocks/>
          </p:cNvCxnSpPr>
          <p:nvPr/>
        </p:nvCxnSpPr>
        <p:spPr>
          <a:xfrm flipH="1">
            <a:off x="893135" y="6655981"/>
            <a:ext cx="155944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7B10AC0-D68B-440E-92A8-AA0A3CDBD665}"/>
              </a:ext>
            </a:extLst>
          </p:cNvPr>
          <p:cNvCxnSpPr>
            <a:cxnSpLocks/>
          </p:cNvCxnSpPr>
          <p:nvPr/>
        </p:nvCxnSpPr>
        <p:spPr>
          <a:xfrm>
            <a:off x="2981947" y="2169042"/>
            <a:ext cx="0" cy="17756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D5A6E75-AB47-B6F8-9DC0-A9FC8252546B}"/>
              </a:ext>
            </a:extLst>
          </p:cNvPr>
          <p:cNvCxnSpPr/>
          <p:nvPr/>
        </p:nvCxnSpPr>
        <p:spPr>
          <a:xfrm>
            <a:off x="1083234" y="3827497"/>
            <a:ext cx="32796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6813605C-9E2C-6F46-0E2F-19C17D4E61E3}"/>
              </a:ext>
            </a:extLst>
          </p:cNvPr>
          <p:cNvSpPr/>
          <p:nvPr/>
        </p:nvSpPr>
        <p:spPr>
          <a:xfrm>
            <a:off x="2636874" y="5368104"/>
            <a:ext cx="1045535" cy="51036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4663518-D617-EF69-465E-982C60B0BD01}"/>
              </a:ext>
            </a:extLst>
          </p:cNvPr>
          <p:cNvSpPr/>
          <p:nvPr/>
        </p:nvSpPr>
        <p:spPr>
          <a:xfrm>
            <a:off x="2636873" y="6426095"/>
            <a:ext cx="1045535" cy="51036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31A000A7-C41C-8148-2FE7-8DD92DC60E6E}"/>
                  </a:ext>
                </a:extLst>
              </p:cNvPr>
              <p:cNvSpPr/>
              <p:nvPr/>
            </p:nvSpPr>
            <p:spPr>
              <a:xfrm>
                <a:off x="4784658" y="4448441"/>
                <a:ext cx="5645881" cy="2169041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We have A and C, B, D, and E on both sides.</a:t>
                </a:r>
              </a:p>
              <a:p>
                <a:pPr marL="457200" indent="-457200" algn="ctr">
                  <a:buAutoNum type="arabicPeriod"/>
                </a:pPr>
                <a:r>
                  <a:rPr lang="en-US" dirty="0"/>
                  <a:t>It can be found as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31A000A7-C41C-8148-2FE7-8DD92DC60E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4658" y="4448441"/>
                <a:ext cx="5645881" cy="216904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11796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A207D-636B-CF0B-4B4E-82E482825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883E8-263F-1B3D-31F1-160F17912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525" y="832615"/>
            <a:ext cx="9867014" cy="738624"/>
          </a:xfrm>
        </p:spPr>
        <p:txBody>
          <a:bodyPr/>
          <a:lstStyle/>
          <a:p>
            <a:pPr algn="ctr"/>
            <a:r>
              <a:rPr lang="en-US" sz="2000" b="1" dirty="0"/>
              <a:t>UNWEIGHTED PAIR-GROUP METHOD USING ARITHMATIC MEAN  (UPGMA)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87FF36D-2136-C1E6-3834-2A8FF8E477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3469976"/>
              </p:ext>
            </p:extLst>
          </p:nvPr>
        </p:nvGraphicFramePr>
        <p:xfrm>
          <a:off x="1097816" y="1614661"/>
          <a:ext cx="3460410" cy="3108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735">
                  <a:extLst>
                    <a:ext uri="{9D8B030D-6E8A-4147-A177-3AD203B41FA5}">
                      <a16:colId xmlns:a16="http://schemas.microsoft.com/office/drawing/2014/main" val="1437232487"/>
                    </a:ext>
                  </a:extLst>
                </a:gridCol>
                <a:gridCol w="576735">
                  <a:extLst>
                    <a:ext uri="{9D8B030D-6E8A-4147-A177-3AD203B41FA5}">
                      <a16:colId xmlns:a16="http://schemas.microsoft.com/office/drawing/2014/main" val="479385730"/>
                    </a:ext>
                  </a:extLst>
                </a:gridCol>
                <a:gridCol w="576735">
                  <a:extLst>
                    <a:ext uri="{9D8B030D-6E8A-4147-A177-3AD203B41FA5}">
                      <a16:colId xmlns:a16="http://schemas.microsoft.com/office/drawing/2014/main" val="3619448033"/>
                    </a:ext>
                  </a:extLst>
                </a:gridCol>
                <a:gridCol w="576735">
                  <a:extLst>
                    <a:ext uri="{9D8B030D-6E8A-4147-A177-3AD203B41FA5}">
                      <a16:colId xmlns:a16="http://schemas.microsoft.com/office/drawing/2014/main" val="3613538614"/>
                    </a:ext>
                  </a:extLst>
                </a:gridCol>
                <a:gridCol w="576735">
                  <a:extLst>
                    <a:ext uri="{9D8B030D-6E8A-4147-A177-3AD203B41FA5}">
                      <a16:colId xmlns:a16="http://schemas.microsoft.com/office/drawing/2014/main" val="2241859415"/>
                    </a:ext>
                  </a:extLst>
                </a:gridCol>
                <a:gridCol w="576735">
                  <a:extLst>
                    <a:ext uri="{9D8B030D-6E8A-4147-A177-3AD203B41FA5}">
                      <a16:colId xmlns:a16="http://schemas.microsoft.com/office/drawing/2014/main" val="3711709464"/>
                    </a:ext>
                  </a:extLst>
                </a:gridCol>
              </a:tblGrid>
              <a:tr h="381812">
                <a:tc>
                  <a:txBody>
                    <a:bodyPr/>
                    <a:lstStyle/>
                    <a:p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8713673"/>
                  </a:ext>
                </a:extLst>
              </a:tr>
              <a:tr h="381812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1430145"/>
                  </a:ext>
                </a:extLst>
              </a:tr>
              <a:tr h="381812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192969"/>
                  </a:ext>
                </a:extLst>
              </a:tr>
              <a:tr h="381812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4995318"/>
                  </a:ext>
                </a:extLst>
              </a:tr>
              <a:tr h="381812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4583316"/>
                  </a:ext>
                </a:extLst>
              </a:tr>
              <a:tr h="381812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060456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8B1E498F-AA41-F284-233A-1F7DC909990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39739229"/>
                  </p:ext>
                </p:extLst>
              </p:nvPr>
            </p:nvGraphicFramePr>
            <p:xfrm>
              <a:off x="5492570" y="1647450"/>
              <a:ext cx="4448872" cy="237549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43042">
                      <a:extLst>
                        <a:ext uri="{9D8B030D-6E8A-4147-A177-3AD203B41FA5}">
                          <a16:colId xmlns:a16="http://schemas.microsoft.com/office/drawing/2014/main" val="1437232487"/>
                        </a:ext>
                      </a:extLst>
                    </a:gridCol>
                    <a:gridCol w="936293">
                      <a:extLst>
                        <a:ext uri="{9D8B030D-6E8A-4147-A177-3AD203B41FA5}">
                          <a16:colId xmlns:a16="http://schemas.microsoft.com/office/drawing/2014/main" val="479385730"/>
                        </a:ext>
                      </a:extLst>
                    </a:gridCol>
                    <a:gridCol w="748629">
                      <a:extLst>
                        <a:ext uri="{9D8B030D-6E8A-4147-A177-3AD203B41FA5}">
                          <a16:colId xmlns:a16="http://schemas.microsoft.com/office/drawing/2014/main" val="3619448033"/>
                        </a:ext>
                      </a:extLst>
                    </a:gridCol>
                    <a:gridCol w="860454">
                      <a:extLst>
                        <a:ext uri="{9D8B030D-6E8A-4147-A177-3AD203B41FA5}">
                          <a16:colId xmlns:a16="http://schemas.microsoft.com/office/drawing/2014/main" val="2241859415"/>
                        </a:ext>
                      </a:extLst>
                    </a:gridCol>
                    <a:gridCol w="860454">
                      <a:extLst>
                        <a:ext uri="{9D8B030D-6E8A-4147-A177-3AD203B41FA5}">
                          <a16:colId xmlns:a16="http://schemas.microsoft.com/office/drawing/2014/main" val="3711709464"/>
                        </a:ext>
                      </a:extLst>
                    </a:gridCol>
                  </a:tblGrid>
                  <a:tr h="475099">
                    <a:tc>
                      <a:txBody>
                        <a:bodyPr/>
                        <a:lstStyle/>
                        <a:p>
                          <a:endParaRPr lang="en-US" sz="21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A/C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18713673"/>
                      </a:ext>
                    </a:extLst>
                  </a:tr>
                  <a:tr h="4750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A/C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sz="2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2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52143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2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61430145"/>
                      </a:ext>
                    </a:extLst>
                  </a:tr>
                  <a:tr h="4750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1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0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2192969"/>
                      </a:ext>
                    </a:extLst>
                  </a:tr>
                  <a:tr h="4750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4995318"/>
                      </a:ext>
                    </a:extLst>
                  </a:tr>
                  <a:tr h="4750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1458331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8B1E498F-AA41-F284-233A-1F7DC909990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39739229"/>
                  </p:ext>
                </p:extLst>
              </p:nvPr>
            </p:nvGraphicFramePr>
            <p:xfrm>
              <a:off x="5492570" y="1647450"/>
              <a:ext cx="4448872" cy="237549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43042">
                      <a:extLst>
                        <a:ext uri="{9D8B030D-6E8A-4147-A177-3AD203B41FA5}">
                          <a16:colId xmlns:a16="http://schemas.microsoft.com/office/drawing/2014/main" val="1437232487"/>
                        </a:ext>
                      </a:extLst>
                    </a:gridCol>
                    <a:gridCol w="936293">
                      <a:extLst>
                        <a:ext uri="{9D8B030D-6E8A-4147-A177-3AD203B41FA5}">
                          <a16:colId xmlns:a16="http://schemas.microsoft.com/office/drawing/2014/main" val="479385730"/>
                        </a:ext>
                      </a:extLst>
                    </a:gridCol>
                    <a:gridCol w="748629">
                      <a:extLst>
                        <a:ext uri="{9D8B030D-6E8A-4147-A177-3AD203B41FA5}">
                          <a16:colId xmlns:a16="http://schemas.microsoft.com/office/drawing/2014/main" val="3619448033"/>
                        </a:ext>
                      </a:extLst>
                    </a:gridCol>
                    <a:gridCol w="860454">
                      <a:extLst>
                        <a:ext uri="{9D8B030D-6E8A-4147-A177-3AD203B41FA5}">
                          <a16:colId xmlns:a16="http://schemas.microsoft.com/office/drawing/2014/main" val="2241859415"/>
                        </a:ext>
                      </a:extLst>
                    </a:gridCol>
                    <a:gridCol w="860454">
                      <a:extLst>
                        <a:ext uri="{9D8B030D-6E8A-4147-A177-3AD203B41FA5}">
                          <a16:colId xmlns:a16="http://schemas.microsoft.com/office/drawing/2014/main" val="3711709464"/>
                        </a:ext>
                      </a:extLst>
                    </a:gridCol>
                  </a:tblGrid>
                  <a:tr h="475099">
                    <a:tc>
                      <a:txBody>
                        <a:bodyPr/>
                        <a:lstStyle/>
                        <a:p>
                          <a:endParaRPr lang="en-US" sz="21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A/C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18713673"/>
                      </a:ext>
                    </a:extLst>
                  </a:tr>
                  <a:tr h="4750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A/C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5854" t="-107692" r="-230894" b="-31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19149" t="-107692" r="-101418" b="-31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19149" t="-107692" r="-1418" b="-3115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61430145"/>
                      </a:ext>
                    </a:extLst>
                  </a:tr>
                  <a:tr h="4750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1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0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2192969"/>
                      </a:ext>
                    </a:extLst>
                  </a:tr>
                  <a:tr h="4750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4995318"/>
                      </a:ext>
                    </a:extLst>
                  </a:tr>
                  <a:tr h="4750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1458331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Arrow: Right 6">
            <a:extLst>
              <a:ext uri="{FF2B5EF4-FFF2-40B4-BE49-F238E27FC236}">
                <a16:creationId xmlns:a16="http://schemas.microsoft.com/office/drawing/2014/main" id="{A74FD1DD-7E15-94E6-6D37-76D5010E4DAC}"/>
              </a:ext>
            </a:extLst>
          </p:cNvPr>
          <p:cNvSpPr/>
          <p:nvPr/>
        </p:nvSpPr>
        <p:spPr>
          <a:xfrm>
            <a:off x="4706478" y="2133378"/>
            <a:ext cx="637841" cy="687351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E441514-D551-7ECA-DF25-CC4EE7602A7D}"/>
              </a:ext>
            </a:extLst>
          </p:cNvPr>
          <p:cNvCxnSpPr>
            <a:cxnSpLocks/>
          </p:cNvCxnSpPr>
          <p:nvPr/>
        </p:nvCxnSpPr>
        <p:spPr>
          <a:xfrm>
            <a:off x="893135" y="5592726"/>
            <a:ext cx="0" cy="59542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6D8BD0C-EE93-741F-9935-246317BFBE15}"/>
              </a:ext>
            </a:extLst>
          </p:cNvPr>
          <p:cNvCxnSpPr>
            <a:cxnSpLocks/>
          </p:cNvCxnSpPr>
          <p:nvPr/>
        </p:nvCxnSpPr>
        <p:spPr>
          <a:xfrm flipH="1">
            <a:off x="893135" y="5592726"/>
            <a:ext cx="92503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269C6507-A856-B78E-083B-ECEC7D7C1D60}"/>
              </a:ext>
            </a:extLst>
          </p:cNvPr>
          <p:cNvSpPr/>
          <p:nvPr/>
        </p:nvSpPr>
        <p:spPr>
          <a:xfrm>
            <a:off x="1924494" y="5444322"/>
            <a:ext cx="637842" cy="43280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95DC900-B65B-BF32-27C1-60C305C13595}"/>
              </a:ext>
            </a:extLst>
          </p:cNvPr>
          <p:cNvSpPr/>
          <p:nvPr/>
        </p:nvSpPr>
        <p:spPr>
          <a:xfrm>
            <a:off x="1871218" y="6075459"/>
            <a:ext cx="691118" cy="4328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02CDAE-AEF7-F90F-913F-32E28B305ACE}"/>
              </a:ext>
            </a:extLst>
          </p:cNvPr>
          <p:cNvSpPr/>
          <p:nvPr/>
        </p:nvSpPr>
        <p:spPr>
          <a:xfrm>
            <a:off x="722371" y="4838440"/>
            <a:ext cx="3460411" cy="43281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FF0000"/>
                </a:solidFill>
              </a:rPr>
              <a:t>PHYLOGENETIC TREES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A9FBC7-9EFA-5F42-8BFD-697B199D7834}"/>
              </a:ext>
            </a:extLst>
          </p:cNvPr>
          <p:cNvSpPr/>
          <p:nvPr/>
        </p:nvSpPr>
        <p:spPr>
          <a:xfrm>
            <a:off x="5790445" y="4372818"/>
            <a:ext cx="3460411" cy="43281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FF0000"/>
                </a:solidFill>
              </a:rPr>
              <a:t>PHYLOGENETIC TREES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803DECDB-4AA7-2B1D-FBD1-0E5AF81106B6}"/>
              </a:ext>
            </a:extLst>
          </p:cNvPr>
          <p:cNvSpPr/>
          <p:nvPr/>
        </p:nvSpPr>
        <p:spPr>
          <a:xfrm>
            <a:off x="4558226" y="5604513"/>
            <a:ext cx="637841" cy="687351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939A1E8-F31E-1FF8-964D-003F1C8131EC}"/>
              </a:ext>
            </a:extLst>
          </p:cNvPr>
          <p:cNvCxnSpPr>
            <a:cxnSpLocks/>
          </p:cNvCxnSpPr>
          <p:nvPr/>
        </p:nvCxnSpPr>
        <p:spPr>
          <a:xfrm flipH="1">
            <a:off x="893135" y="6188149"/>
            <a:ext cx="92503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0FF6324-D2BE-3B10-7889-B692A426D980}"/>
              </a:ext>
            </a:extLst>
          </p:cNvPr>
          <p:cNvCxnSpPr>
            <a:cxnSpLocks/>
          </p:cNvCxnSpPr>
          <p:nvPr/>
        </p:nvCxnSpPr>
        <p:spPr>
          <a:xfrm>
            <a:off x="6505858" y="5093208"/>
            <a:ext cx="0" cy="59542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9BD28FE-3049-016C-A8E1-B463BB136B17}"/>
              </a:ext>
            </a:extLst>
          </p:cNvPr>
          <p:cNvCxnSpPr>
            <a:cxnSpLocks/>
          </p:cNvCxnSpPr>
          <p:nvPr/>
        </p:nvCxnSpPr>
        <p:spPr>
          <a:xfrm flipH="1">
            <a:off x="6505858" y="5093208"/>
            <a:ext cx="92503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DA500D4F-4DF3-F50D-F279-AB5EE1E31415}"/>
              </a:ext>
            </a:extLst>
          </p:cNvPr>
          <p:cNvSpPr/>
          <p:nvPr/>
        </p:nvSpPr>
        <p:spPr>
          <a:xfrm>
            <a:off x="7537217" y="4944804"/>
            <a:ext cx="637842" cy="43280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455FA1B-B858-981A-0088-6DC1EAE1851D}"/>
              </a:ext>
            </a:extLst>
          </p:cNvPr>
          <p:cNvSpPr/>
          <p:nvPr/>
        </p:nvSpPr>
        <p:spPr>
          <a:xfrm>
            <a:off x="7483941" y="5575941"/>
            <a:ext cx="691118" cy="4328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C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4292B40-E6D8-AED1-8BC7-7961A2B23C97}"/>
              </a:ext>
            </a:extLst>
          </p:cNvPr>
          <p:cNvCxnSpPr>
            <a:cxnSpLocks/>
          </p:cNvCxnSpPr>
          <p:nvPr/>
        </p:nvCxnSpPr>
        <p:spPr>
          <a:xfrm flipH="1">
            <a:off x="6505858" y="5688631"/>
            <a:ext cx="92503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6A71D1F-65E8-2893-DFDF-00B15CFEF71D}"/>
              </a:ext>
            </a:extLst>
          </p:cNvPr>
          <p:cNvCxnSpPr>
            <a:cxnSpLocks/>
          </p:cNvCxnSpPr>
          <p:nvPr/>
        </p:nvCxnSpPr>
        <p:spPr>
          <a:xfrm>
            <a:off x="6452807" y="6280783"/>
            <a:ext cx="0" cy="59542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F71C9BE-CDE3-EF8E-EE56-B6813383716D}"/>
              </a:ext>
            </a:extLst>
          </p:cNvPr>
          <p:cNvCxnSpPr>
            <a:cxnSpLocks/>
          </p:cNvCxnSpPr>
          <p:nvPr/>
        </p:nvCxnSpPr>
        <p:spPr>
          <a:xfrm flipH="1">
            <a:off x="6452807" y="6280783"/>
            <a:ext cx="92503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1DB80A16-3406-C73D-5806-0CFF5FC1DACC}"/>
              </a:ext>
            </a:extLst>
          </p:cNvPr>
          <p:cNvSpPr/>
          <p:nvPr/>
        </p:nvSpPr>
        <p:spPr>
          <a:xfrm>
            <a:off x="7484166" y="6132379"/>
            <a:ext cx="637842" cy="43280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C1DCEA5-C20E-3317-1B50-C6EE8F81A452}"/>
              </a:ext>
            </a:extLst>
          </p:cNvPr>
          <p:cNvSpPr/>
          <p:nvPr/>
        </p:nvSpPr>
        <p:spPr>
          <a:xfrm>
            <a:off x="7430890" y="6763516"/>
            <a:ext cx="691118" cy="4328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D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0C69722-CF16-538E-1CCE-078EC04D2D3E}"/>
              </a:ext>
            </a:extLst>
          </p:cNvPr>
          <p:cNvCxnSpPr>
            <a:cxnSpLocks/>
          </p:cNvCxnSpPr>
          <p:nvPr/>
        </p:nvCxnSpPr>
        <p:spPr>
          <a:xfrm flipH="1">
            <a:off x="6452807" y="6876206"/>
            <a:ext cx="92503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4675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67839-B544-6A5D-2835-9D81E60E7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50CF-EAF9-6CAD-1F06-A1BA6ED77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525" y="832615"/>
            <a:ext cx="9867014" cy="738624"/>
          </a:xfrm>
        </p:spPr>
        <p:txBody>
          <a:bodyPr/>
          <a:lstStyle/>
          <a:p>
            <a:pPr algn="ctr"/>
            <a:r>
              <a:rPr lang="en-US" sz="2000" b="1" dirty="0"/>
              <a:t>UNWEIGHTED PAIR-GROUP METHOD USING ARITHMATIC MEAN  (UPGMA)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E7A812D8-AF72-66AE-4400-2E7F9C7A88C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15619916"/>
                  </p:ext>
                </p:extLst>
              </p:nvPr>
            </p:nvGraphicFramePr>
            <p:xfrm>
              <a:off x="1154760" y="1699612"/>
              <a:ext cx="3612759" cy="237549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47014">
                      <a:extLst>
                        <a:ext uri="{9D8B030D-6E8A-4147-A177-3AD203B41FA5}">
                          <a16:colId xmlns:a16="http://schemas.microsoft.com/office/drawing/2014/main" val="1437232487"/>
                        </a:ext>
                      </a:extLst>
                    </a:gridCol>
                    <a:gridCol w="760328">
                      <a:extLst>
                        <a:ext uri="{9D8B030D-6E8A-4147-A177-3AD203B41FA5}">
                          <a16:colId xmlns:a16="http://schemas.microsoft.com/office/drawing/2014/main" val="479385730"/>
                        </a:ext>
                      </a:extLst>
                    </a:gridCol>
                    <a:gridCol w="607933">
                      <a:extLst>
                        <a:ext uri="{9D8B030D-6E8A-4147-A177-3AD203B41FA5}">
                          <a16:colId xmlns:a16="http://schemas.microsoft.com/office/drawing/2014/main" val="3619448033"/>
                        </a:ext>
                      </a:extLst>
                    </a:gridCol>
                    <a:gridCol w="698742">
                      <a:extLst>
                        <a:ext uri="{9D8B030D-6E8A-4147-A177-3AD203B41FA5}">
                          <a16:colId xmlns:a16="http://schemas.microsoft.com/office/drawing/2014/main" val="2241859415"/>
                        </a:ext>
                      </a:extLst>
                    </a:gridCol>
                    <a:gridCol w="698742">
                      <a:extLst>
                        <a:ext uri="{9D8B030D-6E8A-4147-A177-3AD203B41FA5}">
                          <a16:colId xmlns:a16="http://schemas.microsoft.com/office/drawing/2014/main" val="3711709464"/>
                        </a:ext>
                      </a:extLst>
                    </a:gridCol>
                  </a:tblGrid>
                  <a:tr h="475099">
                    <a:tc>
                      <a:txBody>
                        <a:bodyPr/>
                        <a:lstStyle/>
                        <a:p>
                          <a:endParaRPr lang="en-US" sz="21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A/C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18713673"/>
                      </a:ext>
                    </a:extLst>
                  </a:tr>
                  <a:tr h="4750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A/C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sz="2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2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52143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2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61430145"/>
                      </a:ext>
                    </a:extLst>
                  </a:tr>
                  <a:tr h="4750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1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0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2192969"/>
                      </a:ext>
                    </a:extLst>
                  </a:tr>
                  <a:tr h="4750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4995318"/>
                      </a:ext>
                    </a:extLst>
                  </a:tr>
                  <a:tr h="4750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1458331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E7A812D8-AF72-66AE-4400-2E7F9C7A88C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15619916"/>
                  </p:ext>
                </p:extLst>
              </p:nvPr>
            </p:nvGraphicFramePr>
            <p:xfrm>
              <a:off x="1154760" y="1699612"/>
              <a:ext cx="3612759" cy="237549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47014">
                      <a:extLst>
                        <a:ext uri="{9D8B030D-6E8A-4147-A177-3AD203B41FA5}">
                          <a16:colId xmlns:a16="http://schemas.microsoft.com/office/drawing/2014/main" val="1437232487"/>
                        </a:ext>
                      </a:extLst>
                    </a:gridCol>
                    <a:gridCol w="760328">
                      <a:extLst>
                        <a:ext uri="{9D8B030D-6E8A-4147-A177-3AD203B41FA5}">
                          <a16:colId xmlns:a16="http://schemas.microsoft.com/office/drawing/2014/main" val="479385730"/>
                        </a:ext>
                      </a:extLst>
                    </a:gridCol>
                    <a:gridCol w="607933">
                      <a:extLst>
                        <a:ext uri="{9D8B030D-6E8A-4147-A177-3AD203B41FA5}">
                          <a16:colId xmlns:a16="http://schemas.microsoft.com/office/drawing/2014/main" val="3619448033"/>
                        </a:ext>
                      </a:extLst>
                    </a:gridCol>
                    <a:gridCol w="698742">
                      <a:extLst>
                        <a:ext uri="{9D8B030D-6E8A-4147-A177-3AD203B41FA5}">
                          <a16:colId xmlns:a16="http://schemas.microsoft.com/office/drawing/2014/main" val="2241859415"/>
                        </a:ext>
                      </a:extLst>
                    </a:gridCol>
                    <a:gridCol w="698742">
                      <a:extLst>
                        <a:ext uri="{9D8B030D-6E8A-4147-A177-3AD203B41FA5}">
                          <a16:colId xmlns:a16="http://schemas.microsoft.com/office/drawing/2014/main" val="3711709464"/>
                        </a:ext>
                      </a:extLst>
                    </a:gridCol>
                  </a:tblGrid>
                  <a:tr h="475099">
                    <a:tc>
                      <a:txBody>
                        <a:bodyPr/>
                        <a:lstStyle/>
                        <a:p>
                          <a:endParaRPr lang="en-US" sz="21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A/C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18713673"/>
                      </a:ext>
                    </a:extLst>
                  </a:tr>
                  <a:tr h="4750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A/C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65000" t="-106410" r="-232000" b="-3128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17391" t="-106410" r="-101739" b="-3128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17391" t="-106410" r="-1739" b="-3128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61430145"/>
                      </a:ext>
                    </a:extLst>
                  </a:tr>
                  <a:tr h="4750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1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0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2192969"/>
                      </a:ext>
                    </a:extLst>
                  </a:tr>
                  <a:tr h="4750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4995318"/>
                      </a:ext>
                    </a:extLst>
                  </a:tr>
                  <a:tr h="4750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1458331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E869B73E-6D5B-EA89-FB11-EFB89F756A92}"/>
              </a:ext>
            </a:extLst>
          </p:cNvPr>
          <p:cNvSpPr/>
          <p:nvPr/>
        </p:nvSpPr>
        <p:spPr>
          <a:xfrm>
            <a:off x="895447" y="4372818"/>
            <a:ext cx="3460411" cy="43281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FF0000"/>
                </a:solidFill>
              </a:rPr>
              <a:t>PHYLOGENETIC TREES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D85D4EC-79AE-F920-DE61-F37A7A4D1ED0}"/>
              </a:ext>
            </a:extLst>
          </p:cNvPr>
          <p:cNvCxnSpPr>
            <a:cxnSpLocks/>
          </p:cNvCxnSpPr>
          <p:nvPr/>
        </p:nvCxnSpPr>
        <p:spPr>
          <a:xfrm>
            <a:off x="1610860" y="5093208"/>
            <a:ext cx="0" cy="59542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9B42440-517D-CF96-30B8-D9819883CD33}"/>
              </a:ext>
            </a:extLst>
          </p:cNvPr>
          <p:cNvCxnSpPr>
            <a:cxnSpLocks/>
          </p:cNvCxnSpPr>
          <p:nvPr/>
        </p:nvCxnSpPr>
        <p:spPr>
          <a:xfrm flipH="1">
            <a:off x="1610860" y="5093208"/>
            <a:ext cx="92503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C30F88A5-C69F-5EE7-5D4E-A0F49CDDFD35}"/>
              </a:ext>
            </a:extLst>
          </p:cNvPr>
          <p:cNvSpPr/>
          <p:nvPr/>
        </p:nvSpPr>
        <p:spPr>
          <a:xfrm>
            <a:off x="2642219" y="4944804"/>
            <a:ext cx="637842" cy="43280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823393C-C66C-5FE9-75D6-AFB6FC0F58AD}"/>
              </a:ext>
            </a:extLst>
          </p:cNvPr>
          <p:cNvSpPr/>
          <p:nvPr/>
        </p:nvSpPr>
        <p:spPr>
          <a:xfrm>
            <a:off x="2588943" y="5575941"/>
            <a:ext cx="691118" cy="4328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C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3A9F931-E8C8-2BBB-3330-D4D3CA9E72C3}"/>
              </a:ext>
            </a:extLst>
          </p:cNvPr>
          <p:cNvCxnSpPr>
            <a:cxnSpLocks/>
          </p:cNvCxnSpPr>
          <p:nvPr/>
        </p:nvCxnSpPr>
        <p:spPr>
          <a:xfrm flipH="1">
            <a:off x="1610860" y="5688631"/>
            <a:ext cx="92503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8C3E259-2BEC-B7CB-C9A9-4CE4AC96FC62}"/>
              </a:ext>
            </a:extLst>
          </p:cNvPr>
          <p:cNvCxnSpPr>
            <a:cxnSpLocks/>
          </p:cNvCxnSpPr>
          <p:nvPr/>
        </p:nvCxnSpPr>
        <p:spPr>
          <a:xfrm>
            <a:off x="1557809" y="6280783"/>
            <a:ext cx="0" cy="59542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504B782-1E6C-E9EB-AA06-4FCA086888EA}"/>
              </a:ext>
            </a:extLst>
          </p:cNvPr>
          <p:cNvCxnSpPr>
            <a:cxnSpLocks/>
          </p:cNvCxnSpPr>
          <p:nvPr/>
        </p:nvCxnSpPr>
        <p:spPr>
          <a:xfrm flipH="1">
            <a:off x="1557809" y="6280783"/>
            <a:ext cx="92503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93D96572-C39C-DBA2-E794-7477BA1E0F09}"/>
              </a:ext>
            </a:extLst>
          </p:cNvPr>
          <p:cNvSpPr/>
          <p:nvPr/>
        </p:nvSpPr>
        <p:spPr>
          <a:xfrm>
            <a:off x="2589168" y="6132379"/>
            <a:ext cx="637842" cy="43280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1A4F2EF-BE09-FD49-2522-2CE840E71A66}"/>
              </a:ext>
            </a:extLst>
          </p:cNvPr>
          <p:cNvSpPr/>
          <p:nvPr/>
        </p:nvSpPr>
        <p:spPr>
          <a:xfrm>
            <a:off x="2535892" y="6763516"/>
            <a:ext cx="691118" cy="4328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D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6775C0F-A342-48D4-45E4-83122C6863F0}"/>
              </a:ext>
            </a:extLst>
          </p:cNvPr>
          <p:cNvCxnSpPr>
            <a:cxnSpLocks/>
          </p:cNvCxnSpPr>
          <p:nvPr/>
        </p:nvCxnSpPr>
        <p:spPr>
          <a:xfrm flipH="1">
            <a:off x="1557809" y="6876206"/>
            <a:ext cx="92503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Arrow: Right 3">
            <a:extLst>
              <a:ext uri="{FF2B5EF4-FFF2-40B4-BE49-F238E27FC236}">
                <a16:creationId xmlns:a16="http://schemas.microsoft.com/office/drawing/2014/main" id="{1CD09EFE-160D-94F4-BA4D-967375D3263E}"/>
              </a:ext>
            </a:extLst>
          </p:cNvPr>
          <p:cNvSpPr/>
          <p:nvPr/>
        </p:nvSpPr>
        <p:spPr>
          <a:xfrm>
            <a:off x="5025398" y="2284677"/>
            <a:ext cx="637841" cy="687351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4427FFC8-7959-630F-8201-48A17006A18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13377248"/>
                  </p:ext>
                </p:extLst>
              </p:nvPr>
            </p:nvGraphicFramePr>
            <p:xfrm>
              <a:off x="5846689" y="1848688"/>
              <a:ext cx="4509420" cy="2145703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10748">
                      <a:extLst>
                        <a:ext uri="{9D8B030D-6E8A-4147-A177-3AD203B41FA5}">
                          <a16:colId xmlns:a16="http://schemas.microsoft.com/office/drawing/2014/main" val="1437232487"/>
                        </a:ext>
                      </a:extLst>
                    </a:gridCol>
                    <a:gridCol w="1176602">
                      <a:extLst>
                        <a:ext uri="{9D8B030D-6E8A-4147-A177-3AD203B41FA5}">
                          <a16:colId xmlns:a16="http://schemas.microsoft.com/office/drawing/2014/main" val="479385730"/>
                        </a:ext>
                      </a:extLst>
                    </a:gridCol>
                    <a:gridCol w="940772">
                      <a:extLst>
                        <a:ext uri="{9D8B030D-6E8A-4147-A177-3AD203B41FA5}">
                          <a16:colId xmlns:a16="http://schemas.microsoft.com/office/drawing/2014/main" val="3619448033"/>
                        </a:ext>
                      </a:extLst>
                    </a:gridCol>
                    <a:gridCol w="1081298">
                      <a:extLst>
                        <a:ext uri="{9D8B030D-6E8A-4147-A177-3AD203B41FA5}">
                          <a16:colId xmlns:a16="http://schemas.microsoft.com/office/drawing/2014/main" val="2241859415"/>
                        </a:ext>
                      </a:extLst>
                    </a:gridCol>
                  </a:tblGrid>
                  <a:tr h="479842">
                    <a:tc>
                      <a:txBody>
                        <a:bodyPr/>
                        <a:lstStyle/>
                        <a:p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A/C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52143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100" b="1" dirty="0"/>
                            <a:t>D/E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52143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100" b="1" dirty="0"/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18713673"/>
                      </a:ext>
                    </a:extLst>
                  </a:tr>
                  <a:tr h="5552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A/C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lang="en-US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61430145"/>
                      </a:ext>
                    </a:extLst>
                  </a:tr>
                  <a:tr h="5552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D/E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1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2192969"/>
                      </a:ext>
                    </a:extLst>
                  </a:tr>
                  <a:tr h="5552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499531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4427FFC8-7959-630F-8201-48A17006A18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13377248"/>
                  </p:ext>
                </p:extLst>
              </p:nvPr>
            </p:nvGraphicFramePr>
            <p:xfrm>
              <a:off x="5846689" y="1848688"/>
              <a:ext cx="4509420" cy="2145703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10748">
                      <a:extLst>
                        <a:ext uri="{9D8B030D-6E8A-4147-A177-3AD203B41FA5}">
                          <a16:colId xmlns:a16="http://schemas.microsoft.com/office/drawing/2014/main" val="1437232487"/>
                        </a:ext>
                      </a:extLst>
                    </a:gridCol>
                    <a:gridCol w="1176602">
                      <a:extLst>
                        <a:ext uri="{9D8B030D-6E8A-4147-A177-3AD203B41FA5}">
                          <a16:colId xmlns:a16="http://schemas.microsoft.com/office/drawing/2014/main" val="479385730"/>
                        </a:ext>
                      </a:extLst>
                    </a:gridCol>
                    <a:gridCol w="940772">
                      <a:extLst>
                        <a:ext uri="{9D8B030D-6E8A-4147-A177-3AD203B41FA5}">
                          <a16:colId xmlns:a16="http://schemas.microsoft.com/office/drawing/2014/main" val="3619448033"/>
                        </a:ext>
                      </a:extLst>
                    </a:gridCol>
                    <a:gridCol w="1081298">
                      <a:extLst>
                        <a:ext uri="{9D8B030D-6E8A-4147-A177-3AD203B41FA5}">
                          <a16:colId xmlns:a16="http://schemas.microsoft.com/office/drawing/2014/main" val="2241859415"/>
                        </a:ext>
                      </a:extLst>
                    </a:gridCol>
                  </a:tblGrid>
                  <a:tr h="479842">
                    <a:tc>
                      <a:txBody>
                        <a:bodyPr/>
                        <a:lstStyle/>
                        <a:p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A/C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52143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100" b="1" dirty="0"/>
                            <a:t>D/E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52143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100" b="1" dirty="0"/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18713673"/>
                      </a:ext>
                    </a:extLst>
                  </a:tr>
                  <a:tr h="5552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A/C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63871" t="-93407" r="-115484" b="-2032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61430145"/>
                      </a:ext>
                    </a:extLst>
                  </a:tr>
                  <a:tr h="5552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D/E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1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2192969"/>
                      </a:ext>
                    </a:extLst>
                  </a:tr>
                  <a:tr h="5552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499531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E0046892-5386-0BDB-3802-D9055B6AC770}"/>
                  </a:ext>
                </a:extLst>
              </p:cNvPr>
              <p:cNvSpPr/>
              <p:nvPr/>
            </p:nvSpPr>
            <p:spPr>
              <a:xfrm>
                <a:off x="4784658" y="4445093"/>
                <a:ext cx="5645881" cy="1432227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b="1" dirty="0"/>
                                <m:t>A</m:t>
                              </m:r>
                              <m:r>
                                <m:rPr>
                                  <m:nor/>
                                </m:rPr>
                                <a:rPr lang="en-US" b="1" dirty="0"/>
                                <m:t>/</m:t>
                              </m:r>
                              <m:r>
                                <m:rPr>
                                  <m:nor/>
                                </m:rPr>
                                <a:rPr lang="en-US" b="1" dirty="0"/>
                                <m:t>C</m:t>
                              </m:r>
                              <m:r>
                                <m:rPr>
                                  <m:nor/>
                                </m:rPr>
                                <a:rPr lang="en-US" b="1" dirty="0"/>
                                <m:t> 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</m:e>
                          </m:d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b="1" dirty="0"/>
                                <m:t>A</m:t>
                              </m:r>
                              <m:r>
                                <m:rPr>
                                  <m:nor/>
                                </m:rPr>
                                <a:rPr lang="en-US" b="1" dirty="0"/>
                                <m:t>/</m:t>
                              </m:r>
                              <m:r>
                                <m:rPr>
                                  <m:nor/>
                                </m:rPr>
                                <a:rPr lang="en-US" b="1" dirty="0"/>
                                <m:t>C</m:t>
                              </m:r>
                              <m:r>
                                <m:rPr>
                                  <m:nor/>
                                </m:rPr>
                                <a:rPr lang="en-US" b="1" dirty="0"/>
                                <m:t> 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e>
                          </m:d>
                        </m:num>
                        <m:den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num>
                        <m:den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E0046892-5386-0BDB-3802-D9055B6AC7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4658" y="4445093"/>
                <a:ext cx="5645881" cy="143222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22693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39E54-7E95-1E68-7622-88FBEEF75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FED41-69AB-DDDB-4C89-C8A80F92F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525" y="832615"/>
            <a:ext cx="9867014" cy="738624"/>
          </a:xfrm>
        </p:spPr>
        <p:txBody>
          <a:bodyPr/>
          <a:lstStyle/>
          <a:p>
            <a:pPr algn="ctr"/>
            <a:r>
              <a:rPr lang="en-US" sz="2000" b="1" dirty="0"/>
              <a:t>UNWEIGHTED PAIR-GROUP METHOD USING ARITHMATIC MEAN  (UPGMA)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D9E4BB85-0943-DFEA-C45F-E2637613689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154760" y="1699612"/>
              <a:ext cx="3612759" cy="237549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47014">
                      <a:extLst>
                        <a:ext uri="{9D8B030D-6E8A-4147-A177-3AD203B41FA5}">
                          <a16:colId xmlns:a16="http://schemas.microsoft.com/office/drawing/2014/main" val="1437232487"/>
                        </a:ext>
                      </a:extLst>
                    </a:gridCol>
                    <a:gridCol w="760328">
                      <a:extLst>
                        <a:ext uri="{9D8B030D-6E8A-4147-A177-3AD203B41FA5}">
                          <a16:colId xmlns:a16="http://schemas.microsoft.com/office/drawing/2014/main" val="479385730"/>
                        </a:ext>
                      </a:extLst>
                    </a:gridCol>
                    <a:gridCol w="607933">
                      <a:extLst>
                        <a:ext uri="{9D8B030D-6E8A-4147-A177-3AD203B41FA5}">
                          <a16:colId xmlns:a16="http://schemas.microsoft.com/office/drawing/2014/main" val="3619448033"/>
                        </a:ext>
                      </a:extLst>
                    </a:gridCol>
                    <a:gridCol w="698742">
                      <a:extLst>
                        <a:ext uri="{9D8B030D-6E8A-4147-A177-3AD203B41FA5}">
                          <a16:colId xmlns:a16="http://schemas.microsoft.com/office/drawing/2014/main" val="2241859415"/>
                        </a:ext>
                      </a:extLst>
                    </a:gridCol>
                    <a:gridCol w="698742">
                      <a:extLst>
                        <a:ext uri="{9D8B030D-6E8A-4147-A177-3AD203B41FA5}">
                          <a16:colId xmlns:a16="http://schemas.microsoft.com/office/drawing/2014/main" val="3711709464"/>
                        </a:ext>
                      </a:extLst>
                    </a:gridCol>
                  </a:tblGrid>
                  <a:tr h="475099">
                    <a:tc>
                      <a:txBody>
                        <a:bodyPr/>
                        <a:lstStyle/>
                        <a:p>
                          <a:endParaRPr lang="en-US" sz="21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A/C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18713673"/>
                      </a:ext>
                    </a:extLst>
                  </a:tr>
                  <a:tr h="4750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A/C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sz="2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2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52143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2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61430145"/>
                      </a:ext>
                    </a:extLst>
                  </a:tr>
                  <a:tr h="4750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1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0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2192969"/>
                      </a:ext>
                    </a:extLst>
                  </a:tr>
                  <a:tr h="4750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4995318"/>
                      </a:ext>
                    </a:extLst>
                  </a:tr>
                  <a:tr h="4750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1458331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D9E4BB85-0943-DFEA-C45F-E2637613689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154760" y="1699612"/>
              <a:ext cx="3612759" cy="237549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47014">
                      <a:extLst>
                        <a:ext uri="{9D8B030D-6E8A-4147-A177-3AD203B41FA5}">
                          <a16:colId xmlns:a16="http://schemas.microsoft.com/office/drawing/2014/main" val="1437232487"/>
                        </a:ext>
                      </a:extLst>
                    </a:gridCol>
                    <a:gridCol w="760328">
                      <a:extLst>
                        <a:ext uri="{9D8B030D-6E8A-4147-A177-3AD203B41FA5}">
                          <a16:colId xmlns:a16="http://schemas.microsoft.com/office/drawing/2014/main" val="479385730"/>
                        </a:ext>
                      </a:extLst>
                    </a:gridCol>
                    <a:gridCol w="607933">
                      <a:extLst>
                        <a:ext uri="{9D8B030D-6E8A-4147-A177-3AD203B41FA5}">
                          <a16:colId xmlns:a16="http://schemas.microsoft.com/office/drawing/2014/main" val="3619448033"/>
                        </a:ext>
                      </a:extLst>
                    </a:gridCol>
                    <a:gridCol w="698742">
                      <a:extLst>
                        <a:ext uri="{9D8B030D-6E8A-4147-A177-3AD203B41FA5}">
                          <a16:colId xmlns:a16="http://schemas.microsoft.com/office/drawing/2014/main" val="2241859415"/>
                        </a:ext>
                      </a:extLst>
                    </a:gridCol>
                    <a:gridCol w="698742">
                      <a:extLst>
                        <a:ext uri="{9D8B030D-6E8A-4147-A177-3AD203B41FA5}">
                          <a16:colId xmlns:a16="http://schemas.microsoft.com/office/drawing/2014/main" val="3711709464"/>
                        </a:ext>
                      </a:extLst>
                    </a:gridCol>
                  </a:tblGrid>
                  <a:tr h="475099">
                    <a:tc>
                      <a:txBody>
                        <a:bodyPr/>
                        <a:lstStyle/>
                        <a:p>
                          <a:endParaRPr lang="en-US" sz="21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A/C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18713673"/>
                      </a:ext>
                    </a:extLst>
                  </a:tr>
                  <a:tr h="4750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A/C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65000" t="-106410" r="-232000" b="-3128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17391" t="-106410" r="-101739" b="-3128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17391" t="-106410" r="-1739" b="-3128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61430145"/>
                      </a:ext>
                    </a:extLst>
                  </a:tr>
                  <a:tr h="4750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1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0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2192969"/>
                      </a:ext>
                    </a:extLst>
                  </a:tr>
                  <a:tr h="4750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4995318"/>
                      </a:ext>
                    </a:extLst>
                  </a:tr>
                  <a:tr h="4750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1458331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1F9B5281-50C8-591F-4BF4-2C0501019813}"/>
              </a:ext>
            </a:extLst>
          </p:cNvPr>
          <p:cNvSpPr/>
          <p:nvPr/>
        </p:nvSpPr>
        <p:spPr>
          <a:xfrm>
            <a:off x="895447" y="4372818"/>
            <a:ext cx="3460411" cy="43281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FF0000"/>
                </a:solidFill>
              </a:rPr>
              <a:t>PHYLOGENETIC TREES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E680A4B-EA54-15C5-64E6-2F0FE5716F18}"/>
              </a:ext>
            </a:extLst>
          </p:cNvPr>
          <p:cNvCxnSpPr>
            <a:cxnSpLocks/>
          </p:cNvCxnSpPr>
          <p:nvPr/>
        </p:nvCxnSpPr>
        <p:spPr>
          <a:xfrm>
            <a:off x="1610860" y="5093208"/>
            <a:ext cx="0" cy="59542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FA513C9-875E-2A21-30B3-743D539E22DD}"/>
              </a:ext>
            </a:extLst>
          </p:cNvPr>
          <p:cNvCxnSpPr>
            <a:cxnSpLocks/>
          </p:cNvCxnSpPr>
          <p:nvPr/>
        </p:nvCxnSpPr>
        <p:spPr>
          <a:xfrm flipH="1">
            <a:off x="1610860" y="5093208"/>
            <a:ext cx="92503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6661435E-6655-9BE5-4376-6E498E442003}"/>
              </a:ext>
            </a:extLst>
          </p:cNvPr>
          <p:cNvSpPr/>
          <p:nvPr/>
        </p:nvSpPr>
        <p:spPr>
          <a:xfrm>
            <a:off x="2642219" y="4944804"/>
            <a:ext cx="637842" cy="43280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A6C1575-E724-347A-823B-2A5FB28520AF}"/>
              </a:ext>
            </a:extLst>
          </p:cNvPr>
          <p:cNvSpPr/>
          <p:nvPr/>
        </p:nvSpPr>
        <p:spPr>
          <a:xfrm>
            <a:off x="2588943" y="5575941"/>
            <a:ext cx="691118" cy="4328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C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83D4F1E-BC35-B4D3-E667-B94BA812B839}"/>
              </a:ext>
            </a:extLst>
          </p:cNvPr>
          <p:cNvCxnSpPr>
            <a:cxnSpLocks/>
          </p:cNvCxnSpPr>
          <p:nvPr/>
        </p:nvCxnSpPr>
        <p:spPr>
          <a:xfrm flipH="1">
            <a:off x="1610860" y="5688631"/>
            <a:ext cx="92503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384D96E-1724-B4AE-C6ED-F1D0B5218FED}"/>
              </a:ext>
            </a:extLst>
          </p:cNvPr>
          <p:cNvCxnSpPr>
            <a:cxnSpLocks/>
          </p:cNvCxnSpPr>
          <p:nvPr/>
        </p:nvCxnSpPr>
        <p:spPr>
          <a:xfrm>
            <a:off x="1557809" y="6280783"/>
            <a:ext cx="0" cy="59542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2AF9041-9406-8654-321A-3DD4D8E51970}"/>
              </a:ext>
            </a:extLst>
          </p:cNvPr>
          <p:cNvCxnSpPr>
            <a:cxnSpLocks/>
          </p:cNvCxnSpPr>
          <p:nvPr/>
        </p:nvCxnSpPr>
        <p:spPr>
          <a:xfrm flipH="1">
            <a:off x="1557809" y="6280783"/>
            <a:ext cx="92503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83FBC91E-6C43-25C1-505A-DD16AB6C83EA}"/>
              </a:ext>
            </a:extLst>
          </p:cNvPr>
          <p:cNvSpPr/>
          <p:nvPr/>
        </p:nvSpPr>
        <p:spPr>
          <a:xfrm>
            <a:off x="2589168" y="6132379"/>
            <a:ext cx="637842" cy="43280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E3BCC66-7808-82B6-1716-6D09A75F0295}"/>
              </a:ext>
            </a:extLst>
          </p:cNvPr>
          <p:cNvSpPr/>
          <p:nvPr/>
        </p:nvSpPr>
        <p:spPr>
          <a:xfrm>
            <a:off x="2535892" y="6763516"/>
            <a:ext cx="691118" cy="4328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D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65F7F66-B17C-4366-E886-54524583D450}"/>
              </a:ext>
            </a:extLst>
          </p:cNvPr>
          <p:cNvCxnSpPr>
            <a:cxnSpLocks/>
          </p:cNvCxnSpPr>
          <p:nvPr/>
        </p:nvCxnSpPr>
        <p:spPr>
          <a:xfrm flipH="1">
            <a:off x="1557809" y="6876206"/>
            <a:ext cx="92503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Arrow: Right 3">
            <a:extLst>
              <a:ext uri="{FF2B5EF4-FFF2-40B4-BE49-F238E27FC236}">
                <a16:creationId xmlns:a16="http://schemas.microsoft.com/office/drawing/2014/main" id="{42B08C23-BFE6-2254-BECE-914D120CBF0B}"/>
              </a:ext>
            </a:extLst>
          </p:cNvPr>
          <p:cNvSpPr/>
          <p:nvPr/>
        </p:nvSpPr>
        <p:spPr>
          <a:xfrm>
            <a:off x="5025398" y="2284677"/>
            <a:ext cx="637841" cy="687351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F401C859-1788-E503-2CFE-B8E5201B8C2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68989619"/>
                  </p:ext>
                </p:extLst>
              </p:nvPr>
            </p:nvGraphicFramePr>
            <p:xfrm>
              <a:off x="5846689" y="1848688"/>
              <a:ext cx="4509420" cy="2145703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10748">
                      <a:extLst>
                        <a:ext uri="{9D8B030D-6E8A-4147-A177-3AD203B41FA5}">
                          <a16:colId xmlns:a16="http://schemas.microsoft.com/office/drawing/2014/main" val="1437232487"/>
                        </a:ext>
                      </a:extLst>
                    </a:gridCol>
                    <a:gridCol w="1176602">
                      <a:extLst>
                        <a:ext uri="{9D8B030D-6E8A-4147-A177-3AD203B41FA5}">
                          <a16:colId xmlns:a16="http://schemas.microsoft.com/office/drawing/2014/main" val="479385730"/>
                        </a:ext>
                      </a:extLst>
                    </a:gridCol>
                    <a:gridCol w="940772">
                      <a:extLst>
                        <a:ext uri="{9D8B030D-6E8A-4147-A177-3AD203B41FA5}">
                          <a16:colId xmlns:a16="http://schemas.microsoft.com/office/drawing/2014/main" val="3619448033"/>
                        </a:ext>
                      </a:extLst>
                    </a:gridCol>
                    <a:gridCol w="1081298">
                      <a:extLst>
                        <a:ext uri="{9D8B030D-6E8A-4147-A177-3AD203B41FA5}">
                          <a16:colId xmlns:a16="http://schemas.microsoft.com/office/drawing/2014/main" val="2241859415"/>
                        </a:ext>
                      </a:extLst>
                    </a:gridCol>
                  </a:tblGrid>
                  <a:tr h="479842">
                    <a:tc>
                      <a:txBody>
                        <a:bodyPr/>
                        <a:lstStyle/>
                        <a:p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A/C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52143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100" b="1" dirty="0"/>
                            <a:t>D/E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52143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100" b="1" dirty="0"/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18713673"/>
                      </a:ext>
                    </a:extLst>
                  </a:tr>
                  <a:tr h="5552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A/C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lang="en-US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52143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61430145"/>
                      </a:ext>
                    </a:extLst>
                  </a:tr>
                  <a:tr h="5552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D/E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1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2192969"/>
                      </a:ext>
                    </a:extLst>
                  </a:tr>
                  <a:tr h="5552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499531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F401C859-1788-E503-2CFE-B8E5201B8C2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68989619"/>
                  </p:ext>
                </p:extLst>
              </p:nvPr>
            </p:nvGraphicFramePr>
            <p:xfrm>
              <a:off x="5846689" y="1848688"/>
              <a:ext cx="4509420" cy="2145703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10748">
                      <a:extLst>
                        <a:ext uri="{9D8B030D-6E8A-4147-A177-3AD203B41FA5}">
                          <a16:colId xmlns:a16="http://schemas.microsoft.com/office/drawing/2014/main" val="1437232487"/>
                        </a:ext>
                      </a:extLst>
                    </a:gridCol>
                    <a:gridCol w="1176602">
                      <a:extLst>
                        <a:ext uri="{9D8B030D-6E8A-4147-A177-3AD203B41FA5}">
                          <a16:colId xmlns:a16="http://schemas.microsoft.com/office/drawing/2014/main" val="479385730"/>
                        </a:ext>
                      </a:extLst>
                    </a:gridCol>
                    <a:gridCol w="940772">
                      <a:extLst>
                        <a:ext uri="{9D8B030D-6E8A-4147-A177-3AD203B41FA5}">
                          <a16:colId xmlns:a16="http://schemas.microsoft.com/office/drawing/2014/main" val="3619448033"/>
                        </a:ext>
                      </a:extLst>
                    </a:gridCol>
                    <a:gridCol w="1081298">
                      <a:extLst>
                        <a:ext uri="{9D8B030D-6E8A-4147-A177-3AD203B41FA5}">
                          <a16:colId xmlns:a16="http://schemas.microsoft.com/office/drawing/2014/main" val="2241859415"/>
                        </a:ext>
                      </a:extLst>
                    </a:gridCol>
                  </a:tblGrid>
                  <a:tr h="479842">
                    <a:tc>
                      <a:txBody>
                        <a:bodyPr/>
                        <a:lstStyle/>
                        <a:p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A/C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52143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100" b="1" dirty="0"/>
                            <a:t>D/E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52143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100" b="1" dirty="0"/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18713673"/>
                      </a:ext>
                    </a:extLst>
                  </a:tr>
                  <a:tr h="5552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A/C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63871" t="-93407" r="-115484" b="-2032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18644" t="-93407" r="-1130" b="-2032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61430145"/>
                      </a:ext>
                    </a:extLst>
                  </a:tr>
                  <a:tr h="5552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D/E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1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2192969"/>
                      </a:ext>
                    </a:extLst>
                  </a:tr>
                  <a:tr h="5552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499531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944293AB-3B77-26B3-B50C-EC8AB70BAAF6}"/>
              </a:ext>
            </a:extLst>
          </p:cNvPr>
          <p:cNvSpPr/>
          <p:nvPr/>
        </p:nvSpPr>
        <p:spPr>
          <a:xfrm>
            <a:off x="4784658" y="4445093"/>
            <a:ext cx="5645881" cy="143222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	Next write the difference between AC and B which is six. (From the left table)</a:t>
            </a:r>
          </a:p>
        </p:txBody>
      </p:sp>
    </p:spTree>
    <p:extLst>
      <p:ext uri="{BB962C8B-B14F-4D97-AF65-F5344CB8AC3E}">
        <p14:creationId xmlns:p14="http://schemas.microsoft.com/office/powerpoint/2010/main" val="42705495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81CDF-8C96-FC09-AB3D-0EC768D97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64D94-D72B-2005-3EE0-F7FB10243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525" y="832615"/>
            <a:ext cx="9867014" cy="738624"/>
          </a:xfrm>
        </p:spPr>
        <p:txBody>
          <a:bodyPr/>
          <a:lstStyle/>
          <a:p>
            <a:pPr algn="ctr"/>
            <a:r>
              <a:rPr lang="en-US" sz="2000" b="1" dirty="0"/>
              <a:t>UNWEIGHTED PAIR-GROUP METHOD USING ARITHMATIC MEAN  (UPGMA)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340B9953-FBD9-46AA-7B01-17031B3202B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915579"/>
                  </p:ext>
                </p:extLst>
              </p:nvPr>
            </p:nvGraphicFramePr>
            <p:xfrm>
              <a:off x="1154760" y="1655484"/>
              <a:ext cx="3612759" cy="237549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47014">
                      <a:extLst>
                        <a:ext uri="{9D8B030D-6E8A-4147-A177-3AD203B41FA5}">
                          <a16:colId xmlns:a16="http://schemas.microsoft.com/office/drawing/2014/main" val="1437232487"/>
                        </a:ext>
                      </a:extLst>
                    </a:gridCol>
                    <a:gridCol w="760328">
                      <a:extLst>
                        <a:ext uri="{9D8B030D-6E8A-4147-A177-3AD203B41FA5}">
                          <a16:colId xmlns:a16="http://schemas.microsoft.com/office/drawing/2014/main" val="479385730"/>
                        </a:ext>
                      </a:extLst>
                    </a:gridCol>
                    <a:gridCol w="607933">
                      <a:extLst>
                        <a:ext uri="{9D8B030D-6E8A-4147-A177-3AD203B41FA5}">
                          <a16:colId xmlns:a16="http://schemas.microsoft.com/office/drawing/2014/main" val="3619448033"/>
                        </a:ext>
                      </a:extLst>
                    </a:gridCol>
                    <a:gridCol w="698742">
                      <a:extLst>
                        <a:ext uri="{9D8B030D-6E8A-4147-A177-3AD203B41FA5}">
                          <a16:colId xmlns:a16="http://schemas.microsoft.com/office/drawing/2014/main" val="2241859415"/>
                        </a:ext>
                      </a:extLst>
                    </a:gridCol>
                    <a:gridCol w="698742">
                      <a:extLst>
                        <a:ext uri="{9D8B030D-6E8A-4147-A177-3AD203B41FA5}">
                          <a16:colId xmlns:a16="http://schemas.microsoft.com/office/drawing/2014/main" val="3711709464"/>
                        </a:ext>
                      </a:extLst>
                    </a:gridCol>
                  </a:tblGrid>
                  <a:tr h="475099">
                    <a:tc>
                      <a:txBody>
                        <a:bodyPr/>
                        <a:lstStyle/>
                        <a:p>
                          <a:endParaRPr lang="en-US" sz="21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A/C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18713673"/>
                      </a:ext>
                    </a:extLst>
                  </a:tr>
                  <a:tr h="4750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A/C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sz="2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2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52143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2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61430145"/>
                      </a:ext>
                    </a:extLst>
                  </a:tr>
                  <a:tr h="4750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1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0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2192969"/>
                      </a:ext>
                    </a:extLst>
                  </a:tr>
                  <a:tr h="4750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4995318"/>
                      </a:ext>
                    </a:extLst>
                  </a:tr>
                  <a:tr h="4750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1458331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340B9953-FBD9-46AA-7B01-17031B3202B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915579"/>
                  </p:ext>
                </p:extLst>
              </p:nvPr>
            </p:nvGraphicFramePr>
            <p:xfrm>
              <a:off x="1154760" y="1655484"/>
              <a:ext cx="3612759" cy="237549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47014">
                      <a:extLst>
                        <a:ext uri="{9D8B030D-6E8A-4147-A177-3AD203B41FA5}">
                          <a16:colId xmlns:a16="http://schemas.microsoft.com/office/drawing/2014/main" val="1437232487"/>
                        </a:ext>
                      </a:extLst>
                    </a:gridCol>
                    <a:gridCol w="760328">
                      <a:extLst>
                        <a:ext uri="{9D8B030D-6E8A-4147-A177-3AD203B41FA5}">
                          <a16:colId xmlns:a16="http://schemas.microsoft.com/office/drawing/2014/main" val="479385730"/>
                        </a:ext>
                      </a:extLst>
                    </a:gridCol>
                    <a:gridCol w="607933">
                      <a:extLst>
                        <a:ext uri="{9D8B030D-6E8A-4147-A177-3AD203B41FA5}">
                          <a16:colId xmlns:a16="http://schemas.microsoft.com/office/drawing/2014/main" val="3619448033"/>
                        </a:ext>
                      </a:extLst>
                    </a:gridCol>
                    <a:gridCol w="698742">
                      <a:extLst>
                        <a:ext uri="{9D8B030D-6E8A-4147-A177-3AD203B41FA5}">
                          <a16:colId xmlns:a16="http://schemas.microsoft.com/office/drawing/2014/main" val="2241859415"/>
                        </a:ext>
                      </a:extLst>
                    </a:gridCol>
                    <a:gridCol w="698742">
                      <a:extLst>
                        <a:ext uri="{9D8B030D-6E8A-4147-A177-3AD203B41FA5}">
                          <a16:colId xmlns:a16="http://schemas.microsoft.com/office/drawing/2014/main" val="3711709464"/>
                        </a:ext>
                      </a:extLst>
                    </a:gridCol>
                  </a:tblGrid>
                  <a:tr h="475099">
                    <a:tc>
                      <a:txBody>
                        <a:bodyPr/>
                        <a:lstStyle/>
                        <a:p>
                          <a:endParaRPr lang="en-US" sz="21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A/C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18713673"/>
                      </a:ext>
                    </a:extLst>
                  </a:tr>
                  <a:tr h="4750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A/C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65000" t="-107692" r="-232000" b="-3128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17391" t="-107692" r="-101739" b="-3128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17391" t="-107692" r="-1739" b="-3128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61430145"/>
                      </a:ext>
                    </a:extLst>
                  </a:tr>
                  <a:tr h="4750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1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0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2192969"/>
                      </a:ext>
                    </a:extLst>
                  </a:tr>
                  <a:tr h="4750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4995318"/>
                      </a:ext>
                    </a:extLst>
                  </a:tr>
                  <a:tr h="4750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1458331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B46529AF-D0D9-BADA-B9A6-7007CE117E7A}"/>
              </a:ext>
            </a:extLst>
          </p:cNvPr>
          <p:cNvSpPr/>
          <p:nvPr/>
        </p:nvSpPr>
        <p:spPr>
          <a:xfrm>
            <a:off x="895447" y="4372818"/>
            <a:ext cx="3460411" cy="43281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FF0000"/>
                </a:solidFill>
              </a:rPr>
              <a:t>PHYLOGENETIC TREES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BBDC4F1-0532-3117-E08F-4EFC4BFABD25}"/>
              </a:ext>
            </a:extLst>
          </p:cNvPr>
          <p:cNvCxnSpPr>
            <a:cxnSpLocks/>
          </p:cNvCxnSpPr>
          <p:nvPr/>
        </p:nvCxnSpPr>
        <p:spPr>
          <a:xfrm>
            <a:off x="1610860" y="5093208"/>
            <a:ext cx="0" cy="59542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C0CCA45-A8D6-0E26-F5C3-2007A2D324BE}"/>
              </a:ext>
            </a:extLst>
          </p:cNvPr>
          <p:cNvCxnSpPr>
            <a:cxnSpLocks/>
          </p:cNvCxnSpPr>
          <p:nvPr/>
        </p:nvCxnSpPr>
        <p:spPr>
          <a:xfrm flipH="1">
            <a:off x="1610860" y="5093208"/>
            <a:ext cx="92503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12C81C82-7B50-F7CB-063E-1BBE6046767C}"/>
              </a:ext>
            </a:extLst>
          </p:cNvPr>
          <p:cNvSpPr/>
          <p:nvPr/>
        </p:nvSpPr>
        <p:spPr>
          <a:xfrm>
            <a:off x="2642219" y="4944804"/>
            <a:ext cx="637842" cy="43280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197B17D-C5AD-D205-532B-62F587C2727C}"/>
              </a:ext>
            </a:extLst>
          </p:cNvPr>
          <p:cNvSpPr/>
          <p:nvPr/>
        </p:nvSpPr>
        <p:spPr>
          <a:xfrm>
            <a:off x="2588943" y="5575941"/>
            <a:ext cx="691118" cy="4328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C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A511FE8-F717-383D-692E-A47165469966}"/>
              </a:ext>
            </a:extLst>
          </p:cNvPr>
          <p:cNvCxnSpPr>
            <a:cxnSpLocks/>
          </p:cNvCxnSpPr>
          <p:nvPr/>
        </p:nvCxnSpPr>
        <p:spPr>
          <a:xfrm flipH="1">
            <a:off x="1610860" y="5688631"/>
            <a:ext cx="92503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FC66B42-7079-10F3-6CDA-1EE5A36573A6}"/>
              </a:ext>
            </a:extLst>
          </p:cNvPr>
          <p:cNvCxnSpPr>
            <a:cxnSpLocks/>
          </p:cNvCxnSpPr>
          <p:nvPr/>
        </p:nvCxnSpPr>
        <p:spPr>
          <a:xfrm>
            <a:off x="1557809" y="6280783"/>
            <a:ext cx="0" cy="59542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C4E30A8-7697-BF2E-8D49-47A47CE140EF}"/>
              </a:ext>
            </a:extLst>
          </p:cNvPr>
          <p:cNvCxnSpPr>
            <a:cxnSpLocks/>
          </p:cNvCxnSpPr>
          <p:nvPr/>
        </p:nvCxnSpPr>
        <p:spPr>
          <a:xfrm flipH="1">
            <a:off x="1557809" y="6280783"/>
            <a:ext cx="92503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20ECC6BA-A648-CB7B-223A-B3C3CC9C566B}"/>
              </a:ext>
            </a:extLst>
          </p:cNvPr>
          <p:cNvSpPr/>
          <p:nvPr/>
        </p:nvSpPr>
        <p:spPr>
          <a:xfrm>
            <a:off x="2589168" y="6132379"/>
            <a:ext cx="637842" cy="43280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9B067EF-E8E6-094C-03A7-0AD3409FABEC}"/>
              </a:ext>
            </a:extLst>
          </p:cNvPr>
          <p:cNvSpPr/>
          <p:nvPr/>
        </p:nvSpPr>
        <p:spPr>
          <a:xfrm>
            <a:off x="2535892" y="6763516"/>
            <a:ext cx="691118" cy="4328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D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9964865-668B-E5C5-BFBD-E4C7CD392C99}"/>
              </a:ext>
            </a:extLst>
          </p:cNvPr>
          <p:cNvCxnSpPr>
            <a:cxnSpLocks/>
          </p:cNvCxnSpPr>
          <p:nvPr/>
        </p:nvCxnSpPr>
        <p:spPr>
          <a:xfrm flipH="1">
            <a:off x="1557809" y="6876206"/>
            <a:ext cx="92503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Arrow: Right 3">
            <a:extLst>
              <a:ext uri="{FF2B5EF4-FFF2-40B4-BE49-F238E27FC236}">
                <a16:creationId xmlns:a16="http://schemas.microsoft.com/office/drawing/2014/main" id="{CB31914A-A6D2-33BF-3FC5-E7136C409898}"/>
              </a:ext>
            </a:extLst>
          </p:cNvPr>
          <p:cNvSpPr/>
          <p:nvPr/>
        </p:nvSpPr>
        <p:spPr>
          <a:xfrm>
            <a:off x="5025398" y="2284677"/>
            <a:ext cx="637841" cy="687351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F91CE3B3-BF0B-6216-2657-B5AF0356ABF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88711381"/>
                  </p:ext>
                </p:extLst>
              </p:nvPr>
            </p:nvGraphicFramePr>
            <p:xfrm>
              <a:off x="5846689" y="1848688"/>
              <a:ext cx="4509420" cy="2145703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10748">
                      <a:extLst>
                        <a:ext uri="{9D8B030D-6E8A-4147-A177-3AD203B41FA5}">
                          <a16:colId xmlns:a16="http://schemas.microsoft.com/office/drawing/2014/main" val="1437232487"/>
                        </a:ext>
                      </a:extLst>
                    </a:gridCol>
                    <a:gridCol w="1176602">
                      <a:extLst>
                        <a:ext uri="{9D8B030D-6E8A-4147-A177-3AD203B41FA5}">
                          <a16:colId xmlns:a16="http://schemas.microsoft.com/office/drawing/2014/main" val="479385730"/>
                        </a:ext>
                      </a:extLst>
                    </a:gridCol>
                    <a:gridCol w="940772">
                      <a:extLst>
                        <a:ext uri="{9D8B030D-6E8A-4147-A177-3AD203B41FA5}">
                          <a16:colId xmlns:a16="http://schemas.microsoft.com/office/drawing/2014/main" val="3619448033"/>
                        </a:ext>
                      </a:extLst>
                    </a:gridCol>
                    <a:gridCol w="1081298">
                      <a:extLst>
                        <a:ext uri="{9D8B030D-6E8A-4147-A177-3AD203B41FA5}">
                          <a16:colId xmlns:a16="http://schemas.microsoft.com/office/drawing/2014/main" val="2241859415"/>
                        </a:ext>
                      </a:extLst>
                    </a:gridCol>
                  </a:tblGrid>
                  <a:tr h="479842">
                    <a:tc>
                      <a:txBody>
                        <a:bodyPr/>
                        <a:lstStyle/>
                        <a:p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A/C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52143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100" b="1" dirty="0"/>
                            <a:t>D/E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52143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100" b="1" dirty="0"/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18713673"/>
                      </a:ext>
                    </a:extLst>
                  </a:tr>
                  <a:tr h="5552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A/C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lang="en-US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52143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61430145"/>
                      </a:ext>
                    </a:extLst>
                  </a:tr>
                  <a:tr h="5552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D/E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1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0" dirty="0">
                              <a:solidFill>
                                <a:schemeClr val="tx1"/>
                              </a:solidFill>
                            </a:rPr>
                            <a:t>5.5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2192969"/>
                      </a:ext>
                    </a:extLst>
                  </a:tr>
                  <a:tr h="5552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499531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F91CE3B3-BF0B-6216-2657-B5AF0356ABF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88711381"/>
                  </p:ext>
                </p:extLst>
              </p:nvPr>
            </p:nvGraphicFramePr>
            <p:xfrm>
              <a:off x="5846689" y="1848688"/>
              <a:ext cx="4509420" cy="2145703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10748">
                      <a:extLst>
                        <a:ext uri="{9D8B030D-6E8A-4147-A177-3AD203B41FA5}">
                          <a16:colId xmlns:a16="http://schemas.microsoft.com/office/drawing/2014/main" val="1437232487"/>
                        </a:ext>
                      </a:extLst>
                    </a:gridCol>
                    <a:gridCol w="1176602">
                      <a:extLst>
                        <a:ext uri="{9D8B030D-6E8A-4147-A177-3AD203B41FA5}">
                          <a16:colId xmlns:a16="http://schemas.microsoft.com/office/drawing/2014/main" val="479385730"/>
                        </a:ext>
                      </a:extLst>
                    </a:gridCol>
                    <a:gridCol w="940772">
                      <a:extLst>
                        <a:ext uri="{9D8B030D-6E8A-4147-A177-3AD203B41FA5}">
                          <a16:colId xmlns:a16="http://schemas.microsoft.com/office/drawing/2014/main" val="3619448033"/>
                        </a:ext>
                      </a:extLst>
                    </a:gridCol>
                    <a:gridCol w="1081298">
                      <a:extLst>
                        <a:ext uri="{9D8B030D-6E8A-4147-A177-3AD203B41FA5}">
                          <a16:colId xmlns:a16="http://schemas.microsoft.com/office/drawing/2014/main" val="2241859415"/>
                        </a:ext>
                      </a:extLst>
                    </a:gridCol>
                  </a:tblGrid>
                  <a:tr h="479842">
                    <a:tc>
                      <a:txBody>
                        <a:bodyPr/>
                        <a:lstStyle/>
                        <a:p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A/C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52143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100" b="1" dirty="0"/>
                            <a:t>D/E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52143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100" b="1" dirty="0"/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18713673"/>
                      </a:ext>
                    </a:extLst>
                  </a:tr>
                  <a:tr h="5552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A/C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63871" t="-93407" r="-115484" b="-2032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18644" t="-93407" r="-1130" b="-2032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61430145"/>
                      </a:ext>
                    </a:extLst>
                  </a:tr>
                  <a:tr h="5552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D/E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1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0" dirty="0">
                              <a:solidFill>
                                <a:schemeClr val="tx1"/>
                              </a:solidFill>
                            </a:rPr>
                            <a:t>5.5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2192969"/>
                      </a:ext>
                    </a:extLst>
                  </a:tr>
                  <a:tr h="5552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499531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4624735-6610-334D-B297-94B6A189C227}"/>
                  </a:ext>
                </a:extLst>
              </p:cNvPr>
              <p:cNvSpPr/>
              <p:nvPr/>
            </p:nvSpPr>
            <p:spPr>
              <a:xfrm>
                <a:off x="4710228" y="4557037"/>
                <a:ext cx="5645881" cy="1432227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b="1" i="0" smtClean="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  <m:r>
                                <m:rPr>
                                  <m:nor/>
                                </m:rPr>
                                <a:rPr lang="en-US" b="1" dirty="0"/>
                                <m:t> 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</m:d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b="1" i="0" smtClean="0"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</m:d>
                        </m:num>
                        <m:den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</m:num>
                        <m:den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4624735-6610-334D-B297-94B6A189C2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0228" y="4557037"/>
                <a:ext cx="5645881" cy="143222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75863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124C7-2F93-DA4A-CB83-0C09C1B88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FF167CE-09A7-4C92-E5C5-EE378BFE32C7}"/>
              </a:ext>
            </a:extLst>
          </p:cNvPr>
          <p:cNvSpPr/>
          <p:nvPr/>
        </p:nvSpPr>
        <p:spPr>
          <a:xfrm>
            <a:off x="8420986" y="2392326"/>
            <a:ext cx="691116" cy="42530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45121F-B13F-B0C4-6D09-4BFC3C504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525" y="832615"/>
            <a:ext cx="9867014" cy="738624"/>
          </a:xfrm>
        </p:spPr>
        <p:txBody>
          <a:bodyPr/>
          <a:lstStyle/>
          <a:p>
            <a:pPr algn="ctr"/>
            <a:r>
              <a:rPr lang="en-US" sz="2000" b="1" dirty="0"/>
              <a:t>UNWEIGHTED PAIR-GROUP METHOD USING ARITHMATIC MEAN  (UPGMA)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04EA6A7E-D0D2-30F6-FC6A-526B7C0D26AE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154760" y="1655484"/>
              <a:ext cx="3612759" cy="237549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47014">
                      <a:extLst>
                        <a:ext uri="{9D8B030D-6E8A-4147-A177-3AD203B41FA5}">
                          <a16:colId xmlns:a16="http://schemas.microsoft.com/office/drawing/2014/main" val="1437232487"/>
                        </a:ext>
                      </a:extLst>
                    </a:gridCol>
                    <a:gridCol w="760328">
                      <a:extLst>
                        <a:ext uri="{9D8B030D-6E8A-4147-A177-3AD203B41FA5}">
                          <a16:colId xmlns:a16="http://schemas.microsoft.com/office/drawing/2014/main" val="479385730"/>
                        </a:ext>
                      </a:extLst>
                    </a:gridCol>
                    <a:gridCol w="607933">
                      <a:extLst>
                        <a:ext uri="{9D8B030D-6E8A-4147-A177-3AD203B41FA5}">
                          <a16:colId xmlns:a16="http://schemas.microsoft.com/office/drawing/2014/main" val="3619448033"/>
                        </a:ext>
                      </a:extLst>
                    </a:gridCol>
                    <a:gridCol w="698742">
                      <a:extLst>
                        <a:ext uri="{9D8B030D-6E8A-4147-A177-3AD203B41FA5}">
                          <a16:colId xmlns:a16="http://schemas.microsoft.com/office/drawing/2014/main" val="2241859415"/>
                        </a:ext>
                      </a:extLst>
                    </a:gridCol>
                    <a:gridCol w="698742">
                      <a:extLst>
                        <a:ext uri="{9D8B030D-6E8A-4147-A177-3AD203B41FA5}">
                          <a16:colId xmlns:a16="http://schemas.microsoft.com/office/drawing/2014/main" val="3711709464"/>
                        </a:ext>
                      </a:extLst>
                    </a:gridCol>
                  </a:tblGrid>
                  <a:tr h="475099">
                    <a:tc>
                      <a:txBody>
                        <a:bodyPr/>
                        <a:lstStyle/>
                        <a:p>
                          <a:endParaRPr lang="en-US" sz="21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A/C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18713673"/>
                      </a:ext>
                    </a:extLst>
                  </a:tr>
                  <a:tr h="4750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A/C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sz="2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2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52143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2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61430145"/>
                      </a:ext>
                    </a:extLst>
                  </a:tr>
                  <a:tr h="4750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1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0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2192969"/>
                      </a:ext>
                    </a:extLst>
                  </a:tr>
                  <a:tr h="4750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4995318"/>
                      </a:ext>
                    </a:extLst>
                  </a:tr>
                  <a:tr h="4750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1458331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04EA6A7E-D0D2-30F6-FC6A-526B7C0D26AE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154760" y="1655484"/>
              <a:ext cx="3612759" cy="237549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47014">
                      <a:extLst>
                        <a:ext uri="{9D8B030D-6E8A-4147-A177-3AD203B41FA5}">
                          <a16:colId xmlns:a16="http://schemas.microsoft.com/office/drawing/2014/main" val="1437232487"/>
                        </a:ext>
                      </a:extLst>
                    </a:gridCol>
                    <a:gridCol w="760328">
                      <a:extLst>
                        <a:ext uri="{9D8B030D-6E8A-4147-A177-3AD203B41FA5}">
                          <a16:colId xmlns:a16="http://schemas.microsoft.com/office/drawing/2014/main" val="479385730"/>
                        </a:ext>
                      </a:extLst>
                    </a:gridCol>
                    <a:gridCol w="607933">
                      <a:extLst>
                        <a:ext uri="{9D8B030D-6E8A-4147-A177-3AD203B41FA5}">
                          <a16:colId xmlns:a16="http://schemas.microsoft.com/office/drawing/2014/main" val="3619448033"/>
                        </a:ext>
                      </a:extLst>
                    </a:gridCol>
                    <a:gridCol w="698742">
                      <a:extLst>
                        <a:ext uri="{9D8B030D-6E8A-4147-A177-3AD203B41FA5}">
                          <a16:colId xmlns:a16="http://schemas.microsoft.com/office/drawing/2014/main" val="2241859415"/>
                        </a:ext>
                      </a:extLst>
                    </a:gridCol>
                    <a:gridCol w="698742">
                      <a:extLst>
                        <a:ext uri="{9D8B030D-6E8A-4147-A177-3AD203B41FA5}">
                          <a16:colId xmlns:a16="http://schemas.microsoft.com/office/drawing/2014/main" val="3711709464"/>
                        </a:ext>
                      </a:extLst>
                    </a:gridCol>
                  </a:tblGrid>
                  <a:tr h="475099">
                    <a:tc>
                      <a:txBody>
                        <a:bodyPr/>
                        <a:lstStyle/>
                        <a:p>
                          <a:endParaRPr lang="en-US" sz="21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A/C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18713673"/>
                      </a:ext>
                    </a:extLst>
                  </a:tr>
                  <a:tr h="4750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A/C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65000" t="-107692" r="-232000" b="-3128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17391" t="-107692" r="-101739" b="-3128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17391" t="-107692" r="-1739" b="-3128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61430145"/>
                      </a:ext>
                    </a:extLst>
                  </a:tr>
                  <a:tr h="4750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1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0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2192969"/>
                      </a:ext>
                    </a:extLst>
                  </a:tr>
                  <a:tr h="4750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4995318"/>
                      </a:ext>
                    </a:extLst>
                  </a:tr>
                  <a:tr h="4750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1458331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8BDFF07B-8342-9A40-6DA9-3BDE8F92175F}"/>
              </a:ext>
            </a:extLst>
          </p:cNvPr>
          <p:cNvSpPr/>
          <p:nvPr/>
        </p:nvSpPr>
        <p:spPr>
          <a:xfrm>
            <a:off x="895447" y="4372818"/>
            <a:ext cx="3460411" cy="43281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FF0000"/>
                </a:solidFill>
              </a:rPr>
              <a:t>PHYLOGENETIC TREES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BB7D98E-2764-5AF5-4855-75B421BFD15F}"/>
              </a:ext>
            </a:extLst>
          </p:cNvPr>
          <p:cNvCxnSpPr>
            <a:cxnSpLocks/>
          </p:cNvCxnSpPr>
          <p:nvPr/>
        </p:nvCxnSpPr>
        <p:spPr>
          <a:xfrm>
            <a:off x="1610860" y="5093208"/>
            <a:ext cx="0" cy="59542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615D7FA-6F06-B821-6FF9-A980599CB7B2}"/>
              </a:ext>
            </a:extLst>
          </p:cNvPr>
          <p:cNvCxnSpPr>
            <a:cxnSpLocks/>
          </p:cNvCxnSpPr>
          <p:nvPr/>
        </p:nvCxnSpPr>
        <p:spPr>
          <a:xfrm flipH="1">
            <a:off x="1610860" y="5093208"/>
            <a:ext cx="92503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B1778164-49A0-53A5-977E-E137BC36E084}"/>
              </a:ext>
            </a:extLst>
          </p:cNvPr>
          <p:cNvSpPr/>
          <p:nvPr/>
        </p:nvSpPr>
        <p:spPr>
          <a:xfrm>
            <a:off x="2642219" y="4944804"/>
            <a:ext cx="637842" cy="43280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2496DCD-59CF-4247-74FB-D5F6BAD46226}"/>
              </a:ext>
            </a:extLst>
          </p:cNvPr>
          <p:cNvSpPr/>
          <p:nvPr/>
        </p:nvSpPr>
        <p:spPr>
          <a:xfrm>
            <a:off x="2588943" y="5575941"/>
            <a:ext cx="691118" cy="4328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C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9111333-C13D-8803-3D1A-3B3B0A8C791D}"/>
              </a:ext>
            </a:extLst>
          </p:cNvPr>
          <p:cNvCxnSpPr>
            <a:cxnSpLocks/>
          </p:cNvCxnSpPr>
          <p:nvPr/>
        </p:nvCxnSpPr>
        <p:spPr>
          <a:xfrm flipH="1">
            <a:off x="1610860" y="5688631"/>
            <a:ext cx="92503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E3DA786-EA91-D8C6-C609-97B3183242B2}"/>
              </a:ext>
            </a:extLst>
          </p:cNvPr>
          <p:cNvCxnSpPr>
            <a:cxnSpLocks/>
          </p:cNvCxnSpPr>
          <p:nvPr/>
        </p:nvCxnSpPr>
        <p:spPr>
          <a:xfrm>
            <a:off x="1557809" y="6280783"/>
            <a:ext cx="0" cy="59542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CEAC073-E373-5794-4BC0-20A85AAD136E}"/>
              </a:ext>
            </a:extLst>
          </p:cNvPr>
          <p:cNvCxnSpPr>
            <a:cxnSpLocks/>
          </p:cNvCxnSpPr>
          <p:nvPr/>
        </p:nvCxnSpPr>
        <p:spPr>
          <a:xfrm flipH="1">
            <a:off x="1557809" y="6280783"/>
            <a:ext cx="92503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F85D719A-FF61-A5C9-056C-3F884BAFA9DB}"/>
              </a:ext>
            </a:extLst>
          </p:cNvPr>
          <p:cNvSpPr/>
          <p:nvPr/>
        </p:nvSpPr>
        <p:spPr>
          <a:xfrm>
            <a:off x="2589168" y="6132379"/>
            <a:ext cx="637842" cy="43280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B00691D-F864-BE99-174E-859DC3A1E202}"/>
              </a:ext>
            </a:extLst>
          </p:cNvPr>
          <p:cNvSpPr/>
          <p:nvPr/>
        </p:nvSpPr>
        <p:spPr>
          <a:xfrm>
            <a:off x="2535892" y="6763516"/>
            <a:ext cx="691118" cy="4328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D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AE71113-A716-C0DA-B6ED-CF7222FE2F0E}"/>
              </a:ext>
            </a:extLst>
          </p:cNvPr>
          <p:cNvCxnSpPr>
            <a:cxnSpLocks/>
          </p:cNvCxnSpPr>
          <p:nvPr/>
        </p:nvCxnSpPr>
        <p:spPr>
          <a:xfrm flipH="1">
            <a:off x="1557809" y="6876206"/>
            <a:ext cx="92503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Arrow: Right 3">
            <a:extLst>
              <a:ext uri="{FF2B5EF4-FFF2-40B4-BE49-F238E27FC236}">
                <a16:creationId xmlns:a16="http://schemas.microsoft.com/office/drawing/2014/main" id="{D057B43B-DC43-DE11-0358-E05F044000D1}"/>
              </a:ext>
            </a:extLst>
          </p:cNvPr>
          <p:cNvSpPr/>
          <p:nvPr/>
        </p:nvSpPr>
        <p:spPr>
          <a:xfrm>
            <a:off x="5025398" y="2284677"/>
            <a:ext cx="637841" cy="687351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DB5A3CFD-42C7-489D-A3F7-98B58BAB8AB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53074018"/>
                  </p:ext>
                </p:extLst>
              </p:nvPr>
            </p:nvGraphicFramePr>
            <p:xfrm>
              <a:off x="5846689" y="1848688"/>
              <a:ext cx="4509420" cy="2145703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10748">
                      <a:extLst>
                        <a:ext uri="{9D8B030D-6E8A-4147-A177-3AD203B41FA5}">
                          <a16:colId xmlns:a16="http://schemas.microsoft.com/office/drawing/2014/main" val="1437232487"/>
                        </a:ext>
                      </a:extLst>
                    </a:gridCol>
                    <a:gridCol w="1176602">
                      <a:extLst>
                        <a:ext uri="{9D8B030D-6E8A-4147-A177-3AD203B41FA5}">
                          <a16:colId xmlns:a16="http://schemas.microsoft.com/office/drawing/2014/main" val="479385730"/>
                        </a:ext>
                      </a:extLst>
                    </a:gridCol>
                    <a:gridCol w="940772">
                      <a:extLst>
                        <a:ext uri="{9D8B030D-6E8A-4147-A177-3AD203B41FA5}">
                          <a16:colId xmlns:a16="http://schemas.microsoft.com/office/drawing/2014/main" val="3619448033"/>
                        </a:ext>
                      </a:extLst>
                    </a:gridCol>
                    <a:gridCol w="1081298">
                      <a:extLst>
                        <a:ext uri="{9D8B030D-6E8A-4147-A177-3AD203B41FA5}">
                          <a16:colId xmlns:a16="http://schemas.microsoft.com/office/drawing/2014/main" val="2241859415"/>
                        </a:ext>
                      </a:extLst>
                    </a:gridCol>
                  </a:tblGrid>
                  <a:tr h="479842">
                    <a:tc>
                      <a:txBody>
                        <a:bodyPr/>
                        <a:lstStyle/>
                        <a:p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A/C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52143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100" b="1" dirty="0"/>
                            <a:t>D/E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52143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100" b="1" dirty="0"/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18713673"/>
                      </a:ext>
                    </a:extLst>
                  </a:tr>
                  <a:tr h="5552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A/C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lang="en-US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52143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61430145"/>
                      </a:ext>
                    </a:extLst>
                  </a:tr>
                  <a:tr h="5552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D/E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1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0" dirty="0">
                              <a:solidFill>
                                <a:schemeClr val="tx1"/>
                              </a:solidFill>
                            </a:rPr>
                            <a:t>5.5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2192969"/>
                      </a:ext>
                    </a:extLst>
                  </a:tr>
                  <a:tr h="5552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499531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DB5A3CFD-42C7-489D-A3F7-98B58BAB8AB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53074018"/>
                  </p:ext>
                </p:extLst>
              </p:nvPr>
            </p:nvGraphicFramePr>
            <p:xfrm>
              <a:off x="5846689" y="1848688"/>
              <a:ext cx="4509420" cy="2145703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10748">
                      <a:extLst>
                        <a:ext uri="{9D8B030D-6E8A-4147-A177-3AD203B41FA5}">
                          <a16:colId xmlns:a16="http://schemas.microsoft.com/office/drawing/2014/main" val="1437232487"/>
                        </a:ext>
                      </a:extLst>
                    </a:gridCol>
                    <a:gridCol w="1176602">
                      <a:extLst>
                        <a:ext uri="{9D8B030D-6E8A-4147-A177-3AD203B41FA5}">
                          <a16:colId xmlns:a16="http://schemas.microsoft.com/office/drawing/2014/main" val="479385730"/>
                        </a:ext>
                      </a:extLst>
                    </a:gridCol>
                    <a:gridCol w="940772">
                      <a:extLst>
                        <a:ext uri="{9D8B030D-6E8A-4147-A177-3AD203B41FA5}">
                          <a16:colId xmlns:a16="http://schemas.microsoft.com/office/drawing/2014/main" val="3619448033"/>
                        </a:ext>
                      </a:extLst>
                    </a:gridCol>
                    <a:gridCol w="1081298">
                      <a:extLst>
                        <a:ext uri="{9D8B030D-6E8A-4147-A177-3AD203B41FA5}">
                          <a16:colId xmlns:a16="http://schemas.microsoft.com/office/drawing/2014/main" val="2241859415"/>
                        </a:ext>
                      </a:extLst>
                    </a:gridCol>
                  </a:tblGrid>
                  <a:tr h="479842">
                    <a:tc>
                      <a:txBody>
                        <a:bodyPr/>
                        <a:lstStyle/>
                        <a:p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A/C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52143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100" b="1" dirty="0"/>
                            <a:t>D/E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52143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100" b="1" dirty="0"/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18713673"/>
                      </a:ext>
                    </a:extLst>
                  </a:tr>
                  <a:tr h="5552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A/C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63871" t="-93407" r="-115484" b="-2032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18644" t="-93407" r="-1130" b="-2032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61430145"/>
                      </a:ext>
                    </a:extLst>
                  </a:tr>
                  <a:tr h="5552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D/E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1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0" dirty="0">
                              <a:solidFill>
                                <a:schemeClr val="tx1"/>
                              </a:solidFill>
                            </a:rPr>
                            <a:t>5.5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2192969"/>
                      </a:ext>
                    </a:extLst>
                  </a:tr>
                  <a:tr h="5552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499531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2C1A7B17-8208-9252-C8C3-E17796BECF22}"/>
              </a:ext>
            </a:extLst>
          </p:cNvPr>
          <p:cNvSpPr/>
          <p:nvPr/>
        </p:nvSpPr>
        <p:spPr>
          <a:xfrm>
            <a:off x="4767519" y="4271840"/>
            <a:ext cx="5748081" cy="250909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457200" indent="-457200">
              <a:buFont typeface="+mj-lt"/>
              <a:buAutoNum type="arabicPeriod"/>
            </a:pPr>
            <a:endParaRPr lang="en-US" b="1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Pick the lowest value again which is five.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It means that AC is related to ED.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The final sequence is B.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The order of sequence B is determined by its  values.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It has a six value against AC and a 5.5 value again E and D.</a:t>
            </a:r>
          </a:p>
          <a:p>
            <a:pPr marL="457200" indent="-457200">
              <a:buFont typeface="+mj-lt"/>
              <a:buAutoNum type="arabicPeriod"/>
            </a:pPr>
            <a:endParaRPr lang="en-US" b="1" dirty="0"/>
          </a:p>
          <a:p>
            <a:pPr marL="457200" indent="-457200">
              <a:buFont typeface="+mj-lt"/>
              <a:buAutoNum type="arabicPeriod"/>
            </a:pPr>
            <a:endParaRPr lang="en-US" b="1" dirty="0"/>
          </a:p>
          <a:p>
            <a:pPr marL="457200" indent="-457200">
              <a:buFont typeface="+mj-lt"/>
              <a:buAutoNum type="arabicPeriod"/>
            </a:pPr>
            <a:endParaRPr lang="en-US" b="1" dirty="0"/>
          </a:p>
          <a:p>
            <a:pPr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467339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153E3-DAF8-B878-F92C-9019AB6AB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23E06A3-D1A7-EED8-C2D5-B85EB0B555D3}"/>
              </a:ext>
            </a:extLst>
          </p:cNvPr>
          <p:cNvSpPr/>
          <p:nvPr/>
        </p:nvSpPr>
        <p:spPr>
          <a:xfrm>
            <a:off x="8420986" y="2392326"/>
            <a:ext cx="691116" cy="42530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98ACF1-B478-6F74-B297-DA175089F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525" y="832615"/>
            <a:ext cx="9867014" cy="738624"/>
          </a:xfrm>
        </p:spPr>
        <p:txBody>
          <a:bodyPr/>
          <a:lstStyle/>
          <a:p>
            <a:pPr algn="ctr"/>
            <a:r>
              <a:rPr lang="en-US" sz="2000" b="1" dirty="0"/>
              <a:t>UNWEIGHTED PAIR-GROUP METHOD USING ARITHMATIC MEAN  (UPGMA)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F846FF96-97AD-82B0-6485-0B37FD71EDE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154760" y="1655484"/>
              <a:ext cx="3612759" cy="237549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47014">
                      <a:extLst>
                        <a:ext uri="{9D8B030D-6E8A-4147-A177-3AD203B41FA5}">
                          <a16:colId xmlns:a16="http://schemas.microsoft.com/office/drawing/2014/main" val="1437232487"/>
                        </a:ext>
                      </a:extLst>
                    </a:gridCol>
                    <a:gridCol w="760328">
                      <a:extLst>
                        <a:ext uri="{9D8B030D-6E8A-4147-A177-3AD203B41FA5}">
                          <a16:colId xmlns:a16="http://schemas.microsoft.com/office/drawing/2014/main" val="479385730"/>
                        </a:ext>
                      </a:extLst>
                    </a:gridCol>
                    <a:gridCol w="607933">
                      <a:extLst>
                        <a:ext uri="{9D8B030D-6E8A-4147-A177-3AD203B41FA5}">
                          <a16:colId xmlns:a16="http://schemas.microsoft.com/office/drawing/2014/main" val="3619448033"/>
                        </a:ext>
                      </a:extLst>
                    </a:gridCol>
                    <a:gridCol w="698742">
                      <a:extLst>
                        <a:ext uri="{9D8B030D-6E8A-4147-A177-3AD203B41FA5}">
                          <a16:colId xmlns:a16="http://schemas.microsoft.com/office/drawing/2014/main" val="2241859415"/>
                        </a:ext>
                      </a:extLst>
                    </a:gridCol>
                    <a:gridCol w="698742">
                      <a:extLst>
                        <a:ext uri="{9D8B030D-6E8A-4147-A177-3AD203B41FA5}">
                          <a16:colId xmlns:a16="http://schemas.microsoft.com/office/drawing/2014/main" val="3711709464"/>
                        </a:ext>
                      </a:extLst>
                    </a:gridCol>
                  </a:tblGrid>
                  <a:tr h="475099">
                    <a:tc>
                      <a:txBody>
                        <a:bodyPr/>
                        <a:lstStyle/>
                        <a:p>
                          <a:endParaRPr lang="en-US" sz="21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A/C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18713673"/>
                      </a:ext>
                    </a:extLst>
                  </a:tr>
                  <a:tr h="4750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A/C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sz="2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2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52143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2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61430145"/>
                      </a:ext>
                    </a:extLst>
                  </a:tr>
                  <a:tr h="4750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1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0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2192969"/>
                      </a:ext>
                    </a:extLst>
                  </a:tr>
                  <a:tr h="4750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4995318"/>
                      </a:ext>
                    </a:extLst>
                  </a:tr>
                  <a:tr h="4750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1458331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F846FF96-97AD-82B0-6485-0B37FD71EDE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154760" y="1655484"/>
              <a:ext cx="3612759" cy="237549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47014">
                      <a:extLst>
                        <a:ext uri="{9D8B030D-6E8A-4147-A177-3AD203B41FA5}">
                          <a16:colId xmlns:a16="http://schemas.microsoft.com/office/drawing/2014/main" val="1437232487"/>
                        </a:ext>
                      </a:extLst>
                    </a:gridCol>
                    <a:gridCol w="760328">
                      <a:extLst>
                        <a:ext uri="{9D8B030D-6E8A-4147-A177-3AD203B41FA5}">
                          <a16:colId xmlns:a16="http://schemas.microsoft.com/office/drawing/2014/main" val="479385730"/>
                        </a:ext>
                      </a:extLst>
                    </a:gridCol>
                    <a:gridCol w="607933">
                      <a:extLst>
                        <a:ext uri="{9D8B030D-6E8A-4147-A177-3AD203B41FA5}">
                          <a16:colId xmlns:a16="http://schemas.microsoft.com/office/drawing/2014/main" val="3619448033"/>
                        </a:ext>
                      </a:extLst>
                    </a:gridCol>
                    <a:gridCol w="698742">
                      <a:extLst>
                        <a:ext uri="{9D8B030D-6E8A-4147-A177-3AD203B41FA5}">
                          <a16:colId xmlns:a16="http://schemas.microsoft.com/office/drawing/2014/main" val="2241859415"/>
                        </a:ext>
                      </a:extLst>
                    </a:gridCol>
                    <a:gridCol w="698742">
                      <a:extLst>
                        <a:ext uri="{9D8B030D-6E8A-4147-A177-3AD203B41FA5}">
                          <a16:colId xmlns:a16="http://schemas.microsoft.com/office/drawing/2014/main" val="3711709464"/>
                        </a:ext>
                      </a:extLst>
                    </a:gridCol>
                  </a:tblGrid>
                  <a:tr h="475099">
                    <a:tc>
                      <a:txBody>
                        <a:bodyPr/>
                        <a:lstStyle/>
                        <a:p>
                          <a:endParaRPr lang="en-US" sz="21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A/C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18713673"/>
                      </a:ext>
                    </a:extLst>
                  </a:tr>
                  <a:tr h="4750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A/C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65000" t="-107692" r="-232000" b="-3128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17391" t="-107692" r="-101739" b="-3128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17391" t="-107692" r="-1739" b="-3128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61430145"/>
                      </a:ext>
                    </a:extLst>
                  </a:tr>
                  <a:tr h="4750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1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0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2192969"/>
                      </a:ext>
                    </a:extLst>
                  </a:tr>
                  <a:tr h="4750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4995318"/>
                      </a:ext>
                    </a:extLst>
                  </a:tr>
                  <a:tr h="4750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1458331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A3A1035C-4B43-CA3B-2028-109B1D3B89B8}"/>
              </a:ext>
            </a:extLst>
          </p:cNvPr>
          <p:cNvSpPr/>
          <p:nvPr/>
        </p:nvSpPr>
        <p:spPr>
          <a:xfrm>
            <a:off x="895447" y="4372818"/>
            <a:ext cx="3460411" cy="43281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FF0000"/>
                </a:solidFill>
              </a:rPr>
              <a:t>PHYLOGENETIC TREES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3837456-3EFE-6489-FFEF-46721BC7ECC9}"/>
              </a:ext>
            </a:extLst>
          </p:cNvPr>
          <p:cNvCxnSpPr>
            <a:cxnSpLocks/>
          </p:cNvCxnSpPr>
          <p:nvPr/>
        </p:nvCxnSpPr>
        <p:spPr>
          <a:xfrm>
            <a:off x="1610860" y="5093208"/>
            <a:ext cx="0" cy="59542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12EC04D-1889-E364-3160-0507F231168F}"/>
              </a:ext>
            </a:extLst>
          </p:cNvPr>
          <p:cNvCxnSpPr>
            <a:cxnSpLocks/>
          </p:cNvCxnSpPr>
          <p:nvPr/>
        </p:nvCxnSpPr>
        <p:spPr>
          <a:xfrm flipH="1">
            <a:off x="1610860" y="5093208"/>
            <a:ext cx="92503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12A76A37-75CA-33C1-1F59-574DE741F590}"/>
              </a:ext>
            </a:extLst>
          </p:cNvPr>
          <p:cNvSpPr/>
          <p:nvPr/>
        </p:nvSpPr>
        <p:spPr>
          <a:xfrm>
            <a:off x="2642219" y="4944804"/>
            <a:ext cx="637842" cy="43280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34C50BF-B5A3-CF40-C693-BDD3CB50A45D}"/>
              </a:ext>
            </a:extLst>
          </p:cNvPr>
          <p:cNvSpPr/>
          <p:nvPr/>
        </p:nvSpPr>
        <p:spPr>
          <a:xfrm>
            <a:off x="2588943" y="5575941"/>
            <a:ext cx="691118" cy="4328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C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BFB271A-E01F-E3C1-13A6-E8BD166359BF}"/>
              </a:ext>
            </a:extLst>
          </p:cNvPr>
          <p:cNvCxnSpPr>
            <a:cxnSpLocks/>
          </p:cNvCxnSpPr>
          <p:nvPr/>
        </p:nvCxnSpPr>
        <p:spPr>
          <a:xfrm flipH="1">
            <a:off x="1610860" y="5688631"/>
            <a:ext cx="92503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01FCF8B-A674-373B-E57A-25E5FECB1C8B}"/>
              </a:ext>
            </a:extLst>
          </p:cNvPr>
          <p:cNvCxnSpPr>
            <a:cxnSpLocks/>
          </p:cNvCxnSpPr>
          <p:nvPr/>
        </p:nvCxnSpPr>
        <p:spPr>
          <a:xfrm>
            <a:off x="1557809" y="6280783"/>
            <a:ext cx="0" cy="59542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9EE51D0-E9CC-D7F9-EE71-C1A4E43F9046}"/>
              </a:ext>
            </a:extLst>
          </p:cNvPr>
          <p:cNvCxnSpPr>
            <a:cxnSpLocks/>
          </p:cNvCxnSpPr>
          <p:nvPr/>
        </p:nvCxnSpPr>
        <p:spPr>
          <a:xfrm flipH="1">
            <a:off x="1557809" y="6280783"/>
            <a:ext cx="92503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867271A3-C222-E3B9-1C6E-D07BC8CE9E54}"/>
              </a:ext>
            </a:extLst>
          </p:cNvPr>
          <p:cNvSpPr/>
          <p:nvPr/>
        </p:nvSpPr>
        <p:spPr>
          <a:xfrm>
            <a:off x="2589168" y="6132379"/>
            <a:ext cx="637842" cy="43280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0CFC947-871D-F154-C2FB-84146C7F3C6A}"/>
              </a:ext>
            </a:extLst>
          </p:cNvPr>
          <p:cNvSpPr/>
          <p:nvPr/>
        </p:nvSpPr>
        <p:spPr>
          <a:xfrm>
            <a:off x="2535892" y="6763516"/>
            <a:ext cx="691118" cy="4328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D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BE9FA16-05FE-B5B3-DE3C-396183573F13}"/>
              </a:ext>
            </a:extLst>
          </p:cNvPr>
          <p:cNvCxnSpPr>
            <a:cxnSpLocks/>
          </p:cNvCxnSpPr>
          <p:nvPr/>
        </p:nvCxnSpPr>
        <p:spPr>
          <a:xfrm flipH="1">
            <a:off x="1557809" y="6876206"/>
            <a:ext cx="92503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Arrow: Right 3">
            <a:extLst>
              <a:ext uri="{FF2B5EF4-FFF2-40B4-BE49-F238E27FC236}">
                <a16:creationId xmlns:a16="http://schemas.microsoft.com/office/drawing/2014/main" id="{C195723F-F6B6-410E-2C1C-FDECB989A3C5}"/>
              </a:ext>
            </a:extLst>
          </p:cNvPr>
          <p:cNvSpPr/>
          <p:nvPr/>
        </p:nvSpPr>
        <p:spPr>
          <a:xfrm>
            <a:off x="5025398" y="2284677"/>
            <a:ext cx="637841" cy="687351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4752D5BF-58E2-1667-11EF-4016E297B33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846689" y="1848688"/>
              <a:ext cx="4509420" cy="2145703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10748">
                      <a:extLst>
                        <a:ext uri="{9D8B030D-6E8A-4147-A177-3AD203B41FA5}">
                          <a16:colId xmlns:a16="http://schemas.microsoft.com/office/drawing/2014/main" val="1437232487"/>
                        </a:ext>
                      </a:extLst>
                    </a:gridCol>
                    <a:gridCol w="1176602">
                      <a:extLst>
                        <a:ext uri="{9D8B030D-6E8A-4147-A177-3AD203B41FA5}">
                          <a16:colId xmlns:a16="http://schemas.microsoft.com/office/drawing/2014/main" val="479385730"/>
                        </a:ext>
                      </a:extLst>
                    </a:gridCol>
                    <a:gridCol w="940772">
                      <a:extLst>
                        <a:ext uri="{9D8B030D-6E8A-4147-A177-3AD203B41FA5}">
                          <a16:colId xmlns:a16="http://schemas.microsoft.com/office/drawing/2014/main" val="3619448033"/>
                        </a:ext>
                      </a:extLst>
                    </a:gridCol>
                    <a:gridCol w="1081298">
                      <a:extLst>
                        <a:ext uri="{9D8B030D-6E8A-4147-A177-3AD203B41FA5}">
                          <a16:colId xmlns:a16="http://schemas.microsoft.com/office/drawing/2014/main" val="2241859415"/>
                        </a:ext>
                      </a:extLst>
                    </a:gridCol>
                  </a:tblGrid>
                  <a:tr h="479842">
                    <a:tc>
                      <a:txBody>
                        <a:bodyPr/>
                        <a:lstStyle/>
                        <a:p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A/C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52143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100" b="1" dirty="0"/>
                            <a:t>D/E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52143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100" b="1" dirty="0"/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18713673"/>
                      </a:ext>
                    </a:extLst>
                  </a:tr>
                  <a:tr h="5552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A/C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1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lang="en-US" sz="2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52143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61430145"/>
                      </a:ext>
                    </a:extLst>
                  </a:tr>
                  <a:tr h="5552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D/E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1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0" dirty="0">
                              <a:solidFill>
                                <a:schemeClr val="tx1"/>
                              </a:solidFill>
                            </a:rPr>
                            <a:t>5.5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2192969"/>
                      </a:ext>
                    </a:extLst>
                  </a:tr>
                  <a:tr h="5552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499531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4752D5BF-58E2-1667-11EF-4016E297B33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846689" y="1848688"/>
              <a:ext cx="4509420" cy="2145703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10748">
                      <a:extLst>
                        <a:ext uri="{9D8B030D-6E8A-4147-A177-3AD203B41FA5}">
                          <a16:colId xmlns:a16="http://schemas.microsoft.com/office/drawing/2014/main" val="1437232487"/>
                        </a:ext>
                      </a:extLst>
                    </a:gridCol>
                    <a:gridCol w="1176602">
                      <a:extLst>
                        <a:ext uri="{9D8B030D-6E8A-4147-A177-3AD203B41FA5}">
                          <a16:colId xmlns:a16="http://schemas.microsoft.com/office/drawing/2014/main" val="479385730"/>
                        </a:ext>
                      </a:extLst>
                    </a:gridCol>
                    <a:gridCol w="940772">
                      <a:extLst>
                        <a:ext uri="{9D8B030D-6E8A-4147-A177-3AD203B41FA5}">
                          <a16:colId xmlns:a16="http://schemas.microsoft.com/office/drawing/2014/main" val="3619448033"/>
                        </a:ext>
                      </a:extLst>
                    </a:gridCol>
                    <a:gridCol w="1081298">
                      <a:extLst>
                        <a:ext uri="{9D8B030D-6E8A-4147-A177-3AD203B41FA5}">
                          <a16:colId xmlns:a16="http://schemas.microsoft.com/office/drawing/2014/main" val="2241859415"/>
                        </a:ext>
                      </a:extLst>
                    </a:gridCol>
                  </a:tblGrid>
                  <a:tr h="479842">
                    <a:tc>
                      <a:txBody>
                        <a:bodyPr/>
                        <a:lstStyle/>
                        <a:p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A/C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52143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100" b="1" dirty="0"/>
                            <a:t>D/E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52143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100" b="1" dirty="0"/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18713673"/>
                      </a:ext>
                    </a:extLst>
                  </a:tr>
                  <a:tr h="5552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A/C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63871" t="-93407" r="-115484" b="-2032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18644" t="-93407" r="-1130" b="-2032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61430145"/>
                      </a:ext>
                    </a:extLst>
                  </a:tr>
                  <a:tr h="5552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D/E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1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0" dirty="0">
                              <a:solidFill>
                                <a:schemeClr val="tx1"/>
                              </a:solidFill>
                            </a:rPr>
                            <a:t>5.5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2192969"/>
                      </a:ext>
                    </a:extLst>
                  </a:tr>
                  <a:tr h="5552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499531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ED6FB480-5211-EE85-B0B0-AEAD06374164}"/>
              </a:ext>
            </a:extLst>
          </p:cNvPr>
          <p:cNvSpPr/>
          <p:nvPr/>
        </p:nvSpPr>
        <p:spPr>
          <a:xfrm>
            <a:off x="7223050" y="4368566"/>
            <a:ext cx="3460411" cy="43281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FF0000"/>
                </a:solidFill>
              </a:rPr>
              <a:t>PHYLOGENETIC TREES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DCADAE1-0057-12DC-57C0-FE8016685DD4}"/>
              </a:ext>
            </a:extLst>
          </p:cNvPr>
          <p:cNvCxnSpPr>
            <a:cxnSpLocks/>
          </p:cNvCxnSpPr>
          <p:nvPr/>
        </p:nvCxnSpPr>
        <p:spPr>
          <a:xfrm>
            <a:off x="7938463" y="5088956"/>
            <a:ext cx="0" cy="59542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2230945-3987-EBEF-5E3B-06E30ABB5758}"/>
              </a:ext>
            </a:extLst>
          </p:cNvPr>
          <p:cNvCxnSpPr>
            <a:cxnSpLocks/>
          </p:cNvCxnSpPr>
          <p:nvPr/>
        </p:nvCxnSpPr>
        <p:spPr>
          <a:xfrm flipH="1">
            <a:off x="7938463" y="5088956"/>
            <a:ext cx="92503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1D90D558-FD68-AA3B-5E08-373FBCB23490}"/>
              </a:ext>
            </a:extLst>
          </p:cNvPr>
          <p:cNvSpPr/>
          <p:nvPr/>
        </p:nvSpPr>
        <p:spPr>
          <a:xfrm>
            <a:off x="8969822" y="4940552"/>
            <a:ext cx="637842" cy="43280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4A68B04-7E1A-727A-7C17-54B85C19A6C9}"/>
              </a:ext>
            </a:extLst>
          </p:cNvPr>
          <p:cNvSpPr/>
          <p:nvPr/>
        </p:nvSpPr>
        <p:spPr>
          <a:xfrm>
            <a:off x="8916546" y="5571689"/>
            <a:ext cx="691118" cy="4328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C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AD5E2CE-1113-A7BA-DFAB-9D84DA3752D9}"/>
              </a:ext>
            </a:extLst>
          </p:cNvPr>
          <p:cNvCxnSpPr>
            <a:cxnSpLocks/>
          </p:cNvCxnSpPr>
          <p:nvPr/>
        </p:nvCxnSpPr>
        <p:spPr>
          <a:xfrm flipH="1">
            <a:off x="7938463" y="5684379"/>
            <a:ext cx="92503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4DB5027-8365-FD50-93FF-18AE2742CCA6}"/>
              </a:ext>
            </a:extLst>
          </p:cNvPr>
          <p:cNvCxnSpPr>
            <a:cxnSpLocks/>
          </p:cNvCxnSpPr>
          <p:nvPr/>
        </p:nvCxnSpPr>
        <p:spPr>
          <a:xfrm>
            <a:off x="7885412" y="6276531"/>
            <a:ext cx="0" cy="59542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428E45E-96B9-83CA-1FC2-F890C6C8A361}"/>
              </a:ext>
            </a:extLst>
          </p:cNvPr>
          <p:cNvCxnSpPr>
            <a:cxnSpLocks/>
          </p:cNvCxnSpPr>
          <p:nvPr/>
        </p:nvCxnSpPr>
        <p:spPr>
          <a:xfrm flipH="1">
            <a:off x="7885412" y="6276531"/>
            <a:ext cx="92503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12028E8D-AC76-DCCE-4699-D5F9A35DEBF5}"/>
              </a:ext>
            </a:extLst>
          </p:cNvPr>
          <p:cNvSpPr/>
          <p:nvPr/>
        </p:nvSpPr>
        <p:spPr>
          <a:xfrm>
            <a:off x="8916771" y="6128127"/>
            <a:ext cx="637842" cy="43280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FB18ED7-A854-FE74-32E0-C4D439436D6F}"/>
              </a:ext>
            </a:extLst>
          </p:cNvPr>
          <p:cNvSpPr/>
          <p:nvPr/>
        </p:nvSpPr>
        <p:spPr>
          <a:xfrm>
            <a:off x="8863495" y="6759264"/>
            <a:ext cx="691118" cy="4328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D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6FE56EC-A9B2-603C-DED3-A82DE33DAC66}"/>
              </a:ext>
            </a:extLst>
          </p:cNvPr>
          <p:cNvCxnSpPr>
            <a:cxnSpLocks/>
          </p:cNvCxnSpPr>
          <p:nvPr/>
        </p:nvCxnSpPr>
        <p:spPr>
          <a:xfrm flipH="1">
            <a:off x="7885412" y="6871954"/>
            <a:ext cx="92503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1102D86-F6D8-98B1-0DA6-7556DC7AB8DA}"/>
              </a:ext>
            </a:extLst>
          </p:cNvPr>
          <p:cNvCxnSpPr>
            <a:cxnSpLocks/>
          </p:cNvCxnSpPr>
          <p:nvPr/>
        </p:nvCxnSpPr>
        <p:spPr>
          <a:xfrm flipH="1">
            <a:off x="7013431" y="5381367"/>
            <a:ext cx="92503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63B0B21-CE3A-71BD-4F70-9BEF5C473490}"/>
              </a:ext>
            </a:extLst>
          </p:cNvPr>
          <p:cNvCxnSpPr>
            <a:cxnSpLocks/>
          </p:cNvCxnSpPr>
          <p:nvPr/>
        </p:nvCxnSpPr>
        <p:spPr>
          <a:xfrm flipH="1">
            <a:off x="6988621" y="6560933"/>
            <a:ext cx="92503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A73211A-43CF-71FB-1C75-7E76311000CC}"/>
              </a:ext>
            </a:extLst>
          </p:cNvPr>
          <p:cNvCxnSpPr>
            <a:cxnSpLocks/>
          </p:cNvCxnSpPr>
          <p:nvPr/>
        </p:nvCxnSpPr>
        <p:spPr>
          <a:xfrm flipH="1">
            <a:off x="6988621" y="5373358"/>
            <a:ext cx="24810" cy="119182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43584C3-4577-52ED-1EB1-67E4FC98B643}"/>
              </a:ext>
            </a:extLst>
          </p:cNvPr>
          <p:cNvCxnSpPr>
            <a:cxnSpLocks/>
          </p:cNvCxnSpPr>
          <p:nvPr/>
        </p:nvCxnSpPr>
        <p:spPr>
          <a:xfrm flipH="1">
            <a:off x="6063589" y="6414532"/>
            <a:ext cx="92503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12CE7A42-31B8-FA85-ACA4-387F0C39D74D}"/>
              </a:ext>
            </a:extLst>
          </p:cNvPr>
          <p:cNvSpPr/>
          <p:nvPr/>
        </p:nvSpPr>
        <p:spPr>
          <a:xfrm>
            <a:off x="5399109" y="6128127"/>
            <a:ext cx="637842" cy="43280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29384825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56F57E-30CC-1A6B-2ACA-A45D374E3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FFEFC-CEA5-08B9-5C91-1A79A88C3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525" y="832615"/>
            <a:ext cx="9867014" cy="738624"/>
          </a:xfrm>
        </p:spPr>
        <p:txBody>
          <a:bodyPr/>
          <a:lstStyle/>
          <a:p>
            <a:pPr algn="ctr"/>
            <a:r>
              <a:rPr lang="en-US" sz="2000" b="1" dirty="0"/>
              <a:t>UNWEIGHTED PAIR-GROUP METHOD USING ARITHMATIC MEAN  (UPGMA)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55B0A2B8-BD12-FD47-5771-9B14C5F6E46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09218638"/>
                  </p:ext>
                </p:extLst>
              </p:nvPr>
            </p:nvGraphicFramePr>
            <p:xfrm>
              <a:off x="987612" y="1571239"/>
              <a:ext cx="4509420" cy="2145703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10748">
                      <a:extLst>
                        <a:ext uri="{9D8B030D-6E8A-4147-A177-3AD203B41FA5}">
                          <a16:colId xmlns:a16="http://schemas.microsoft.com/office/drawing/2014/main" val="1437232487"/>
                        </a:ext>
                      </a:extLst>
                    </a:gridCol>
                    <a:gridCol w="1176602">
                      <a:extLst>
                        <a:ext uri="{9D8B030D-6E8A-4147-A177-3AD203B41FA5}">
                          <a16:colId xmlns:a16="http://schemas.microsoft.com/office/drawing/2014/main" val="479385730"/>
                        </a:ext>
                      </a:extLst>
                    </a:gridCol>
                    <a:gridCol w="940772">
                      <a:extLst>
                        <a:ext uri="{9D8B030D-6E8A-4147-A177-3AD203B41FA5}">
                          <a16:colId xmlns:a16="http://schemas.microsoft.com/office/drawing/2014/main" val="3619448033"/>
                        </a:ext>
                      </a:extLst>
                    </a:gridCol>
                    <a:gridCol w="1081298">
                      <a:extLst>
                        <a:ext uri="{9D8B030D-6E8A-4147-A177-3AD203B41FA5}">
                          <a16:colId xmlns:a16="http://schemas.microsoft.com/office/drawing/2014/main" val="2241859415"/>
                        </a:ext>
                      </a:extLst>
                    </a:gridCol>
                  </a:tblGrid>
                  <a:tr h="479842">
                    <a:tc>
                      <a:txBody>
                        <a:bodyPr/>
                        <a:lstStyle/>
                        <a:p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A/C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52143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100" b="1" dirty="0"/>
                            <a:t>D/E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52143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100" b="1" dirty="0"/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18713673"/>
                      </a:ext>
                    </a:extLst>
                  </a:tr>
                  <a:tr h="5552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A/C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1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lang="en-US" sz="2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52143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1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</m:oMath>
                            </m:oMathPara>
                          </a14:m>
                          <a:endParaRPr lang="en-US" sz="21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61430145"/>
                      </a:ext>
                    </a:extLst>
                  </a:tr>
                  <a:tr h="5552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D/E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100" b="1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>
                              <a:solidFill>
                                <a:schemeClr val="tx1"/>
                              </a:solidFill>
                            </a:rPr>
                            <a:t>5.5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2192969"/>
                      </a:ext>
                    </a:extLst>
                  </a:tr>
                  <a:tr h="5552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499531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55B0A2B8-BD12-FD47-5771-9B14C5F6E46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09218638"/>
                  </p:ext>
                </p:extLst>
              </p:nvPr>
            </p:nvGraphicFramePr>
            <p:xfrm>
              <a:off x="987612" y="1571239"/>
              <a:ext cx="4509420" cy="2145703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10748">
                      <a:extLst>
                        <a:ext uri="{9D8B030D-6E8A-4147-A177-3AD203B41FA5}">
                          <a16:colId xmlns:a16="http://schemas.microsoft.com/office/drawing/2014/main" val="1437232487"/>
                        </a:ext>
                      </a:extLst>
                    </a:gridCol>
                    <a:gridCol w="1176602">
                      <a:extLst>
                        <a:ext uri="{9D8B030D-6E8A-4147-A177-3AD203B41FA5}">
                          <a16:colId xmlns:a16="http://schemas.microsoft.com/office/drawing/2014/main" val="479385730"/>
                        </a:ext>
                      </a:extLst>
                    </a:gridCol>
                    <a:gridCol w="940772">
                      <a:extLst>
                        <a:ext uri="{9D8B030D-6E8A-4147-A177-3AD203B41FA5}">
                          <a16:colId xmlns:a16="http://schemas.microsoft.com/office/drawing/2014/main" val="3619448033"/>
                        </a:ext>
                      </a:extLst>
                    </a:gridCol>
                    <a:gridCol w="1081298">
                      <a:extLst>
                        <a:ext uri="{9D8B030D-6E8A-4147-A177-3AD203B41FA5}">
                          <a16:colId xmlns:a16="http://schemas.microsoft.com/office/drawing/2014/main" val="2241859415"/>
                        </a:ext>
                      </a:extLst>
                    </a:gridCol>
                  </a:tblGrid>
                  <a:tr h="479842">
                    <a:tc>
                      <a:txBody>
                        <a:bodyPr/>
                        <a:lstStyle/>
                        <a:p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A/C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52143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100" b="1" dirty="0"/>
                            <a:t>D/E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52143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100" b="1" dirty="0"/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18713673"/>
                      </a:ext>
                    </a:extLst>
                  </a:tr>
                  <a:tr h="5552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A/C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64516" t="-92308" r="-115484" b="-2032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19209" t="-92308" r="-1130" b="-2032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61430145"/>
                      </a:ext>
                    </a:extLst>
                  </a:tr>
                  <a:tr h="5552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D/E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100" b="1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>
                              <a:solidFill>
                                <a:schemeClr val="tx1"/>
                              </a:solidFill>
                            </a:rPr>
                            <a:t>5.5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2192969"/>
                      </a:ext>
                    </a:extLst>
                  </a:tr>
                  <a:tr h="5552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b="1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1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1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499531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F19FFC8B-5686-5BD1-2FBE-483F4D207977}"/>
              </a:ext>
            </a:extLst>
          </p:cNvPr>
          <p:cNvSpPr/>
          <p:nvPr/>
        </p:nvSpPr>
        <p:spPr>
          <a:xfrm>
            <a:off x="2151320" y="4100193"/>
            <a:ext cx="3460411" cy="43281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FF0000"/>
                </a:solidFill>
              </a:rPr>
              <a:t>PHYLOGENETIC TREES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7296961-CF75-3698-EDE7-FB2EA68485FD}"/>
              </a:ext>
            </a:extLst>
          </p:cNvPr>
          <p:cNvCxnSpPr>
            <a:cxnSpLocks/>
          </p:cNvCxnSpPr>
          <p:nvPr/>
        </p:nvCxnSpPr>
        <p:spPr>
          <a:xfrm>
            <a:off x="2866733" y="4820583"/>
            <a:ext cx="0" cy="59542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25CAF66-754D-E435-AB5F-A0BFB5C41C5D}"/>
              </a:ext>
            </a:extLst>
          </p:cNvPr>
          <p:cNvCxnSpPr>
            <a:cxnSpLocks/>
          </p:cNvCxnSpPr>
          <p:nvPr/>
        </p:nvCxnSpPr>
        <p:spPr>
          <a:xfrm flipH="1">
            <a:off x="2866733" y="4820583"/>
            <a:ext cx="92503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9C8EF8EB-3CD6-6F8C-470C-BD47ADBA45A1}"/>
              </a:ext>
            </a:extLst>
          </p:cNvPr>
          <p:cNvSpPr/>
          <p:nvPr/>
        </p:nvSpPr>
        <p:spPr>
          <a:xfrm>
            <a:off x="3898092" y="4672179"/>
            <a:ext cx="637842" cy="43280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9415BFD-2FBD-1BFA-1F96-702AF5EC6447}"/>
              </a:ext>
            </a:extLst>
          </p:cNvPr>
          <p:cNvSpPr/>
          <p:nvPr/>
        </p:nvSpPr>
        <p:spPr>
          <a:xfrm>
            <a:off x="3844816" y="5303316"/>
            <a:ext cx="691118" cy="4328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C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B75D561-7077-9002-F804-509E78825591}"/>
              </a:ext>
            </a:extLst>
          </p:cNvPr>
          <p:cNvCxnSpPr>
            <a:cxnSpLocks/>
          </p:cNvCxnSpPr>
          <p:nvPr/>
        </p:nvCxnSpPr>
        <p:spPr>
          <a:xfrm flipH="1">
            <a:off x="2866733" y="5416006"/>
            <a:ext cx="92503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4D7D8FD-8E76-28BA-E9D1-92F80F905F3D}"/>
              </a:ext>
            </a:extLst>
          </p:cNvPr>
          <p:cNvCxnSpPr>
            <a:cxnSpLocks/>
          </p:cNvCxnSpPr>
          <p:nvPr/>
        </p:nvCxnSpPr>
        <p:spPr>
          <a:xfrm>
            <a:off x="2813682" y="6008158"/>
            <a:ext cx="0" cy="59542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7729BBC-047E-3923-047B-CAE0A99417A2}"/>
              </a:ext>
            </a:extLst>
          </p:cNvPr>
          <p:cNvCxnSpPr>
            <a:cxnSpLocks/>
          </p:cNvCxnSpPr>
          <p:nvPr/>
        </p:nvCxnSpPr>
        <p:spPr>
          <a:xfrm flipH="1">
            <a:off x="2813682" y="6008158"/>
            <a:ext cx="92503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3B73C0F4-629D-1D97-09BA-106A6819FC1C}"/>
              </a:ext>
            </a:extLst>
          </p:cNvPr>
          <p:cNvSpPr/>
          <p:nvPr/>
        </p:nvSpPr>
        <p:spPr>
          <a:xfrm>
            <a:off x="3845041" y="5859754"/>
            <a:ext cx="637842" cy="43280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8271873-C740-22AC-AA36-A7E25920EC7C}"/>
              </a:ext>
            </a:extLst>
          </p:cNvPr>
          <p:cNvSpPr/>
          <p:nvPr/>
        </p:nvSpPr>
        <p:spPr>
          <a:xfrm>
            <a:off x="3791765" y="6490891"/>
            <a:ext cx="691118" cy="4328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D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0210D30-27C4-2A1D-D78D-24B69A62DE6B}"/>
              </a:ext>
            </a:extLst>
          </p:cNvPr>
          <p:cNvCxnSpPr>
            <a:cxnSpLocks/>
          </p:cNvCxnSpPr>
          <p:nvPr/>
        </p:nvCxnSpPr>
        <p:spPr>
          <a:xfrm flipH="1">
            <a:off x="2813682" y="6603581"/>
            <a:ext cx="92503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9B4CF84-A034-4351-29C9-69E7E06DEBB3}"/>
              </a:ext>
            </a:extLst>
          </p:cNvPr>
          <p:cNvCxnSpPr>
            <a:cxnSpLocks/>
          </p:cNvCxnSpPr>
          <p:nvPr/>
        </p:nvCxnSpPr>
        <p:spPr>
          <a:xfrm flipH="1">
            <a:off x="1941701" y="5112994"/>
            <a:ext cx="92503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F275D14-05B3-08B8-D075-39791D62B814}"/>
              </a:ext>
            </a:extLst>
          </p:cNvPr>
          <p:cNvCxnSpPr>
            <a:cxnSpLocks/>
          </p:cNvCxnSpPr>
          <p:nvPr/>
        </p:nvCxnSpPr>
        <p:spPr>
          <a:xfrm flipH="1">
            <a:off x="1916891" y="6292560"/>
            <a:ext cx="92503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39B1866-440A-04A2-61D9-945599899616}"/>
              </a:ext>
            </a:extLst>
          </p:cNvPr>
          <p:cNvCxnSpPr>
            <a:cxnSpLocks/>
          </p:cNvCxnSpPr>
          <p:nvPr/>
        </p:nvCxnSpPr>
        <p:spPr>
          <a:xfrm flipH="1">
            <a:off x="1916891" y="5104985"/>
            <a:ext cx="24810" cy="119182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D8408DB-595E-6ADE-F07F-499954BF13F9}"/>
              </a:ext>
            </a:extLst>
          </p:cNvPr>
          <p:cNvCxnSpPr>
            <a:cxnSpLocks/>
          </p:cNvCxnSpPr>
          <p:nvPr/>
        </p:nvCxnSpPr>
        <p:spPr>
          <a:xfrm flipH="1">
            <a:off x="991859" y="6146159"/>
            <a:ext cx="92503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D851510D-7FC7-F1C9-499A-CA07DFD7F70D}"/>
              </a:ext>
            </a:extLst>
          </p:cNvPr>
          <p:cNvSpPr/>
          <p:nvPr/>
        </p:nvSpPr>
        <p:spPr>
          <a:xfrm>
            <a:off x="327379" y="5859754"/>
            <a:ext cx="637842" cy="43280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9C62381-D648-7CAB-06C7-3F5589BC96AB}"/>
              </a:ext>
            </a:extLst>
          </p:cNvPr>
          <p:cNvSpPr/>
          <p:nvPr/>
        </p:nvSpPr>
        <p:spPr>
          <a:xfrm>
            <a:off x="5664782" y="2880824"/>
            <a:ext cx="4871024" cy="287154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457200" indent="-457200">
              <a:buFont typeface="+mj-lt"/>
              <a:buAutoNum type="arabicPeriod"/>
            </a:pPr>
            <a:endParaRPr lang="en-US" b="1" dirty="0"/>
          </a:p>
          <a:p>
            <a:pPr/>
            <a:endParaRPr lang="en-US" dirty="0"/>
          </a:p>
          <a:p>
            <a:pPr/>
            <a:endParaRPr lang="en-US" dirty="0"/>
          </a:p>
          <a:p>
            <a:pPr/>
            <a:r>
              <a:rPr lang="en-US" dirty="0"/>
              <a:t>Interpretation:</a:t>
            </a:r>
          </a:p>
          <a:p>
            <a:pPr marL="457200" indent="-457200" algn="ctr">
              <a:buFont typeface="+mj-lt"/>
              <a:buAutoNum type="arabicPeriod"/>
            </a:pPr>
            <a:r>
              <a:rPr lang="en-US" dirty="0"/>
              <a:t>It means that A is closely related to C.</a:t>
            </a:r>
          </a:p>
          <a:p>
            <a:pPr marL="457200" indent="-457200" algn="ctr">
              <a:buFont typeface="+mj-lt"/>
              <a:buAutoNum type="arabicPeriod"/>
            </a:pPr>
            <a:r>
              <a:rPr lang="en-US" dirty="0"/>
              <a:t>It means that E is closely related to D.</a:t>
            </a:r>
          </a:p>
          <a:p>
            <a:pPr marL="457200" indent="-457200" algn="ctr">
              <a:buFont typeface="+mj-lt"/>
              <a:buAutoNum type="arabicPeriod"/>
            </a:pPr>
            <a:r>
              <a:rPr lang="en-US" dirty="0"/>
              <a:t>It means that B is more closely related to E and D than AC</a:t>
            </a:r>
          </a:p>
          <a:p>
            <a:pPr marL="457200" indent="-457200" algn="ctr">
              <a:buFont typeface="+mj-lt"/>
              <a:buAutoNum type="arabicPeriod"/>
            </a:pPr>
            <a:endParaRPr lang="en-US" dirty="0"/>
          </a:p>
          <a:p>
            <a:endParaRPr lang="en-US" b="1" dirty="0"/>
          </a:p>
          <a:p>
            <a:pPr marL="457200" indent="-457200">
              <a:buFont typeface="+mj-lt"/>
              <a:buAutoNum type="arabicPeriod"/>
            </a:pPr>
            <a:endParaRPr lang="en-US" b="1" dirty="0"/>
          </a:p>
          <a:p>
            <a:pPr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8114968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38250" y="1847494"/>
            <a:ext cx="9154687" cy="3928838"/>
          </a:xfrm>
        </p:spPr>
        <p:txBody>
          <a:bodyPr>
            <a:normAutofit/>
          </a:bodyPr>
          <a:lstStyle/>
          <a:p>
            <a:pPr marL="342900" lvl="0" indent="-342900">
              <a:buFont typeface="Symbol" panose="05050102010706020507" pitchFamily="18" charset="2"/>
              <a:buChar char=""/>
            </a:pPr>
            <a:endParaRPr lang="en-US" sz="2000" dirty="0"/>
          </a:p>
          <a:p>
            <a:endParaRPr lang="en-US" sz="2000" dirty="0"/>
          </a:p>
          <a:p>
            <a:endParaRPr lang="id-ID" sz="20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EA7FAA0-CA95-4687-828E-03EB29DED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8250" y="796075"/>
            <a:ext cx="9618662" cy="1260475"/>
          </a:xfrm>
        </p:spPr>
        <p:txBody>
          <a:bodyPr/>
          <a:lstStyle/>
          <a:p>
            <a:r>
              <a:rPr lang="en-US" sz="4000" b="1" dirty="0"/>
              <a:t>References</a:t>
            </a:r>
            <a:endParaRPr lang="id-ID" sz="4000" b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509AFA-2B94-4D5A-A25C-3F04BFE9CD3F}"/>
              </a:ext>
            </a:extLst>
          </p:cNvPr>
          <p:cNvSpPr/>
          <p:nvPr/>
        </p:nvSpPr>
        <p:spPr>
          <a:xfrm>
            <a:off x="1238251" y="2056550"/>
            <a:ext cx="8212138" cy="21390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>
              <a:buAutoNum type="arabicPeriod"/>
            </a:pPr>
            <a:r>
              <a:rPr lang="en-AU" dirty="0"/>
              <a:t>Lisa A. </a:t>
            </a:r>
            <a:r>
              <a:rPr lang="en-AU" dirty="0" err="1"/>
              <a:t>Urry</a:t>
            </a:r>
            <a:r>
              <a:rPr lang="en-AU" dirty="0"/>
              <a:t>, </a:t>
            </a:r>
            <a:r>
              <a:rPr lang="en-AU" dirty="0" err="1"/>
              <a:t>Micheal</a:t>
            </a:r>
            <a:r>
              <a:rPr lang="en-AU" dirty="0"/>
              <a:t> L. Cain, Steven A. Wasserman, Peter V. Min. Campbell Biology 12th Edition,, Pearson (Chapter 4)</a:t>
            </a:r>
            <a:endParaRPr lang="en-HK" dirty="0"/>
          </a:p>
          <a:p>
            <a:pPr marL="457200" lvl="0" indent="-457200">
              <a:buAutoNum type="arabicPeriod"/>
            </a:pPr>
            <a:r>
              <a:rPr lang="en-AU" dirty="0" err="1"/>
              <a:t>Choudhuri</a:t>
            </a:r>
            <a:r>
              <a:rPr lang="en-AU" dirty="0"/>
              <a:t>, S.. (2014) Bioinformatics for Beginners: Genes, Genomes, Molecular Evolution, Databases and Analytical Tools. Elsevier. ISBN 978-0124104716 (Chapter 8)</a:t>
            </a:r>
            <a:endParaRPr lang="en-HK" dirty="0"/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endParaRPr lang="en-HK" sz="2800" dirty="0"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36838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44340CFFCDDB44F9904404F1FA9688C" ma:contentTypeVersion="15" ma:contentTypeDescription="Create a new document." ma:contentTypeScope="" ma:versionID="939164fb4ce9d77da8b44cb5205bf59b">
  <xsd:schema xmlns:xsd="http://www.w3.org/2001/XMLSchema" xmlns:xs="http://www.w3.org/2001/XMLSchema" xmlns:p="http://schemas.microsoft.com/office/2006/metadata/properties" xmlns:ns2="9fdf624c-fedc-4f6c-b928-0c7bf4c9e100" xmlns:ns3="47793baa-3cbb-486e-a055-4d42ce3882d7" xmlns:ns4="http://schemas.microsoft.com/sharepoint/v3/fields" targetNamespace="http://schemas.microsoft.com/office/2006/metadata/properties" ma:root="true" ma:fieldsID="63b003db5a72b2282a54ad3b1f995462" ns2:_="" ns3:_="" ns4:_="">
    <xsd:import namespace="9fdf624c-fedc-4f6c-b928-0c7bf4c9e100"/>
    <xsd:import namespace="47793baa-3cbb-486e-a055-4d42ce3882d7"/>
    <xsd:import namespace="http://schemas.microsoft.com/sharepoint/v3/fields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2:SharedWithUsers" minOccurs="0"/>
                <xsd:element ref="ns2:SharedWithDetails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_Flow_SignoffStatus" minOccurs="0"/>
                <xsd:element ref="ns4:_Versio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df624c-fedc-4f6c-b928-0c7bf4c9e100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793baa-3cbb-486e-a055-4d42ce3882d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Flow_SignoffStatus" ma:index="23" nillable="true" ma:displayName="Sign-off status" ma:internalName="Sign_x002d_off_x0020_status">
      <xsd:simpleType>
        <xsd:restriction base="dms:Text"/>
      </xsd:simpleType>
    </xsd:element>
    <xsd:element name="MediaLengthInSeconds" ma:index="25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/fields" elementFormDefault="qualified">
    <xsd:import namespace="http://schemas.microsoft.com/office/2006/documentManagement/types"/>
    <xsd:import namespace="http://schemas.microsoft.com/office/infopath/2007/PartnerControls"/>
    <xsd:element name="_Version" ma:index="24" nillable="true" ma:displayName="Version" ma:internalName="_Version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Version xmlns="http://schemas.microsoft.com/sharepoint/v3/fields" xsi:nil="true"/>
    <_Flow_SignoffStatus xmlns="47793baa-3cbb-486e-a055-4d42ce3882d7" xsi:nil="true"/>
    <_dlc_DocId xmlns="9fdf624c-fedc-4f6c-b928-0c7bf4c9e100">J56STF5CZXNR-2061195910-691142</_dlc_DocId>
    <_dlc_DocIdUrl xmlns="9fdf624c-fedc-4f6c-b928-0c7bf4c9e100">
      <Url>https://binusianorg.sharepoint.com/sites/arc/_layouts/15/DocIdRedir.aspx?ID=J56STF5CZXNR-2061195910-691142</Url>
      <Description>J56STF5CZXNR-2061195910-691142</Description>
    </_dlc_DocIdUrl>
  </documentManagement>
</p:properties>
</file>

<file path=customXml/itemProps1.xml><?xml version="1.0" encoding="utf-8"?>
<ds:datastoreItem xmlns:ds="http://schemas.openxmlformats.org/officeDocument/2006/customXml" ds:itemID="{CED985A4-BE78-47BD-93FF-32CA6D846AD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1361C9D-5A18-4E58-8BA9-7D22F5AD4AB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fdf624c-fedc-4f6c-b928-0c7bf4c9e100"/>
    <ds:schemaRef ds:uri="47793baa-3cbb-486e-a055-4d42ce3882d7"/>
    <ds:schemaRef ds:uri="http://schemas.microsoft.com/sharepoint/v3/field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A6D8D10-5CE6-45C0-899F-3757B0B76385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3F313E50-9F1C-4EB2-8248-D1942A92381A}">
  <ds:schemaRefs>
    <ds:schemaRef ds:uri="http://schemas.microsoft.com/office/2006/metadata/properties"/>
    <ds:schemaRef ds:uri="http://schemas.microsoft.com/office/infopath/2007/PartnerControls"/>
    <ds:schemaRef ds:uri="http://schemas.microsoft.com/sharepoint/v3/fields"/>
    <ds:schemaRef ds:uri="47793baa-3cbb-486e-a055-4d42ce3882d7"/>
    <ds:schemaRef ds:uri="9fdf624c-fedc-4f6c-b928-0c7bf4c9e100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4862</TotalTime>
  <Words>2926</Words>
  <Application>Microsoft Office PowerPoint</Application>
  <PresentationFormat>Custom</PresentationFormat>
  <Paragraphs>541</Paragraphs>
  <Slides>34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7" baseType="lpstr">
      <vt:lpstr>AdvP1491</vt:lpstr>
      <vt:lpstr>Arial</vt:lpstr>
      <vt:lpstr>Calibri</vt:lpstr>
      <vt:lpstr>Cambria</vt:lpstr>
      <vt:lpstr>Cambria Math</vt:lpstr>
      <vt:lpstr>Open Sans</vt:lpstr>
      <vt:lpstr>Open Sans Light</vt:lpstr>
      <vt:lpstr>Open Sans Semibold</vt:lpstr>
      <vt:lpstr>StoneSerifITCPro-Medium</vt:lpstr>
      <vt:lpstr>Symbol</vt:lpstr>
      <vt:lpstr>Times New Roman</vt:lpstr>
      <vt:lpstr>Verdana</vt:lpstr>
      <vt:lpstr>Office Theme</vt:lpstr>
      <vt:lpstr>  SCIE6062001: Computational Biology  MOLECULAR EVOLUTION</vt:lpstr>
      <vt:lpstr>Sejarah Kehidupan di Bumi</vt:lpstr>
      <vt:lpstr>Sejarah Kehidupan di Bumi</vt:lpstr>
      <vt:lpstr>Sejarah Kehidupan di Bumi</vt:lpstr>
      <vt:lpstr>Sejarah Kehidupan di Bumi</vt:lpstr>
      <vt:lpstr>Sejarah Kehidupan di Bumi</vt:lpstr>
      <vt:lpstr>Sejarah Kehidupan di Bumi</vt:lpstr>
      <vt:lpstr>Sejarah Kehidupan di Bumi</vt:lpstr>
      <vt:lpstr>Sejarah Kehidupan di Bumi</vt:lpstr>
      <vt:lpstr>Teori Evolusi</vt:lpstr>
      <vt:lpstr>Phylogeny and Phylogenetic Tree</vt:lpstr>
      <vt:lpstr>Phylogenetic Tree</vt:lpstr>
      <vt:lpstr>Phylogenetic Tree</vt:lpstr>
      <vt:lpstr>Selection of the Appropriate Molecular Marker</vt:lpstr>
      <vt:lpstr>Penyelarasan Urutan Berganda</vt:lpstr>
      <vt:lpstr>Selection of a Model of Evolution</vt:lpstr>
      <vt:lpstr>Construction of the Phylogenetic Tree</vt:lpstr>
      <vt:lpstr>Construction of the Phylogenetic Tree</vt:lpstr>
      <vt:lpstr>UNWEIGHTED PAIR-GROUP METHOD USING ARITHMATIC MEAN  (UPGMA)</vt:lpstr>
      <vt:lpstr>UNWEIGHTED PAIR-GROUP METHOD USING ARITHMATIC MEAN  (UPGMA)</vt:lpstr>
      <vt:lpstr>UNWEIGHTED PAIR-GROUP METHOD USING ARITHMATIC MEAN  (UPGMA)</vt:lpstr>
      <vt:lpstr>UNWEIGHTED PAIR-GROUP METHOD USING ARITHMATIC MEAN  (UPGMA)</vt:lpstr>
      <vt:lpstr>UNWEIGHTED PAIR-GROUP METHOD USING ARITHMATIC MEAN  (UPGMA)</vt:lpstr>
      <vt:lpstr>UNWEIGHTED PAIR-GROUP METHOD USING ARITHMATIC MEAN  (UPGMA)</vt:lpstr>
      <vt:lpstr>UNWEIGHTED PAIR-GROUP METHOD USING ARITHMATIC MEAN  (UPGMA)</vt:lpstr>
      <vt:lpstr>UNWEIGHTED PAIR-GROUP METHOD USING ARITHMATIC MEAN  (UPGMA)</vt:lpstr>
      <vt:lpstr>UNWEIGHTED PAIR-GROUP METHOD USING ARITHMATIC MEAN  (UPGMA)</vt:lpstr>
      <vt:lpstr>UNWEIGHTED PAIR-GROUP METHOD USING ARITHMATIC MEAN  (UPGMA)</vt:lpstr>
      <vt:lpstr>UNWEIGHTED PAIR-GROUP METHOD USING ARITHMATIC MEAN  (UPGMA)</vt:lpstr>
      <vt:lpstr>UNWEIGHTED PAIR-GROUP METHOD USING ARITHMATIC MEAN  (UPGMA)</vt:lpstr>
      <vt:lpstr>UNWEIGHTED PAIR-GROUP METHOD USING ARITHMATIC MEAN  (UPGMA)</vt:lpstr>
      <vt:lpstr>UNWEIGHTED PAIR-GROUP METHOD USING ARITHMATIC MEAN  (UPGMA)</vt:lpstr>
      <vt:lpstr>UNWEIGHTED PAIR-GROUP METHOD USING ARITHMATIC MEAN  (UPGMA)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FABIAN</dc:creator>
  <cp:lastModifiedBy>ASUS A1404VA</cp:lastModifiedBy>
  <cp:revision>47</cp:revision>
  <dcterms:created xsi:type="dcterms:W3CDTF">2022-07-03T12:41:11Z</dcterms:created>
  <dcterms:modified xsi:type="dcterms:W3CDTF">2026-05-16T07:27:39Z</dcterms:modified>
</cp:coreProperties>
</file>