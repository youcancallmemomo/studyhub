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5"/>
  </p:sldMasterIdLst>
  <p:notesMasterIdLst>
    <p:notesMasterId r:id="rId22"/>
  </p:notesMasterIdLst>
  <p:sldIdLst>
    <p:sldId id="385" r:id="rId6"/>
    <p:sldId id="274" r:id="rId7"/>
    <p:sldId id="386" r:id="rId8"/>
    <p:sldId id="387" r:id="rId9"/>
    <p:sldId id="388" r:id="rId10"/>
    <p:sldId id="389" r:id="rId11"/>
    <p:sldId id="390" r:id="rId12"/>
    <p:sldId id="391" r:id="rId13"/>
    <p:sldId id="392" r:id="rId14"/>
    <p:sldId id="393" r:id="rId15"/>
    <p:sldId id="394" r:id="rId16"/>
    <p:sldId id="395" r:id="rId17"/>
    <p:sldId id="396" r:id="rId18"/>
    <p:sldId id="398" r:id="rId19"/>
    <p:sldId id="397" r:id="rId20"/>
    <p:sldId id="384" r:id="rId21"/>
  </p:sldIdLst>
  <p:sldSz cx="10688638" cy="7562850"/>
  <p:notesSz cx="6858000" cy="9144000"/>
  <p:defaultTextStyle>
    <a:defPPr>
      <a:defRPr lang="en-US"/>
    </a:defPPr>
    <a:lvl1pPr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520700" indent="-635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1041400" indent="-127000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563688" indent="-1920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2084388" indent="-255588" algn="l" defTabSz="520700" rtl="0" fontAlgn="base">
      <a:spcBef>
        <a:spcPct val="0"/>
      </a:spcBef>
      <a:spcAft>
        <a:spcPct val="0"/>
      </a:spcAft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1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D91671F-11EC-43A0-B0B5-6D80C965B915}">
          <p14:sldIdLst>
            <p14:sldId id="385"/>
          </p14:sldIdLst>
        </p14:section>
        <p14:section name="COURSE CONTENT" id="{6162E7E0-B512-4FEF-B619-C9187795397D}">
          <p14:sldIdLst>
            <p14:sldId id="274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8"/>
            <p14:sldId id="397"/>
          </p14:sldIdLst>
        </p14:section>
        <p14:section name="REFERENCES" id="{11ED6803-A38C-4226-8496-86D05012E7E0}">
          <p14:sldIdLst>
            <p14:sldId id="3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9B8"/>
    <a:srgbClr val="9465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40" autoAdjust="0"/>
    <p:restoredTop sz="90741" autoAdjust="0"/>
  </p:normalViewPr>
  <p:slideViewPr>
    <p:cSldViewPr snapToGrid="0" snapToObjects="1">
      <p:cViewPr varScale="1">
        <p:scale>
          <a:sx n="52" d="100"/>
          <a:sy n="52" d="100"/>
        </p:scale>
        <p:origin x="944" y="52"/>
      </p:cViewPr>
      <p:guideLst>
        <p:guide orient="horz" pos="2382"/>
        <p:guide pos="336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42327A3B-766F-4631-90B1-9B3D33DE7C5C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685800"/>
            <a:ext cx="48450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8F58BAA-C397-4D9C-949B-0B7D3F08F4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1.jpg"/>
          <p:cNvPicPr>
            <a:picLocks noChangeAspect="1"/>
          </p:cNvPicPr>
          <p:nvPr userDrawn="1"/>
        </p:nvPicPr>
        <p:blipFill>
          <a:blip r:embed="rId2" cstate="screen">
            <a:alphaModFix/>
          </a:blip>
          <a:srcRect/>
          <a:stretch>
            <a:fillRect/>
          </a:stretch>
        </p:blipFill>
        <p:spPr bwMode="auto">
          <a:xfrm>
            <a:off x="0" y="3175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A64FB5-AD3D-6B4E-9CDC-DAE578F5C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5080503" y="646216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B2341-C3BD-4867-8D41-5F80C1709B34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FA9F5-F61B-45A1-B5E1-F65A5889B2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1238250" y="7493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idx="13"/>
          </p:nvPr>
        </p:nvSpPr>
        <p:spPr bwMode="auto">
          <a:xfrm>
            <a:off x="1238250" y="20097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5317F68B-01F1-E94A-99D3-3F09D8A936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92488" y="681366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329" y="4859832"/>
            <a:ext cx="9085342" cy="1502066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329" y="3205459"/>
            <a:ext cx="9085342" cy="165437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14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4287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6431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857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071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286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5005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1714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24E772-3899-4649-A2AA-7CF914911BC6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72044D-538C-4006-A81A-9ADFE14E08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432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3391" y="1764666"/>
            <a:ext cx="4720815" cy="4991131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569E45-41F7-4121-96F3-D9854AFC6DC8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504BA8-D676-4613-9C2C-2877DCA64D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1" descr="Background 01-03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3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24EA1D8-E779-9B4C-A906-459512BC2D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942" t="89154" r="21091" b="4449"/>
          <a:stretch/>
        </p:blipFill>
        <p:spPr>
          <a:xfrm>
            <a:off x="3350299" y="674508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84A83-4D5A-429E-BDC6-FD1381510BEB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70E03-8071-4189-BFD0-FC7EEE7DC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0859D3EC-5E23-3B41-9DA0-38316698BC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7937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121920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 bwMode="auto">
          <a:xfrm>
            <a:off x="121920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1D282C-CC3E-4E1D-BB33-9531F7A7F244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3E6B65-159F-439F-9BD7-E9F07CE5AD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EDE9ED95-923D-3548-823B-31E4248CF7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0942" t="89154" r="21091" b="4449"/>
          <a:stretch/>
        </p:blipFill>
        <p:spPr>
          <a:xfrm>
            <a:off x="3341899" y="6786998"/>
            <a:ext cx="4004840" cy="625040"/>
          </a:xfrm>
          <a:prstGeom prst="rect">
            <a:avLst/>
          </a:prstGeom>
          <a:ln w="3175">
            <a:noFill/>
          </a:ln>
        </p:spPr>
      </p:pic>
    </p:spTree>
    <p:extLst>
      <p:ext uri="{BB962C8B-B14F-4D97-AF65-F5344CB8AC3E}">
        <p14:creationId xmlns:p14="http://schemas.microsoft.com/office/powerpoint/2010/main" val="2188224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59D9E7-C17C-4132-9B73-48A51CFD46B3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416AF-AB6B-466F-BD3E-24BE387F4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1" descr="Background 01-04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37741" y="-31732"/>
            <a:ext cx="10742623" cy="762631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57BF6916-406C-E944-841A-1BF7394CF10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6090" y="418068"/>
            <a:ext cx="839421" cy="630239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UNIVERSITAS BINA NUSANTARA">
            <a:extLst>
              <a:ext uri="{FF2B5EF4-FFF2-40B4-BE49-F238E27FC236}">
                <a16:creationId xmlns:a16="http://schemas.microsoft.com/office/drawing/2014/main" id="{B2ACCA88-1510-174E-BE16-6E62A96F6E0C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 b="0" i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3816379" y="5337659"/>
            <a:ext cx="2855590" cy="198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1578"/>
              <a:t>UNIVERSITAS</a:t>
            </a:r>
            <a:r>
              <a:rPr sz="1578" b="1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5121639" y="5849441"/>
            <a:ext cx="445360" cy="49020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22268" tIns="22268" rIns="22268" bIns="22268" anchor="ctr"/>
          <a:lstStyle/>
          <a:p>
            <a:pPr defTabSz="361858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403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26604" y="3724549"/>
            <a:ext cx="9630909" cy="1050397"/>
          </a:xfrm>
          <a:prstGeom prst="rect">
            <a:avLst/>
          </a:prstGeom>
        </p:spPr>
        <p:txBody>
          <a:bodyPr/>
          <a:lstStyle>
            <a:lvl1pPr marL="0" indent="0" algn="ctr" defTabSz="361858">
              <a:lnSpc>
                <a:spcPct val="100000"/>
              </a:lnSpc>
              <a:spcBef>
                <a:spcPts val="0"/>
              </a:spcBef>
              <a:buSzTx/>
              <a:buNone/>
              <a:defRPr kumimoji="0" sz="2192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20041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2pPr>
            <a:lvl3pPr marL="0" indent="400827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3pPr>
            <a:lvl4pPr marL="0" indent="601241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4pPr>
            <a:lvl5pPr marL="0" indent="801654" defTabSz="361858">
              <a:lnSpc>
                <a:spcPct val="100000"/>
              </a:lnSpc>
              <a:spcBef>
                <a:spcPts val="0"/>
              </a:spcBef>
              <a:buSzTx/>
              <a:buNone/>
              <a:defRPr sz="2411" b="1"/>
            </a:lvl5pPr>
          </a:lstStyle>
          <a:p>
            <a:r>
              <a:t>Presentation Subtitle</a:t>
            </a:r>
          </a:p>
          <a:p>
            <a:pPr lvl="4"/>
            <a:endParaRPr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28863" y="1419822"/>
            <a:ext cx="9630910" cy="2160242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526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Prese</a:t>
            </a:r>
            <a:r>
              <a:rPr lang="en-ID"/>
              <a:t>n</a:t>
            </a:r>
            <a:r>
              <a:rPr err="1"/>
              <a:t>tation</a:t>
            </a:r>
            <a:r>
              <a:t>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08972" y="6362247"/>
            <a:ext cx="1846618" cy="411274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877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4408972" y="6120872"/>
            <a:ext cx="1773114" cy="15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360119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1227"/>
              <a:t>SUBJECT MATTER EXPERT</a:t>
            </a:r>
            <a:endParaRPr sz="1227" b="1"/>
          </a:p>
        </p:txBody>
      </p:sp>
    </p:spTree>
    <p:extLst>
      <p:ext uri="{BB962C8B-B14F-4D97-AF65-F5344CB8AC3E}">
        <p14:creationId xmlns:p14="http://schemas.microsoft.com/office/powerpoint/2010/main" val="41372370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Background 01-02.jpg"/>
          <p:cNvPicPr>
            <a:picLocks noChangeAspect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0" y="0"/>
            <a:ext cx="10688638" cy="755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200150" y="596901"/>
            <a:ext cx="9618662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200150" y="1857376"/>
            <a:ext cx="9618662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2E5663C-481F-407A-A60F-1F041C634F4F}" type="datetimeFigureOut">
              <a:rPr lang="en-US"/>
              <a:pPr>
                <a:defRPr/>
              </a:pPr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1250" y="7010400"/>
            <a:ext cx="3386138" cy="401638"/>
          </a:xfrm>
          <a:prstGeom prst="rect">
            <a:avLst/>
          </a:prstGeom>
        </p:spPr>
        <p:txBody>
          <a:bodyPr vert="horz" lIns="104287" tIns="52144" rIns="104287" bIns="52144" rtlCol="0" anchor="ctr"/>
          <a:lstStyle>
            <a:lvl1pPr algn="ctr" defTabSz="521437" fontAlgn="auto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59688" y="7010400"/>
            <a:ext cx="2493962" cy="401638"/>
          </a:xfrm>
          <a:prstGeom prst="rect">
            <a:avLst/>
          </a:prstGeom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r">
              <a:defRPr sz="14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1FCD700-A755-4C30-8B04-5025159A3A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72" r:id="rId7"/>
    <p:sldLayoutId id="2147483655" r:id="rId8"/>
    <p:sldLayoutId id="2147483675" r:id="rId9"/>
  </p:sldLayoutIdLst>
  <p:txStyles>
    <p:titleStyle>
      <a:lvl1pPr algn="l" defTabSz="520700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2pPr>
      <a:lvl3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3pPr>
      <a:lvl4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4pPr>
      <a:lvl5pPr algn="ctr" defTabSz="520700" rtl="0" eaLnBrk="0" fontAlgn="base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MS PGothic" pitchFamily="34" charset="-128"/>
          <a:cs typeface="ＭＳ Ｐゴシック" charset="0"/>
        </a:defRPr>
      </a:lvl5pPr>
      <a:lvl6pPr marL="4572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520700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90525" indent="-390525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600" kern="1200">
          <a:solidFill>
            <a:schemeClr val="tx1"/>
          </a:solidFill>
          <a:latin typeface="Open Sans"/>
          <a:ea typeface="MS PGothic" pitchFamily="34" charset="-128"/>
          <a:cs typeface="Open Sans"/>
        </a:defRPr>
      </a:lvl1pPr>
      <a:lvl2pPr marL="846138" indent="-325438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2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2pPr>
      <a:lvl3pPr marL="13033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7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3pPr>
      <a:lvl4pPr marL="1824038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4pPr>
      <a:lvl5pPr marL="2346325" indent="-260350" algn="l" defTabSz="5207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300" kern="1200">
          <a:solidFill>
            <a:schemeClr val="tx1"/>
          </a:solidFill>
          <a:latin typeface="Open Sans"/>
          <a:ea typeface="MS PGothic" pitchFamily="34" charset="-128"/>
          <a:cs typeface="+mn-cs"/>
        </a:defRPr>
      </a:lvl5pPr>
      <a:lvl6pPr marL="286790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338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10775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211" indent="-260718" algn="l" defTabSz="521437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437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287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31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574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18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8620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056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1493" algn="l" defTabSz="521437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0BAB2-790F-F74A-024A-FC22D1A3E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864" y="2229666"/>
            <a:ext cx="9630910" cy="660072"/>
          </a:xfrm>
        </p:spPr>
        <p:txBody>
          <a:bodyPr>
            <a:noAutofit/>
          </a:bodyPr>
          <a:lstStyle/>
          <a:p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r>
              <a:rPr lang="en-US" sz="2805" dirty="0">
                <a:solidFill>
                  <a:schemeClr val="bg1"/>
                </a:solidFill>
                <a:latin typeface="Cambria"/>
                <a:ea typeface="Cambria"/>
              </a:rPr>
              <a:t>SCIE6062001</a:t>
            </a:r>
            <a: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  <a:t>: Computational Biology</a:t>
            </a:r>
            <a:br>
              <a:rPr lang="en-US" sz="2805" b="1" dirty="0">
                <a:solidFill>
                  <a:schemeClr val="bg1"/>
                </a:solidFill>
                <a:latin typeface="Cambria"/>
                <a:ea typeface="Cambria"/>
              </a:rPr>
            </a:br>
            <a:br>
              <a:rPr lang="en-US" sz="3507" b="1" dirty="0">
                <a:solidFill>
                  <a:schemeClr val="bg1"/>
                </a:solidFill>
                <a:latin typeface="Cambria"/>
                <a:ea typeface="Cambria"/>
              </a:rPr>
            </a:br>
            <a:r>
              <a:rPr lang="en-US" sz="3507" b="1" dirty="0">
                <a:solidFill>
                  <a:schemeClr val="bg1"/>
                </a:solidFill>
                <a:latin typeface="Cambria"/>
                <a:ea typeface="Cambria"/>
              </a:rPr>
              <a:t>SILENT, MISSENSE, NONSENSE MUTATION</a:t>
            </a:r>
            <a:endParaRPr lang="en-US" sz="3507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9B89E2-412C-8945-F692-CD51460D98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8411" y="4241748"/>
            <a:ext cx="9057503" cy="1011013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Asysta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Amalia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Pasaribu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Statistics, School of Computer Science, Binus University </a:t>
            </a:r>
          </a:p>
          <a:p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348722344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5970" y="953853"/>
            <a:ext cx="9618662" cy="642026"/>
          </a:xfrm>
        </p:spPr>
        <p:txBody>
          <a:bodyPr/>
          <a:lstStyle/>
          <a:p>
            <a:r>
              <a:rPr lang="en-US" sz="2800" b="1" dirty="0"/>
              <a:t>MUTASI GEN </a:t>
            </a:r>
            <a:endParaRPr lang="id-ID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C8ACB7-62F4-4DFA-BF4E-F704AD38BEDF}"/>
              </a:ext>
            </a:extLst>
          </p:cNvPr>
          <p:cNvSpPr/>
          <p:nvPr/>
        </p:nvSpPr>
        <p:spPr>
          <a:xfrm>
            <a:off x="1255970" y="1756793"/>
            <a:ext cx="847990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Mutasi</a:t>
            </a:r>
            <a:r>
              <a:rPr lang="en-US" sz="2400" dirty="0"/>
              <a:t> gen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terjadinya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pada </a:t>
            </a:r>
            <a:r>
              <a:rPr lang="en-US" sz="2400" dirty="0" err="1"/>
              <a:t>urutan</a:t>
            </a:r>
            <a:r>
              <a:rPr lang="en-US" sz="2400" dirty="0"/>
              <a:t> DNA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cara</a:t>
            </a:r>
            <a:r>
              <a:rPr lang="en-US" sz="2400" dirty="0"/>
              <a:t> </a:t>
            </a:r>
            <a:r>
              <a:rPr lang="en-US" sz="2400" dirty="0" err="1"/>
              <a:t>alami</a:t>
            </a:r>
            <a:r>
              <a:rPr lang="en-US" sz="2400" dirty="0"/>
              <a:t> </a:t>
            </a:r>
            <a:r>
              <a:rPr lang="en-US" sz="2400" dirty="0" err="1"/>
              <a:t>ataupun</a:t>
            </a:r>
            <a:r>
              <a:rPr lang="en-US" sz="2400" dirty="0"/>
              <a:t> </a:t>
            </a:r>
            <a:r>
              <a:rPr lang="en-US" sz="2400" dirty="0" err="1"/>
              <a:t>disebabkan</a:t>
            </a:r>
            <a:r>
              <a:rPr lang="en-US" sz="2400" dirty="0"/>
              <a:t> oleh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lingkungan</a:t>
            </a:r>
            <a:r>
              <a:rPr lang="en-US" sz="24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 err="1"/>
              <a:t>Mutasi</a:t>
            </a:r>
            <a:r>
              <a:rPr lang="en-US" sz="2400" dirty="0"/>
              <a:t> gen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terjadi</a:t>
            </a:r>
            <a:r>
              <a:rPr lang="en-US" sz="2400" dirty="0"/>
              <a:t> pada </a:t>
            </a:r>
            <a:r>
              <a:rPr lang="en-US" sz="2400" dirty="0" err="1"/>
              <a:t>tubuh</a:t>
            </a:r>
            <a:r>
              <a:rPr lang="en-US" sz="2400" dirty="0"/>
              <a:t> </a:t>
            </a:r>
            <a:r>
              <a:rPr lang="en-US" sz="2400" dirty="0" err="1"/>
              <a:t>manusia</a:t>
            </a:r>
            <a:r>
              <a:rPr lang="en-US" sz="2400" dirty="0"/>
              <a:t>. </a:t>
            </a:r>
            <a:r>
              <a:rPr lang="en-US" sz="2400" dirty="0" err="1"/>
              <a:t>Sehingga</a:t>
            </a:r>
            <a:r>
              <a:rPr lang="en-US" sz="2400" dirty="0"/>
              <a:t> </a:t>
            </a:r>
            <a:r>
              <a:rPr lang="en-US" sz="2400" dirty="0" err="1"/>
              <a:t>penting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mengetahui</a:t>
            </a:r>
            <a:r>
              <a:rPr lang="en-US" sz="2400" dirty="0"/>
              <a:t> </a:t>
            </a:r>
            <a:r>
              <a:rPr lang="en-US" sz="2400" dirty="0" err="1"/>
              <a:t>macam-macam</a:t>
            </a:r>
            <a:r>
              <a:rPr lang="en-US" sz="2400" dirty="0"/>
              <a:t> </a:t>
            </a:r>
            <a:r>
              <a:rPr lang="en-US" sz="2400" dirty="0" err="1"/>
              <a:t>mutasi</a:t>
            </a:r>
            <a:r>
              <a:rPr lang="en-US" sz="2400" dirty="0"/>
              <a:t> gen dan </a:t>
            </a:r>
            <a:r>
              <a:rPr lang="en-US" sz="2400" dirty="0" err="1"/>
              <a:t>contohnya</a:t>
            </a:r>
            <a:r>
              <a:rPr lang="en-US" sz="2400" dirty="0"/>
              <a:t> pada </a:t>
            </a:r>
            <a:r>
              <a:rPr lang="en-US" sz="2400" dirty="0" err="1"/>
              <a:t>manusia</a:t>
            </a:r>
            <a:r>
              <a:rPr lang="en-US" sz="24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8ABA6F95-747B-4FDF-946A-24A16ECC57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12480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7F90-B7C3-5A08-732E-A7636BD69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EBAE5-04BD-B201-3C45-F326C603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70" y="953853"/>
            <a:ext cx="9618662" cy="642026"/>
          </a:xfrm>
        </p:spPr>
        <p:txBody>
          <a:bodyPr/>
          <a:lstStyle/>
          <a:p>
            <a:r>
              <a:rPr lang="en-US" sz="2800" b="1" dirty="0"/>
              <a:t>MUTASI SALAH ARTI (MISSENSE MUTATION) </a:t>
            </a:r>
            <a:endParaRPr lang="id-ID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2194B8-C2C9-A680-3EC0-6AE0E743CF97}"/>
              </a:ext>
            </a:extLst>
          </p:cNvPr>
          <p:cNvSpPr/>
          <p:nvPr/>
        </p:nvSpPr>
        <p:spPr>
          <a:xfrm>
            <a:off x="1103570" y="1966858"/>
            <a:ext cx="84799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/>
              <a:t>Missense mutation </a:t>
            </a:r>
            <a:r>
              <a:rPr lang="en-US" sz="3600" dirty="0" err="1"/>
              <a:t>merupakan</a:t>
            </a:r>
            <a:r>
              <a:rPr lang="en-US" sz="3600" dirty="0"/>
              <a:t> </a:t>
            </a:r>
            <a:r>
              <a:rPr lang="en-US" sz="3600" dirty="0" err="1"/>
              <a:t>mutasi</a:t>
            </a:r>
            <a:r>
              <a:rPr lang="en-US" sz="3600" dirty="0"/>
              <a:t> yang </a:t>
            </a:r>
            <a:r>
              <a:rPr lang="en-US" sz="3600" dirty="0" err="1"/>
              <a:t>terjadi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adanya</a:t>
            </a:r>
            <a:r>
              <a:rPr lang="en-US" sz="3600" dirty="0"/>
              <a:t> </a:t>
            </a:r>
            <a:r>
              <a:rPr lang="en-US" sz="3600" dirty="0" err="1"/>
              <a:t>perubahan</a:t>
            </a:r>
            <a:r>
              <a:rPr lang="en-US" sz="3600" dirty="0"/>
              <a:t> </a:t>
            </a:r>
            <a:r>
              <a:rPr lang="en-US" sz="3600" dirty="0" err="1"/>
              <a:t>kodon</a:t>
            </a:r>
            <a:r>
              <a:rPr lang="en-US" sz="3600" dirty="0"/>
              <a:t> </a:t>
            </a:r>
            <a:r>
              <a:rPr lang="en-US" sz="3600" dirty="0" err="1"/>
              <a:t>basa</a:t>
            </a:r>
            <a:r>
              <a:rPr lang="en-US" sz="3600" dirty="0"/>
              <a:t> </a:t>
            </a:r>
            <a:r>
              <a:rPr lang="en-US" sz="3600" dirty="0" err="1"/>
              <a:t>nukleotida</a:t>
            </a:r>
            <a:r>
              <a:rPr lang="en-US" sz="3600" dirty="0"/>
              <a:t>, yang </a:t>
            </a:r>
            <a:r>
              <a:rPr lang="en-US" sz="3600" dirty="0" err="1"/>
              <a:t>mengakibatkan</a:t>
            </a:r>
            <a:r>
              <a:rPr lang="en-US" sz="3600" dirty="0"/>
              <a:t> </a:t>
            </a:r>
            <a:r>
              <a:rPr lang="en-US" sz="3600" dirty="0" err="1"/>
              <a:t>asam</a:t>
            </a:r>
            <a:r>
              <a:rPr lang="en-US" sz="3600" dirty="0"/>
              <a:t> </a:t>
            </a:r>
            <a:r>
              <a:rPr lang="en-US" sz="3600" dirty="0" err="1"/>
              <a:t>aminonya</a:t>
            </a:r>
            <a:r>
              <a:rPr lang="en-US" sz="3600" dirty="0"/>
              <a:t> </a:t>
            </a:r>
            <a:r>
              <a:rPr lang="en-US" sz="3600" dirty="0" err="1"/>
              <a:t>berubah</a:t>
            </a:r>
            <a:r>
              <a:rPr lang="en-US" sz="36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 err="1"/>
              <a:t>Namun</a:t>
            </a:r>
            <a:r>
              <a:rPr lang="en-US" sz="3600" dirty="0"/>
              <a:t>, </a:t>
            </a:r>
            <a:r>
              <a:rPr lang="en-US" sz="3600" dirty="0" err="1"/>
              <a:t>kebanyakan</a:t>
            </a:r>
            <a:r>
              <a:rPr lang="en-US" sz="3600" dirty="0"/>
              <a:t> protein </a:t>
            </a:r>
            <a:r>
              <a:rPr lang="en-US" sz="3600" dirty="0" err="1"/>
              <a:t>dari</a:t>
            </a:r>
            <a:r>
              <a:rPr lang="en-US" sz="3600" dirty="0"/>
              <a:t> </a:t>
            </a:r>
            <a:r>
              <a:rPr lang="en-US" sz="3600" dirty="0" err="1"/>
              <a:t>hasil</a:t>
            </a:r>
            <a:r>
              <a:rPr lang="en-US" sz="3600" dirty="0"/>
              <a:t> </a:t>
            </a:r>
            <a:r>
              <a:rPr lang="en-US" sz="3600" dirty="0" err="1"/>
              <a:t>mutasinya</a:t>
            </a:r>
            <a:r>
              <a:rPr lang="en-US" sz="3600" dirty="0"/>
              <a:t> </a:t>
            </a:r>
            <a:r>
              <a:rPr lang="en-US" sz="3600" dirty="0" err="1"/>
              <a:t>masih</a:t>
            </a:r>
            <a:r>
              <a:rPr lang="en-US" sz="3600" dirty="0"/>
              <a:t> </a:t>
            </a:r>
            <a:r>
              <a:rPr lang="en-US" sz="3600" dirty="0" err="1"/>
              <a:t>bisa</a:t>
            </a:r>
            <a:r>
              <a:rPr lang="en-US" sz="3600" dirty="0"/>
              <a:t> </a:t>
            </a:r>
            <a:r>
              <a:rPr lang="en-US" sz="3600" dirty="0" err="1"/>
              <a:t>dipakai</a:t>
            </a:r>
            <a:r>
              <a:rPr lang="en-US" sz="3600" dirty="0"/>
              <a:t> </a:t>
            </a:r>
            <a:r>
              <a:rPr lang="en-US" sz="3600" dirty="0" err="1"/>
              <a:t>secara</a:t>
            </a:r>
            <a:r>
              <a:rPr lang="en-US" sz="3600" dirty="0"/>
              <a:t> </a:t>
            </a:r>
            <a:r>
              <a:rPr lang="en-US" sz="3600" dirty="0" err="1"/>
              <a:t>fungsional</a:t>
            </a:r>
            <a:r>
              <a:rPr lang="en-US" sz="32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E465D7E-8B3E-85B7-5255-898097F297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06709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04DB7-9DA1-48BE-2DA5-95CB2113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E63E-A06C-4E83-234F-FFC9DB093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70" y="1041620"/>
            <a:ext cx="9618662" cy="642026"/>
          </a:xfrm>
        </p:spPr>
        <p:txBody>
          <a:bodyPr/>
          <a:lstStyle/>
          <a:p>
            <a:r>
              <a:rPr lang="en-US" sz="2800" b="1" dirty="0"/>
              <a:t>MUTASI DIAM (SILENT MUTATION)</a:t>
            </a:r>
            <a:endParaRPr lang="id-ID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5F456-F1DE-35BD-0DC1-D056FD66F2CA}"/>
              </a:ext>
            </a:extLst>
          </p:cNvPr>
          <p:cNvSpPr/>
          <p:nvPr/>
        </p:nvSpPr>
        <p:spPr>
          <a:xfrm>
            <a:off x="1255970" y="1824067"/>
            <a:ext cx="84799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/>
              <a:t>Silent mutation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 err="1"/>
              <a:t>mutasi</a:t>
            </a:r>
            <a:r>
              <a:rPr lang="en-US" sz="3600" dirty="0"/>
              <a:t> </a:t>
            </a:r>
            <a:r>
              <a:rPr lang="en-US" sz="3600" dirty="0" err="1"/>
              <a:t>dengan</a:t>
            </a:r>
            <a:r>
              <a:rPr lang="en-US" sz="3600" dirty="0"/>
              <a:t> </a:t>
            </a:r>
            <a:r>
              <a:rPr lang="en-US" sz="3600" dirty="0" err="1"/>
              <a:t>terjadinya</a:t>
            </a:r>
            <a:r>
              <a:rPr lang="en-US" sz="3600" dirty="0"/>
              <a:t> </a:t>
            </a:r>
            <a:r>
              <a:rPr lang="en-US" sz="3600" dirty="0" err="1"/>
              <a:t>perubahan</a:t>
            </a:r>
            <a:r>
              <a:rPr lang="en-US" sz="3600" dirty="0"/>
              <a:t> </a:t>
            </a:r>
            <a:r>
              <a:rPr lang="en-US" sz="3600" dirty="0" err="1"/>
              <a:t>sebuah</a:t>
            </a:r>
            <a:r>
              <a:rPr lang="en-US" sz="3600" dirty="0"/>
              <a:t> </a:t>
            </a:r>
            <a:r>
              <a:rPr lang="en-US" sz="3600" dirty="0" err="1"/>
              <a:t>pasangan</a:t>
            </a:r>
            <a:r>
              <a:rPr lang="en-US" sz="3600" dirty="0"/>
              <a:t> </a:t>
            </a:r>
            <a:r>
              <a:rPr lang="en-US" sz="3600" dirty="0" err="1"/>
              <a:t>basa</a:t>
            </a:r>
            <a:r>
              <a:rPr lang="en-US" sz="3600" dirty="0"/>
              <a:t> pada gen (pada </a:t>
            </a:r>
            <a:r>
              <a:rPr lang="en-US" sz="3600" dirty="0" err="1"/>
              <a:t>posisi</a:t>
            </a:r>
            <a:r>
              <a:rPr lang="en-US" sz="3600" dirty="0"/>
              <a:t> 3 </a:t>
            </a:r>
            <a:r>
              <a:rPr lang="en-US" sz="3600" dirty="0" err="1"/>
              <a:t>kodon</a:t>
            </a:r>
            <a:r>
              <a:rPr lang="en-US" sz="3600" dirty="0"/>
              <a:t>) yang </a:t>
            </a:r>
            <a:r>
              <a:rPr lang="en-US" sz="3600" dirty="0" err="1"/>
              <a:t>mengakibatkan</a:t>
            </a:r>
            <a:r>
              <a:rPr lang="en-US" sz="3600" dirty="0"/>
              <a:t> </a:t>
            </a:r>
            <a:r>
              <a:rPr lang="en-US" sz="3600" dirty="0" err="1"/>
              <a:t>berubahnya</a:t>
            </a:r>
            <a:r>
              <a:rPr lang="en-US" sz="3600" dirty="0"/>
              <a:t> </a:t>
            </a:r>
            <a:r>
              <a:rPr lang="en-US" sz="3600" dirty="0" err="1"/>
              <a:t>satu</a:t>
            </a:r>
            <a:r>
              <a:rPr lang="en-US" sz="3600" dirty="0"/>
              <a:t> </a:t>
            </a:r>
            <a:r>
              <a:rPr lang="en-US" sz="3600" dirty="0" err="1"/>
              <a:t>kode</a:t>
            </a:r>
            <a:r>
              <a:rPr lang="en-US" sz="3600" dirty="0"/>
              <a:t> </a:t>
            </a:r>
            <a:r>
              <a:rPr lang="en-US" sz="3600" dirty="0" err="1"/>
              <a:t>genetik</a:t>
            </a:r>
            <a:r>
              <a:rPr lang="en-US" sz="36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 err="1"/>
              <a:t>Namun</a:t>
            </a:r>
            <a:r>
              <a:rPr lang="en-US" sz="3600" dirty="0"/>
              <a:t>, </a:t>
            </a:r>
            <a:r>
              <a:rPr lang="en-US" sz="3600" dirty="0" err="1"/>
              <a:t>hal</a:t>
            </a:r>
            <a:r>
              <a:rPr lang="en-US" sz="3600" dirty="0"/>
              <a:t> </a:t>
            </a:r>
            <a:r>
              <a:rPr lang="en-US" sz="3600" dirty="0" err="1"/>
              <a:t>tersebut</a:t>
            </a:r>
            <a:r>
              <a:rPr lang="en-US" sz="3600" dirty="0"/>
              <a:t>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menyebabkan</a:t>
            </a:r>
            <a:r>
              <a:rPr lang="en-US" sz="3600" dirty="0"/>
              <a:t> </a:t>
            </a:r>
            <a:r>
              <a:rPr lang="en-US" sz="3600" dirty="0" err="1"/>
              <a:t>pergantian</a:t>
            </a:r>
            <a:r>
              <a:rPr lang="en-US" sz="3600" dirty="0"/>
              <a:t> </a:t>
            </a:r>
            <a:r>
              <a:rPr lang="en-US" sz="3600" dirty="0" err="1"/>
              <a:t>asam</a:t>
            </a:r>
            <a:r>
              <a:rPr lang="en-US" sz="3600" dirty="0"/>
              <a:t> </a:t>
            </a:r>
            <a:r>
              <a:rPr lang="en-US" sz="3600" dirty="0" err="1"/>
              <a:t>amina</a:t>
            </a:r>
            <a:r>
              <a:rPr lang="en-US" sz="3600" dirty="0"/>
              <a:t> yang </a:t>
            </a:r>
            <a:r>
              <a:rPr lang="en-US" sz="3600" dirty="0" err="1"/>
              <a:t>sudah</a:t>
            </a:r>
            <a:r>
              <a:rPr lang="en-US" sz="3600" dirty="0"/>
              <a:t> </a:t>
            </a:r>
            <a:r>
              <a:rPr lang="en-US" sz="3600" dirty="0" err="1"/>
              <a:t>dikode</a:t>
            </a:r>
            <a:r>
              <a:rPr lang="en-US" sz="36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990CF106-9405-ED91-8988-9C3B789765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641850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CC07C-BF0B-13BA-D77A-7EED2C3A1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2F01D-2F17-AE1F-CD56-29D9BAFAC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70" y="1041620"/>
            <a:ext cx="9618662" cy="642026"/>
          </a:xfrm>
        </p:spPr>
        <p:txBody>
          <a:bodyPr/>
          <a:lstStyle/>
          <a:p>
            <a:r>
              <a:rPr lang="en-US" sz="2800" b="1" dirty="0"/>
              <a:t>MUTASI TANPA ARTI (NONSENSE MUTATION)</a:t>
            </a:r>
            <a:endParaRPr lang="id-ID" sz="28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4ED54E-5ABD-F03D-3C59-A7F40DA92F5D}"/>
              </a:ext>
            </a:extLst>
          </p:cNvPr>
          <p:cNvSpPr/>
          <p:nvPr/>
        </p:nvSpPr>
        <p:spPr>
          <a:xfrm>
            <a:off x="1255970" y="1824067"/>
            <a:ext cx="84799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/>
              <a:t>Nonsense mutation </a:t>
            </a:r>
            <a:r>
              <a:rPr lang="en-US" sz="3600" dirty="0" err="1"/>
              <a:t>merupakan</a:t>
            </a:r>
            <a:r>
              <a:rPr lang="en-US" sz="3600" dirty="0"/>
              <a:t> </a:t>
            </a:r>
            <a:r>
              <a:rPr lang="en-US" sz="3600" dirty="0" err="1"/>
              <a:t>mutasi</a:t>
            </a:r>
            <a:r>
              <a:rPr lang="en-US" sz="3600" dirty="0"/>
              <a:t> yang </a:t>
            </a:r>
            <a:r>
              <a:rPr lang="en-US" sz="3600" dirty="0" err="1"/>
              <a:t>melakukan</a:t>
            </a:r>
            <a:r>
              <a:rPr lang="en-US" sz="3600" dirty="0"/>
              <a:t> </a:t>
            </a:r>
            <a:r>
              <a:rPr lang="en-US" sz="3600" dirty="0" err="1"/>
              <a:t>perubahan</a:t>
            </a:r>
            <a:r>
              <a:rPr lang="en-US" sz="3600" dirty="0"/>
              <a:t> </a:t>
            </a:r>
            <a:r>
              <a:rPr lang="en-US" sz="3600" dirty="0" err="1"/>
              <a:t>kodon</a:t>
            </a:r>
            <a:r>
              <a:rPr lang="en-US" sz="3600" dirty="0"/>
              <a:t> </a:t>
            </a:r>
            <a:r>
              <a:rPr lang="en-US" sz="3600" dirty="0" err="1"/>
              <a:t>asam</a:t>
            </a:r>
            <a:r>
              <a:rPr lang="en-US" sz="3600" dirty="0"/>
              <a:t> amino </a:t>
            </a:r>
            <a:r>
              <a:rPr lang="en-US" sz="3600" dirty="0" err="1"/>
              <a:t>untuk</a:t>
            </a:r>
            <a:r>
              <a:rPr lang="en-US" sz="3600" dirty="0"/>
              <a:t> </a:t>
            </a:r>
            <a:r>
              <a:rPr lang="en-US" sz="3600" dirty="0" err="1"/>
              <a:t>dijadikan</a:t>
            </a:r>
            <a:r>
              <a:rPr lang="en-US" sz="3600" dirty="0"/>
              <a:t> </a:t>
            </a:r>
            <a:r>
              <a:rPr lang="en-US" sz="3600" dirty="0" err="1"/>
              <a:t>kodon</a:t>
            </a:r>
            <a:r>
              <a:rPr lang="en-US" sz="3600" dirty="0"/>
              <a:t> stop.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 err="1"/>
              <a:t>Kemudian</a:t>
            </a:r>
            <a:r>
              <a:rPr lang="en-US" sz="3600" dirty="0"/>
              <a:t> </a:t>
            </a:r>
            <a:r>
              <a:rPr lang="en-US" sz="3600" dirty="0" err="1"/>
              <a:t>kodon</a:t>
            </a:r>
            <a:r>
              <a:rPr lang="en-US" sz="3600" dirty="0"/>
              <a:t> stop </a:t>
            </a:r>
            <a:r>
              <a:rPr lang="en-US" sz="3600" dirty="0" err="1"/>
              <a:t>tersebut</a:t>
            </a:r>
            <a:r>
              <a:rPr lang="en-US" sz="3600" dirty="0"/>
              <a:t> </a:t>
            </a:r>
            <a:r>
              <a:rPr lang="en-US" sz="3600" dirty="0" err="1"/>
              <a:t>melakukan</a:t>
            </a:r>
            <a:r>
              <a:rPr lang="en-US" sz="3600" dirty="0"/>
              <a:t> </a:t>
            </a:r>
            <a:r>
              <a:rPr lang="en-US" sz="3600" dirty="0" err="1"/>
              <a:t>perhentian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memproduksi</a:t>
            </a:r>
            <a:r>
              <a:rPr lang="en-US" sz="3600" dirty="0"/>
              <a:t> </a:t>
            </a:r>
            <a:r>
              <a:rPr lang="en-US" sz="3600" dirty="0" err="1"/>
              <a:t>asam</a:t>
            </a:r>
            <a:r>
              <a:rPr lang="en-US" sz="3600" dirty="0"/>
              <a:t> amino pada </a:t>
            </a:r>
            <a:r>
              <a:rPr lang="en-US" sz="3600" dirty="0" err="1"/>
              <a:t>ribosom</a:t>
            </a:r>
            <a:r>
              <a:rPr lang="en-US" sz="3600" dirty="0"/>
              <a:t>. </a:t>
            </a:r>
            <a:r>
              <a:rPr lang="en-US" sz="3600" dirty="0" err="1"/>
              <a:t>Akibatnya</a:t>
            </a:r>
            <a:r>
              <a:rPr lang="en-US" sz="3600" dirty="0"/>
              <a:t>, protein </a:t>
            </a:r>
            <a:r>
              <a:rPr lang="en-US" sz="3600" dirty="0" err="1"/>
              <a:t>tidak</a:t>
            </a:r>
            <a:r>
              <a:rPr lang="en-US" sz="3600" dirty="0"/>
              <a:t>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diproduksi</a:t>
            </a:r>
            <a:r>
              <a:rPr lang="en-US" sz="3600" dirty="0"/>
              <a:t> </a:t>
            </a:r>
            <a:r>
              <a:rPr lang="en-US" sz="3600" dirty="0" err="1"/>
              <a:t>kembali</a:t>
            </a:r>
            <a:r>
              <a:rPr lang="en-US" sz="3600" dirty="0"/>
              <a:t>.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CE3DC44B-C415-050C-5EAA-7BE0FBC056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5523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6642D-C5EA-3082-B975-BA376F219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5B4D-CA82-8025-3295-F1C853B80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70" y="1041620"/>
            <a:ext cx="9618662" cy="642026"/>
          </a:xfrm>
        </p:spPr>
        <p:txBody>
          <a:bodyPr/>
          <a:lstStyle/>
          <a:p>
            <a:r>
              <a:rPr lang="en-US" b="1" dirty="0" err="1"/>
              <a:t>Contoh</a:t>
            </a:r>
            <a:r>
              <a:rPr lang="en-US" b="1" dirty="0"/>
              <a:t> </a:t>
            </a:r>
            <a:r>
              <a:rPr lang="en-US" b="1" dirty="0" err="1"/>
              <a:t>Mutasi</a:t>
            </a:r>
            <a:r>
              <a:rPr lang="en-US" b="1" dirty="0"/>
              <a:t> Gen pada </a:t>
            </a:r>
            <a:r>
              <a:rPr lang="en-US" b="1" dirty="0" err="1"/>
              <a:t>Tubuh</a:t>
            </a:r>
            <a:r>
              <a:rPr lang="en-US" b="1" dirty="0"/>
              <a:t> </a:t>
            </a:r>
            <a:r>
              <a:rPr lang="en-US" b="1" dirty="0" err="1"/>
              <a:t>Manusia</a:t>
            </a:r>
            <a:endParaRPr lang="en-US" b="1" dirty="0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ADC6938B-8A6F-0F34-A6F2-5A2E5A691E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B6B40-F495-E961-58BF-8C0EFEABB798}"/>
              </a:ext>
            </a:extLst>
          </p:cNvPr>
          <p:cNvSpPr/>
          <p:nvPr/>
        </p:nvSpPr>
        <p:spPr>
          <a:xfrm>
            <a:off x="1255970" y="2073265"/>
            <a:ext cx="847990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 err="1"/>
              <a:t>Mutasi</a:t>
            </a:r>
            <a:r>
              <a:rPr lang="en-US" sz="3600" dirty="0"/>
              <a:t> gen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terjadi</a:t>
            </a:r>
            <a:r>
              <a:rPr lang="en-US" sz="3600" dirty="0"/>
              <a:t> pada </a:t>
            </a:r>
            <a:r>
              <a:rPr lang="en-US" sz="3600" dirty="0" err="1"/>
              <a:t>berbagai</a:t>
            </a:r>
            <a:r>
              <a:rPr lang="en-US" sz="3600" dirty="0"/>
              <a:t> </a:t>
            </a:r>
            <a:r>
              <a:rPr lang="en-US" sz="3600" dirty="0" err="1"/>
              <a:t>makhluk</a:t>
            </a:r>
            <a:r>
              <a:rPr lang="en-US" sz="3600" dirty="0"/>
              <a:t> </a:t>
            </a:r>
            <a:r>
              <a:rPr lang="en-US" sz="3600" dirty="0" err="1"/>
              <a:t>hidup</a:t>
            </a:r>
            <a:r>
              <a:rPr lang="en-US" sz="3600" dirty="0"/>
              <a:t>, </a:t>
            </a:r>
            <a:r>
              <a:rPr lang="en-US" sz="3600" dirty="0" err="1"/>
              <a:t>termasuk</a:t>
            </a:r>
            <a:r>
              <a:rPr lang="en-US" sz="3600" dirty="0"/>
              <a:t> juga pada </a:t>
            </a:r>
            <a:r>
              <a:rPr lang="en-US" sz="3600" dirty="0" err="1"/>
              <a:t>manusia</a:t>
            </a:r>
            <a:r>
              <a:rPr lang="en-US" sz="36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600" dirty="0"/>
              <a:t>Adapun </a:t>
            </a:r>
            <a:r>
              <a:rPr lang="en-US" sz="3600" dirty="0" err="1"/>
              <a:t>contoh</a:t>
            </a:r>
            <a:r>
              <a:rPr lang="en-US" sz="3600" dirty="0"/>
              <a:t> </a:t>
            </a:r>
            <a:r>
              <a:rPr lang="en-US" sz="3600" dirty="0" err="1"/>
              <a:t>mutasi</a:t>
            </a:r>
            <a:r>
              <a:rPr lang="en-US" sz="3600" dirty="0"/>
              <a:t> gen yang </a:t>
            </a:r>
            <a:r>
              <a:rPr lang="en-US" sz="3600" dirty="0" err="1"/>
              <a:t>dapat</a:t>
            </a:r>
            <a:r>
              <a:rPr lang="en-US" sz="3600" dirty="0"/>
              <a:t> </a:t>
            </a:r>
            <a:r>
              <a:rPr lang="en-US" sz="3600" dirty="0" err="1"/>
              <a:t>terjadi</a:t>
            </a:r>
            <a:r>
              <a:rPr lang="en-US" sz="3600" dirty="0"/>
              <a:t> </a:t>
            </a:r>
            <a:r>
              <a:rPr lang="en-US" sz="3600" dirty="0" err="1"/>
              <a:t>dalam</a:t>
            </a:r>
            <a:r>
              <a:rPr lang="en-US" sz="3600" dirty="0"/>
              <a:t> </a:t>
            </a:r>
            <a:r>
              <a:rPr lang="en-US" sz="3600" dirty="0" err="1"/>
              <a:t>tubuh</a:t>
            </a:r>
            <a:r>
              <a:rPr lang="en-US" sz="3600" dirty="0"/>
              <a:t> </a:t>
            </a:r>
            <a:r>
              <a:rPr lang="en-US" sz="3600" dirty="0" err="1"/>
              <a:t>manusia</a:t>
            </a:r>
            <a:r>
              <a:rPr lang="en-US" sz="3600" dirty="0"/>
              <a:t> </a:t>
            </a:r>
            <a:r>
              <a:rPr lang="en-US" sz="3600" dirty="0" err="1"/>
              <a:t>adalah</a:t>
            </a:r>
            <a:r>
              <a:rPr lang="en-US" sz="3600" dirty="0"/>
              <a:t> </a:t>
            </a:r>
            <a:r>
              <a:rPr lang="en-US" sz="3600" dirty="0" err="1"/>
              <a:t>sebagai</a:t>
            </a:r>
            <a:r>
              <a:rPr lang="en-US" sz="3600" dirty="0"/>
              <a:t> </a:t>
            </a:r>
            <a:r>
              <a:rPr lang="en-US" sz="3600" dirty="0" err="1"/>
              <a:t>berikut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22018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98E3-F5AE-601C-88C6-96F5ADF0F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9EBF8-B9AD-3F77-F847-2A243AF90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970" y="1041620"/>
            <a:ext cx="9618662" cy="642026"/>
          </a:xfrm>
        </p:spPr>
        <p:txBody>
          <a:bodyPr/>
          <a:lstStyle/>
          <a:p>
            <a:r>
              <a:rPr lang="it-IT" b="1" dirty="0"/>
              <a:t>Mutasi Gen BRCA1 dan BRCA2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EAC5ABA-FB4F-DAB5-0A54-7C400B1D6C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9269B1-C0A3-452E-7AC9-4C00F82171D3}"/>
              </a:ext>
            </a:extLst>
          </p:cNvPr>
          <p:cNvSpPr/>
          <p:nvPr/>
        </p:nvSpPr>
        <p:spPr>
          <a:xfrm>
            <a:off x="1103570" y="1848173"/>
            <a:ext cx="847990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/>
              <a:t>Mutasi</a:t>
            </a:r>
            <a:r>
              <a:rPr lang="en-US" sz="2800" dirty="0"/>
              <a:t> gen BRCA1 dan BRCA2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mengakibatkan</a:t>
            </a:r>
            <a:r>
              <a:rPr lang="en-US" sz="2800" dirty="0"/>
              <a:t> </a:t>
            </a:r>
            <a:r>
              <a:rPr lang="en-US" sz="2800" dirty="0" err="1"/>
              <a:t>meningkatnya</a:t>
            </a:r>
            <a:r>
              <a:rPr lang="en-US" sz="2800" dirty="0"/>
              <a:t> </a:t>
            </a:r>
            <a:r>
              <a:rPr lang="en-US" sz="2800" dirty="0" err="1"/>
              <a:t>risiko</a:t>
            </a:r>
            <a:r>
              <a:rPr lang="en-US" sz="2800" dirty="0"/>
              <a:t> </a:t>
            </a:r>
            <a:r>
              <a:rPr lang="en-US" sz="2800" dirty="0" err="1"/>
              <a:t>seseorang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terkena</a:t>
            </a:r>
            <a:r>
              <a:rPr lang="en-US" sz="2800" dirty="0"/>
              <a:t> </a:t>
            </a:r>
            <a:r>
              <a:rPr lang="en-US" sz="2800" dirty="0" err="1"/>
              <a:t>kanker</a:t>
            </a:r>
            <a:r>
              <a:rPr lang="en-US" sz="2800" dirty="0"/>
              <a:t> </a:t>
            </a:r>
            <a:r>
              <a:rPr lang="en-US" sz="2800" dirty="0" err="1"/>
              <a:t>payudara</a:t>
            </a:r>
            <a:r>
              <a:rPr lang="en-US" sz="2800" dirty="0"/>
              <a:t> dan </a:t>
            </a:r>
            <a:r>
              <a:rPr lang="en-US" sz="2800" dirty="0" err="1"/>
              <a:t>kanker</a:t>
            </a:r>
            <a:r>
              <a:rPr lang="en-US" sz="2800" dirty="0"/>
              <a:t> ovarium.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Karena gen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mempunyai</a:t>
            </a:r>
            <a:r>
              <a:rPr lang="en-US" sz="2800" dirty="0"/>
              <a:t> </a:t>
            </a:r>
            <a:r>
              <a:rPr lang="en-US" sz="2800" dirty="0" err="1"/>
              <a:t>tanggung</a:t>
            </a:r>
            <a:r>
              <a:rPr lang="en-US" sz="2800" dirty="0"/>
              <a:t> </a:t>
            </a:r>
            <a:r>
              <a:rPr lang="en-US" sz="2800" dirty="0" err="1"/>
              <a:t>jawab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memproduksi</a:t>
            </a:r>
            <a:r>
              <a:rPr lang="en-US" sz="2800" dirty="0"/>
              <a:t> protein yang </a:t>
            </a:r>
            <a:r>
              <a:rPr lang="en-US" sz="2800" dirty="0" err="1"/>
              <a:t>berperan</a:t>
            </a:r>
            <a:r>
              <a:rPr lang="en-US" sz="2800" dirty="0"/>
              <a:t> </a:t>
            </a:r>
            <a:r>
              <a:rPr lang="en-US" sz="2800" dirty="0" err="1"/>
              <a:t>untuk</a:t>
            </a:r>
            <a:r>
              <a:rPr lang="en-US" sz="2800" dirty="0"/>
              <a:t> </a:t>
            </a:r>
            <a:r>
              <a:rPr lang="en-US" sz="2800" dirty="0" err="1"/>
              <a:t>memperbaiki</a:t>
            </a:r>
            <a:r>
              <a:rPr lang="en-US" sz="2800" dirty="0"/>
              <a:t> </a:t>
            </a:r>
            <a:r>
              <a:rPr lang="en-US" sz="2800" dirty="0" err="1"/>
              <a:t>kerusakan</a:t>
            </a:r>
            <a:r>
              <a:rPr lang="en-US" sz="2800" dirty="0"/>
              <a:t> DNA.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/>
              <a:t>Sehingga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terjadinya</a:t>
            </a:r>
            <a:r>
              <a:rPr lang="en-US" sz="2800" dirty="0"/>
              <a:t> </a:t>
            </a:r>
            <a:r>
              <a:rPr lang="en-US" sz="2800" dirty="0" err="1"/>
              <a:t>mutasi</a:t>
            </a:r>
            <a:r>
              <a:rPr lang="en-US" sz="2800" dirty="0"/>
              <a:t> gen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mengganggu</a:t>
            </a:r>
            <a:r>
              <a:rPr lang="en-US" sz="2800" dirty="0"/>
              <a:t> </a:t>
            </a:r>
            <a:r>
              <a:rPr lang="en-US" sz="2800" dirty="0" err="1"/>
              <a:t>kemampuan</a:t>
            </a:r>
            <a:r>
              <a:rPr lang="en-US" sz="2800" dirty="0"/>
              <a:t> </a:t>
            </a:r>
            <a:r>
              <a:rPr lang="en-US" sz="2800" dirty="0" err="1"/>
              <a:t>sel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memperbaiki</a:t>
            </a:r>
            <a:r>
              <a:rPr lang="en-US" sz="2800" dirty="0"/>
              <a:t> DNA dan </a:t>
            </a:r>
            <a:r>
              <a:rPr lang="en-US" sz="2800" dirty="0" err="1"/>
              <a:t>meningkatkan</a:t>
            </a:r>
            <a:r>
              <a:rPr lang="en-US" sz="2800" dirty="0"/>
              <a:t> </a:t>
            </a:r>
            <a:r>
              <a:rPr lang="en-US" sz="2800" dirty="0" err="1"/>
              <a:t>adanya</a:t>
            </a:r>
            <a:r>
              <a:rPr lang="en-US" sz="2800" dirty="0"/>
              <a:t> </a:t>
            </a:r>
            <a:r>
              <a:rPr lang="en-US" sz="2800" dirty="0" err="1"/>
              <a:t>perkembangan</a:t>
            </a:r>
            <a:r>
              <a:rPr lang="en-US" sz="2800" dirty="0"/>
              <a:t> </a:t>
            </a:r>
            <a:r>
              <a:rPr lang="en-US" sz="2800" dirty="0" err="1"/>
              <a:t>kanker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3970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7B4D-8C8E-FC89-5D34-45B5B769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6CC7-1D9C-4FF0-19F7-0CF7C6B8D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1239065"/>
            <a:ext cx="9618662" cy="642026"/>
          </a:xfrm>
        </p:spPr>
        <p:txBody>
          <a:bodyPr/>
          <a:lstStyle/>
          <a:p>
            <a:r>
              <a:rPr lang="it-IT" b="1" dirty="0"/>
              <a:t>Mutasi Gen CFTR (Cystic Fibrosis Transmembrane Conductance Regulator)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8C3487C-4592-AD8A-44D9-B9C901F42B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4D3679-E622-5ECB-7FD5-9717754BABBD}"/>
              </a:ext>
            </a:extLst>
          </p:cNvPr>
          <p:cNvSpPr/>
          <p:nvPr/>
        </p:nvSpPr>
        <p:spPr>
          <a:xfrm>
            <a:off x="1103570" y="2132378"/>
            <a:ext cx="847990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/>
              <a:t>Terjadinya</a:t>
            </a:r>
            <a:r>
              <a:rPr lang="en-US" sz="2800" dirty="0"/>
              <a:t> </a:t>
            </a:r>
            <a:r>
              <a:rPr lang="en-US" sz="2800" dirty="0" err="1"/>
              <a:t>mutasi</a:t>
            </a:r>
            <a:r>
              <a:rPr lang="en-US" sz="2800" dirty="0"/>
              <a:t> gen CFTR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menganggu</a:t>
            </a:r>
            <a:r>
              <a:rPr lang="en-US" sz="2800" dirty="0"/>
              <a:t> </a:t>
            </a:r>
            <a:r>
              <a:rPr lang="en-US" sz="2800" dirty="0" err="1"/>
              <a:t>fungsi</a:t>
            </a:r>
            <a:r>
              <a:rPr lang="en-US" sz="2800" dirty="0"/>
              <a:t> </a:t>
            </a:r>
            <a:r>
              <a:rPr lang="en-US" sz="2800" dirty="0" err="1"/>
              <a:t>saluran</a:t>
            </a:r>
            <a:r>
              <a:rPr lang="en-US" sz="2800" dirty="0"/>
              <a:t> ion pada </a:t>
            </a:r>
            <a:r>
              <a:rPr lang="en-US" sz="2800" dirty="0" err="1"/>
              <a:t>sel</a:t>
            </a:r>
            <a:r>
              <a:rPr lang="en-US" sz="2800" dirty="0"/>
              <a:t>, yang paling </a:t>
            </a:r>
            <a:r>
              <a:rPr lang="en-US" sz="2800" dirty="0" err="1"/>
              <a:t>utama</a:t>
            </a:r>
            <a:r>
              <a:rPr lang="en-US" sz="2800" dirty="0"/>
              <a:t> pada </a:t>
            </a:r>
            <a:r>
              <a:rPr lang="en-US" sz="2800" dirty="0" err="1"/>
              <a:t>saluran</a:t>
            </a:r>
            <a:r>
              <a:rPr lang="en-US" sz="2800" dirty="0"/>
              <a:t> </a:t>
            </a:r>
            <a:r>
              <a:rPr lang="en-US" sz="2800" dirty="0" err="1"/>
              <a:t>pencernaan</a:t>
            </a:r>
            <a:r>
              <a:rPr lang="en-US" sz="2800" dirty="0"/>
              <a:t> dan </a:t>
            </a:r>
            <a:r>
              <a:rPr lang="en-US" sz="2800" dirty="0" err="1"/>
              <a:t>pernapasan</a:t>
            </a:r>
            <a:r>
              <a:rPr lang="en-US" sz="28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/>
              <a:t>Mutasi</a:t>
            </a:r>
            <a:r>
              <a:rPr lang="en-US" sz="2800" dirty="0"/>
              <a:t> </a:t>
            </a:r>
            <a:r>
              <a:rPr lang="en-US" sz="2800" dirty="0" err="1"/>
              <a:t>tersebut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menyebabkan</a:t>
            </a:r>
            <a:r>
              <a:rPr lang="en-US" sz="2800" dirty="0"/>
              <a:t> </a:t>
            </a:r>
            <a:r>
              <a:rPr lang="en-US" sz="2800" dirty="0" err="1"/>
              <a:t>penyakit</a:t>
            </a:r>
            <a:r>
              <a:rPr lang="en-US" sz="2800" dirty="0"/>
              <a:t> </a:t>
            </a:r>
            <a:r>
              <a:rPr lang="en-US" sz="2800" dirty="0" err="1"/>
              <a:t>genetik</a:t>
            </a:r>
            <a:r>
              <a:rPr lang="en-US" sz="2800" dirty="0"/>
              <a:t> </a:t>
            </a:r>
            <a:r>
              <a:rPr lang="en-US" sz="2800" dirty="0" err="1"/>
              <a:t>bernama</a:t>
            </a:r>
            <a:r>
              <a:rPr lang="en-US" sz="2800" dirty="0"/>
              <a:t> cystic fibrosis.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 err="1"/>
              <a:t>Terdapat</a:t>
            </a:r>
            <a:r>
              <a:rPr lang="en-US" sz="2800" dirty="0"/>
              <a:t> </a:t>
            </a:r>
            <a:r>
              <a:rPr lang="en-US" sz="2800" dirty="0" err="1"/>
              <a:t>macam-macam</a:t>
            </a:r>
            <a:r>
              <a:rPr lang="en-US" sz="2800" dirty="0"/>
              <a:t> </a:t>
            </a:r>
            <a:r>
              <a:rPr lang="en-US" sz="2800" dirty="0" err="1"/>
              <a:t>mutasi</a:t>
            </a:r>
            <a:r>
              <a:rPr lang="en-US" sz="2800" dirty="0"/>
              <a:t> gen yang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terjadi</a:t>
            </a:r>
            <a:r>
              <a:rPr lang="en-US" sz="2800" dirty="0"/>
              <a:t> pada </a:t>
            </a:r>
            <a:r>
              <a:rPr lang="en-US" sz="2800" dirty="0" err="1"/>
              <a:t>semua</a:t>
            </a:r>
            <a:r>
              <a:rPr lang="en-US" sz="2800" dirty="0"/>
              <a:t> </a:t>
            </a:r>
            <a:r>
              <a:rPr lang="en-US" sz="2800" dirty="0" err="1"/>
              <a:t>makhluk</a:t>
            </a:r>
            <a:r>
              <a:rPr lang="en-US" sz="2800" dirty="0"/>
              <a:t> </a:t>
            </a:r>
            <a:r>
              <a:rPr lang="en-US" sz="2800" dirty="0" err="1"/>
              <a:t>hidup</a:t>
            </a:r>
            <a:r>
              <a:rPr lang="en-US" sz="2800" dirty="0"/>
              <a:t>,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tubuh</a:t>
            </a:r>
            <a:r>
              <a:rPr lang="en-US" sz="2800" dirty="0"/>
              <a:t> </a:t>
            </a:r>
            <a:r>
              <a:rPr lang="en-US" sz="2800" dirty="0" err="1"/>
              <a:t>manusia</a:t>
            </a:r>
            <a:r>
              <a:rPr lang="en-US" sz="28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/>
              <a:t>Di mana pada </a:t>
            </a:r>
            <a:r>
              <a:rPr lang="en-US" sz="2800" dirty="0" err="1"/>
              <a:t>tubuh</a:t>
            </a:r>
            <a:r>
              <a:rPr lang="en-US" sz="2800" dirty="0"/>
              <a:t> </a:t>
            </a:r>
            <a:r>
              <a:rPr lang="en-US" sz="2800" dirty="0" err="1"/>
              <a:t>manusia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menyebabkan</a:t>
            </a:r>
            <a:r>
              <a:rPr lang="en-US" sz="2800" dirty="0"/>
              <a:t> </a:t>
            </a:r>
            <a:r>
              <a:rPr lang="en-US" sz="2800" dirty="0" err="1"/>
              <a:t>beberapa</a:t>
            </a:r>
            <a:r>
              <a:rPr lang="en-US" sz="2800" dirty="0"/>
              <a:t> </a:t>
            </a:r>
            <a:r>
              <a:rPr lang="en-US" sz="2800" dirty="0" err="1"/>
              <a:t>penyakit</a:t>
            </a:r>
            <a:r>
              <a:rPr lang="en-US" sz="2800" dirty="0"/>
              <a:t>, </a:t>
            </a:r>
            <a:r>
              <a:rPr lang="en-US" sz="2800" dirty="0" err="1"/>
              <a:t>seperti</a:t>
            </a:r>
            <a:r>
              <a:rPr lang="en-US" sz="2800" dirty="0"/>
              <a:t> </a:t>
            </a:r>
            <a:r>
              <a:rPr lang="en-US" sz="2800" dirty="0" err="1"/>
              <a:t>kanker</a:t>
            </a:r>
            <a:r>
              <a:rPr lang="en-US" sz="2800" dirty="0"/>
              <a:t> dan </a:t>
            </a:r>
            <a:r>
              <a:rPr lang="en-US" sz="2800" dirty="0" err="1"/>
              <a:t>penyakit</a:t>
            </a:r>
            <a:r>
              <a:rPr lang="en-US" sz="2800" dirty="0"/>
              <a:t> </a:t>
            </a:r>
            <a:r>
              <a:rPr lang="en-US" sz="2800" dirty="0" err="1"/>
              <a:t>genetik</a:t>
            </a:r>
            <a:r>
              <a:rPr lang="en-US" sz="2800" dirty="0"/>
              <a:t> </a:t>
            </a:r>
            <a:r>
              <a:rPr lang="en-US" sz="2800" dirty="0" err="1"/>
              <a:t>tertentu</a:t>
            </a:r>
            <a:r>
              <a:rPr lang="en-US" sz="2800" dirty="0"/>
              <a:t>. (PAM)</a:t>
            </a:r>
          </a:p>
        </p:txBody>
      </p:sp>
    </p:spTree>
    <p:extLst>
      <p:ext uri="{BB962C8B-B14F-4D97-AF65-F5344CB8AC3E}">
        <p14:creationId xmlns:p14="http://schemas.microsoft.com/office/powerpoint/2010/main" val="2162700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F88AF-6911-469A-7027-D2A355792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47DD-C91C-7AEF-735A-EBEC1CDC8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</a:t>
            </a:r>
            <a:r>
              <a:rPr lang="it-IT" sz="2800" b="1" dirty="0">
                <a:solidFill>
                  <a:srgbClr val="FF0000"/>
                </a:solidFill>
              </a:rPr>
              <a:t>SILENT MUTATION 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D3C3342-4AE9-379A-E1D2-5EA702ADB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0BEDA7-3875-A4D1-A2EB-39974A5B6B24}"/>
              </a:ext>
            </a:extLst>
          </p:cNvPr>
          <p:cNvCxnSpPr>
            <a:cxnSpLocks/>
          </p:cNvCxnSpPr>
          <p:nvPr/>
        </p:nvCxnSpPr>
        <p:spPr>
          <a:xfrm>
            <a:off x="1502254" y="2804758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8DEF6EF-8E9C-E5FA-B49B-C0F18324759E}"/>
              </a:ext>
            </a:extLst>
          </p:cNvPr>
          <p:cNvSpPr/>
          <p:nvPr/>
        </p:nvSpPr>
        <p:spPr>
          <a:xfrm>
            <a:off x="9174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12CEE45-9AEF-7690-FCD5-C73A2FCDEEA8}"/>
              </a:ext>
            </a:extLst>
          </p:cNvPr>
          <p:cNvSpPr/>
          <p:nvPr/>
        </p:nvSpPr>
        <p:spPr>
          <a:xfrm>
            <a:off x="88633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9413F5-4041-7A09-4940-DDDBEF7DC61A}"/>
              </a:ext>
            </a:extLst>
          </p:cNvPr>
          <p:cNvSpPr/>
          <p:nvPr/>
        </p:nvSpPr>
        <p:spPr>
          <a:xfrm>
            <a:off x="9664757" y="2504231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5F7D9-CE22-6683-C087-E12310C48E67}"/>
              </a:ext>
            </a:extLst>
          </p:cNvPr>
          <p:cNvSpPr/>
          <p:nvPr/>
        </p:nvSpPr>
        <p:spPr>
          <a:xfrm>
            <a:off x="1502254" y="2958458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AGU              GAG            UGU</a:t>
            </a:r>
            <a:endParaRPr lang="en-US" sz="24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59A770-30EA-08D8-BFE7-22CC9508A058}"/>
              </a:ext>
            </a:extLst>
          </p:cNvPr>
          <p:cNvCxnSpPr>
            <a:cxnSpLocks/>
          </p:cNvCxnSpPr>
          <p:nvPr/>
        </p:nvCxnSpPr>
        <p:spPr>
          <a:xfrm>
            <a:off x="1469877" y="3933825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608AD722-4DE5-CC34-4A01-5D8CEEDC861C}"/>
              </a:ext>
            </a:extLst>
          </p:cNvPr>
          <p:cNvSpPr/>
          <p:nvPr/>
        </p:nvSpPr>
        <p:spPr>
          <a:xfrm>
            <a:off x="917463" y="3561663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39F7B9-E4F2-E329-2C90-33D26B09AE1A}"/>
              </a:ext>
            </a:extLst>
          </p:cNvPr>
          <p:cNvSpPr/>
          <p:nvPr/>
        </p:nvSpPr>
        <p:spPr>
          <a:xfrm>
            <a:off x="8747872" y="3561662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DFC683-1EBB-3C49-186D-73AECD93F620}"/>
              </a:ext>
            </a:extLst>
          </p:cNvPr>
          <p:cNvSpPr/>
          <p:nvPr/>
        </p:nvSpPr>
        <p:spPr>
          <a:xfrm>
            <a:off x="9569836" y="3591759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900BE0-7409-6636-2D0C-5DDC4E2C831B}"/>
              </a:ext>
            </a:extLst>
          </p:cNvPr>
          <p:cNvSpPr/>
          <p:nvPr/>
        </p:nvSpPr>
        <p:spPr>
          <a:xfrm>
            <a:off x="1617663" y="4044420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Glutamic   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Cystein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D77628-FB22-FA29-0000-75A6678D23FC}"/>
              </a:ext>
            </a:extLst>
          </p:cNvPr>
          <p:cNvSpPr/>
          <p:nvPr/>
        </p:nvSpPr>
        <p:spPr>
          <a:xfrm>
            <a:off x="1069976" y="1622032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ORIGINAL DNA: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96DCED-DC43-D350-6F27-BBD9AE74B6C4}"/>
              </a:ext>
            </a:extLst>
          </p:cNvPr>
          <p:cNvSpPr/>
          <p:nvPr/>
        </p:nvSpPr>
        <p:spPr>
          <a:xfrm>
            <a:off x="741164" y="4645546"/>
            <a:ext cx="6895311" cy="375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MUTATION DNA: </a:t>
            </a:r>
            <a:r>
              <a:rPr lang="en-US" dirty="0" err="1"/>
              <a:t>Pergantian</a:t>
            </a:r>
            <a:r>
              <a:rPr lang="en-US" dirty="0"/>
              <a:t> </a:t>
            </a:r>
            <a:r>
              <a:rPr lang="en-US" dirty="0" err="1"/>
              <a:t>basa</a:t>
            </a:r>
            <a:r>
              <a:rPr lang="en-US" dirty="0"/>
              <a:t> AGU </a:t>
            </a:r>
            <a:r>
              <a:rPr lang="en-US" dirty="0" err="1"/>
              <a:t>menjadi</a:t>
            </a:r>
            <a:r>
              <a:rPr lang="en-US" dirty="0"/>
              <a:t> AGC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D694E5-857B-D537-E573-2623E1CD2A70}"/>
              </a:ext>
            </a:extLst>
          </p:cNvPr>
          <p:cNvCxnSpPr>
            <a:cxnSpLocks/>
          </p:cNvCxnSpPr>
          <p:nvPr/>
        </p:nvCxnSpPr>
        <p:spPr>
          <a:xfrm>
            <a:off x="1469877" y="5647390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4BB9A58-37BA-5C3B-189A-8782BBFC7F35}"/>
              </a:ext>
            </a:extLst>
          </p:cNvPr>
          <p:cNvSpPr/>
          <p:nvPr/>
        </p:nvSpPr>
        <p:spPr>
          <a:xfrm>
            <a:off x="8850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ACEDD3-C407-AD71-4337-53E6DCA693A4}"/>
              </a:ext>
            </a:extLst>
          </p:cNvPr>
          <p:cNvSpPr/>
          <p:nvPr/>
        </p:nvSpPr>
        <p:spPr>
          <a:xfrm>
            <a:off x="88309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6EE5D2-F5A0-3065-FC78-58D3818FC0E1}"/>
              </a:ext>
            </a:extLst>
          </p:cNvPr>
          <p:cNvSpPr/>
          <p:nvPr/>
        </p:nvSpPr>
        <p:spPr>
          <a:xfrm>
            <a:off x="1502253" y="5799789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GAG            UGU</a:t>
            </a:r>
            <a:endParaRPr lang="en-US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6DC97A-63CF-BFC3-0F87-4ABD05BEC28D}"/>
              </a:ext>
            </a:extLst>
          </p:cNvPr>
          <p:cNvSpPr/>
          <p:nvPr/>
        </p:nvSpPr>
        <p:spPr>
          <a:xfrm>
            <a:off x="9569836" y="5280190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FADCB1-1266-9547-EFEC-9609DB93CB59}"/>
              </a:ext>
            </a:extLst>
          </p:cNvPr>
          <p:cNvCxnSpPr>
            <a:cxnSpLocks/>
          </p:cNvCxnSpPr>
          <p:nvPr/>
        </p:nvCxnSpPr>
        <p:spPr>
          <a:xfrm>
            <a:off x="1469877" y="6444829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DF0D64D2-EC79-FCF0-2A07-43B5898BED8D}"/>
              </a:ext>
            </a:extLst>
          </p:cNvPr>
          <p:cNvSpPr/>
          <p:nvPr/>
        </p:nvSpPr>
        <p:spPr>
          <a:xfrm>
            <a:off x="917463" y="607266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CCB580-A5D2-0299-A13D-6D3F5728396B}"/>
              </a:ext>
            </a:extLst>
          </p:cNvPr>
          <p:cNvSpPr/>
          <p:nvPr/>
        </p:nvSpPr>
        <p:spPr>
          <a:xfrm>
            <a:off x="8747872" y="6072666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32C4C2-F694-765A-D7AC-EACB51C628F2}"/>
              </a:ext>
            </a:extLst>
          </p:cNvPr>
          <p:cNvSpPr/>
          <p:nvPr/>
        </p:nvSpPr>
        <p:spPr>
          <a:xfrm>
            <a:off x="9474914" y="6060371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C89917-AEB4-69CB-2382-1042282919FB}"/>
              </a:ext>
            </a:extLst>
          </p:cNvPr>
          <p:cNvSpPr/>
          <p:nvPr/>
        </p:nvSpPr>
        <p:spPr>
          <a:xfrm>
            <a:off x="1355975" y="6506546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Glu           Cys</a:t>
            </a:r>
            <a:endParaRPr lang="en-US" sz="2400" b="1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C75BA53-44F4-787B-4478-A6892DB17740}"/>
              </a:ext>
            </a:extLst>
          </p:cNvPr>
          <p:cNvSpPr/>
          <p:nvPr/>
        </p:nvSpPr>
        <p:spPr>
          <a:xfrm rot="5400000" flipH="1">
            <a:off x="2955803" y="6840943"/>
            <a:ext cx="777840" cy="853372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4E3B8BF-B9B2-2E03-BC91-D1411DCD0D3C}"/>
              </a:ext>
            </a:extLst>
          </p:cNvPr>
          <p:cNvSpPr/>
          <p:nvPr/>
        </p:nvSpPr>
        <p:spPr>
          <a:xfrm>
            <a:off x="10858" y="6843166"/>
            <a:ext cx="2918037" cy="777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“Basa </a:t>
            </a:r>
            <a:r>
              <a:rPr lang="en-US" b="1" dirty="0" err="1"/>
              <a:t>berubah</a:t>
            </a:r>
            <a:r>
              <a:rPr lang="en-US" b="1" dirty="0"/>
              <a:t>, </a:t>
            </a:r>
            <a:r>
              <a:rPr lang="en-US" b="1" dirty="0" err="1"/>
              <a:t>asam</a:t>
            </a:r>
            <a:r>
              <a:rPr lang="en-US" b="1" dirty="0"/>
              <a:t> amino </a:t>
            </a:r>
            <a:r>
              <a:rPr lang="en-US" b="1" dirty="0" err="1"/>
              <a:t>tetap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886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B605-E3E4-4873-FED1-55873DC44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99443-B797-5E3C-E675-191A166F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</a:t>
            </a:r>
            <a:r>
              <a:rPr lang="it-IT" sz="2800" b="1" dirty="0">
                <a:solidFill>
                  <a:srgbClr val="FF0000"/>
                </a:solidFill>
              </a:rPr>
              <a:t>SILENT MUTATION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954C5-88BC-8E63-778E-B71AB38A8081}"/>
              </a:ext>
            </a:extLst>
          </p:cNvPr>
          <p:cNvSpPr/>
          <p:nvPr/>
        </p:nvSpPr>
        <p:spPr>
          <a:xfrm>
            <a:off x="1069976" y="1808113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NOTES: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06B8D1-FAEF-8815-79B6-0CE45F55C4D9}"/>
              </a:ext>
            </a:extLst>
          </p:cNvPr>
          <p:cNvSpPr/>
          <p:nvPr/>
        </p:nvSpPr>
        <p:spPr>
          <a:xfrm>
            <a:off x="1050185" y="2305373"/>
            <a:ext cx="847990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Perubahan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AGU </a:t>
            </a:r>
            <a:r>
              <a:rPr lang="en-US" sz="4000" dirty="0" err="1"/>
              <a:t>menjadi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AGC </a:t>
            </a:r>
            <a:r>
              <a:rPr lang="en-US" sz="4000" dirty="0" err="1"/>
              <a:t>tetap</a:t>
            </a:r>
            <a:r>
              <a:rPr lang="en-US" sz="4000" dirty="0"/>
              <a:t> </a:t>
            </a:r>
            <a:r>
              <a:rPr lang="en-US" sz="4000" dirty="0" err="1"/>
              <a:t>menghasilkan</a:t>
            </a:r>
            <a:r>
              <a:rPr lang="en-US" sz="4000" dirty="0"/>
              <a:t> </a:t>
            </a:r>
            <a:r>
              <a:rPr lang="en-US" sz="4000" dirty="0" err="1"/>
              <a:t>asam</a:t>
            </a:r>
            <a:r>
              <a:rPr lang="en-US" sz="4000" dirty="0"/>
              <a:t> amino yang </a:t>
            </a:r>
            <a:r>
              <a:rPr lang="en-US" sz="4000" dirty="0" err="1"/>
              <a:t>sama</a:t>
            </a:r>
            <a:r>
              <a:rPr lang="en-US" sz="4000" dirty="0"/>
              <a:t> </a:t>
            </a:r>
            <a:r>
              <a:rPr lang="en-US" sz="4000" dirty="0" err="1"/>
              <a:t>yaitu</a:t>
            </a:r>
            <a:r>
              <a:rPr lang="en-US" sz="4000" dirty="0"/>
              <a:t> Serin.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Sehingga</a:t>
            </a:r>
            <a:r>
              <a:rPr lang="en-US" sz="4000" dirty="0"/>
              <a:t> </a:t>
            </a:r>
            <a:r>
              <a:rPr lang="en-US" sz="4000" dirty="0" err="1"/>
              <a:t>kondisi</a:t>
            </a:r>
            <a:r>
              <a:rPr lang="en-US" sz="4000" dirty="0"/>
              <a:t>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merupakan</a:t>
            </a:r>
            <a:r>
              <a:rPr lang="en-US" sz="4000" dirty="0"/>
              <a:t> Silent Mutation. </a:t>
            </a:r>
          </a:p>
        </p:txBody>
      </p:sp>
    </p:spTree>
    <p:extLst>
      <p:ext uri="{BB962C8B-B14F-4D97-AF65-F5344CB8AC3E}">
        <p14:creationId xmlns:p14="http://schemas.microsoft.com/office/powerpoint/2010/main" val="1389935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51B4-E021-E3BF-567F-753317D2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A8D3-51E2-C13D-F9F6-163C3AAE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</a:t>
            </a:r>
            <a:r>
              <a:rPr lang="it-IT" sz="2800" b="1" dirty="0">
                <a:solidFill>
                  <a:srgbClr val="FF0000"/>
                </a:solidFill>
              </a:rPr>
              <a:t> MISSENSE MUTATION 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05E54613-1E14-BFF5-3EC4-DCFE648A62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84B9B1-281D-3EE6-BD9B-056F43841245}"/>
              </a:ext>
            </a:extLst>
          </p:cNvPr>
          <p:cNvCxnSpPr>
            <a:cxnSpLocks/>
          </p:cNvCxnSpPr>
          <p:nvPr/>
        </p:nvCxnSpPr>
        <p:spPr>
          <a:xfrm>
            <a:off x="1502254" y="2804758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2DDBC90-9994-B611-0B8B-EB7412490C97}"/>
              </a:ext>
            </a:extLst>
          </p:cNvPr>
          <p:cNvSpPr/>
          <p:nvPr/>
        </p:nvSpPr>
        <p:spPr>
          <a:xfrm>
            <a:off x="9174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285DC94-5B67-B93A-60CA-259A2C47CBF7}"/>
              </a:ext>
            </a:extLst>
          </p:cNvPr>
          <p:cNvSpPr/>
          <p:nvPr/>
        </p:nvSpPr>
        <p:spPr>
          <a:xfrm>
            <a:off x="88633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D5802C-18BA-F434-218A-EDE361B17AE3}"/>
              </a:ext>
            </a:extLst>
          </p:cNvPr>
          <p:cNvSpPr/>
          <p:nvPr/>
        </p:nvSpPr>
        <p:spPr>
          <a:xfrm>
            <a:off x="9664757" y="2504231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5998A6-BE20-E8F0-6E47-09F9057711B5}"/>
              </a:ext>
            </a:extLst>
          </p:cNvPr>
          <p:cNvSpPr/>
          <p:nvPr/>
        </p:nvSpPr>
        <p:spPr>
          <a:xfrm>
            <a:off x="1502254" y="2958458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AGU              GAG            UGU</a:t>
            </a:r>
            <a:endParaRPr lang="en-US" sz="24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7696A7-4DB8-F783-FF09-36E581D443E4}"/>
              </a:ext>
            </a:extLst>
          </p:cNvPr>
          <p:cNvCxnSpPr>
            <a:cxnSpLocks/>
          </p:cNvCxnSpPr>
          <p:nvPr/>
        </p:nvCxnSpPr>
        <p:spPr>
          <a:xfrm>
            <a:off x="1469877" y="3933825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13A0EB04-1525-2BF2-4E6A-1C6EAE6D8B46}"/>
              </a:ext>
            </a:extLst>
          </p:cNvPr>
          <p:cNvSpPr/>
          <p:nvPr/>
        </p:nvSpPr>
        <p:spPr>
          <a:xfrm>
            <a:off x="917463" y="3561663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9A16498-CF81-5068-C534-2C481735CFC2}"/>
              </a:ext>
            </a:extLst>
          </p:cNvPr>
          <p:cNvSpPr/>
          <p:nvPr/>
        </p:nvSpPr>
        <p:spPr>
          <a:xfrm>
            <a:off x="8747872" y="3561662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792326-0F4D-E669-0131-FF1F1161A4E5}"/>
              </a:ext>
            </a:extLst>
          </p:cNvPr>
          <p:cNvSpPr/>
          <p:nvPr/>
        </p:nvSpPr>
        <p:spPr>
          <a:xfrm>
            <a:off x="9569836" y="3591759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2746A2-783A-9413-C96D-D2199EFEB955}"/>
              </a:ext>
            </a:extLst>
          </p:cNvPr>
          <p:cNvSpPr/>
          <p:nvPr/>
        </p:nvSpPr>
        <p:spPr>
          <a:xfrm>
            <a:off x="1617663" y="4044420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Glutamic   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Cystein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228C4E-2C29-667E-A448-FAA83BF09419}"/>
              </a:ext>
            </a:extLst>
          </p:cNvPr>
          <p:cNvSpPr/>
          <p:nvPr/>
        </p:nvSpPr>
        <p:spPr>
          <a:xfrm>
            <a:off x="1069976" y="1622032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ORIGINAL DNA</a:t>
            </a:r>
            <a:r>
              <a:rPr lang="en-US" dirty="0"/>
              <a:t>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4DF979-8DC3-6EA4-B167-209174AD6D7E}"/>
              </a:ext>
            </a:extLst>
          </p:cNvPr>
          <p:cNvSpPr/>
          <p:nvPr/>
        </p:nvSpPr>
        <p:spPr>
          <a:xfrm>
            <a:off x="741164" y="4645546"/>
            <a:ext cx="6895311" cy="375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MUTATION DNA: </a:t>
            </a:r>
            <a:r>
              <a:rPr lang="en-US" b="1" dirty="0" err="1"/>
              <a:t>Pergantian</a:t>
            </a:r>
            <a:r>
              <a:rPr lang="en-US" b="1" dirty="0"/>
              <a:t> </a:t>
            </a:r>
            <a:r>
              <a:rPr lang="en-US" b="1" dirty="0" err="1"/>
              <a:t>basa</a:t>
            </a:r>
            <a:r>
              <a:rPr lang="en-US" b="1" dirty="0"/>
              <a:t> AGU </a:t>
            </a:r>
            <a:r>
              <a:rPr lang="en-US" b="1" dirty="0" err="1"/>
              <a:t>menjadi</a:t>
            </a:r>
            <a:r>
              <a:rPr lang="en-US" b="1" dirty="0"/>
              <a:t> AGA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9D7551-F7D2-4681-5CDF-642BAFBF6082}"/>
              </a:ext>
            </a:extLst>
          </p:cNvPr>
          <p:cNvCxnSpPr>
            <a:cxnSpLocks/>
          </p:cNvCxnSpPr>
          <p:nvPr/>
        </p:nvCxnSpPr>
        <p:spPr>
          <a:xfrm>
            <a:off x="1469877" y="5647390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22D2B46B-D698-1BDD-5618-7DC7853A991C}"/>
              </a:ext>
            </a:extLst>
          </p:cNvPr>
          <p:cNvSpPr/>
          <p:nvPr/>
        </p:nvSpPr>
        <p:spPr>
          <a:xfrm>
            <a:off x="8850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FE11A8A-21CD-542D-01A9-D3B6542E09F3}"/>
              </a:ext>
            </a:extLst>
          </p:cNvPr>
          <p:cNvSpPr/>
          <p:nvPr/>
        </p:nvSpPr>
        <p:spPr>
          <a:xfrm>
            <a:off x="88309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F09D15-C5A9-5682-F493-7B1153E72B73}"/>
              </a:ext>
            </a:extLst>
          </p:cNvPr>
          <p:cNvSpPr/>
          <p:nvPr/>
        </p:nvSpPr>
        <p:spPr>
          <a:xfrm>
            <a:off x="1502253" y="5799789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GAG            UGU</a:t>
            </a:r>
            <a:endParaRPr lang="en-US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F75FFED-746D-07FD-F773-D1C73D826884}"/>
              </a:ext>
            </a:extLst>
          </p:cNvPr>
          <p:cNvSpPr/>
          <p:nvPr/>
        </p:nvSpPr>
        <p:spPr>
          <a:xfrm>
            <a:off x="9569836" y="5280190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44079EC-C536-BA56-0E5A-495E77B3F3E2}"/>
              </a:ext>
            </a:extLst>
          </p:cNvPr>
          <p:cNvCxnSpPr>
            <a:cxnSpLocks/>
          </p:cNvCxnSpPr>
          <p:nvPr/>
        </p:nvCxnSpPr>
        <p:spPr>
          <a:xfrm>
            <a:off x="1469877" y="6444829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3661A1B8-E53D-6FDD-758F-C7943AB6AB17}"/>
              </a:ext>
            </a:extLst>
          </p:cNvPr>
          <p:cNvSpPr/>
          <p:nvPr/>
        </p:nvSpPr>
        <p:spPr>
          <a:xfrm>
            <a:off x="917463" y="607266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9D356-2B1C-4344-9708-7478A02834C5}"/>
              </a:ext>
            </a:extLst>
          </p:cNvPr>
          <p:cNvSpPr/>
          <p:nvPr/>
        </p:nvSpPr>
        <p:spPr>
          <a:xfrm>
            <a:off x="8747872" y="6072666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CF9062-C5B1-68FE-D909-A42C7681AA2C}"/>
              </a:ext>
            </a:extLst>
          </p:cNvPr>
          <p:cNvSpPr/>
          <p:nvPr/>
        </p:nvSpPr>
        <p:spPr>
          <a:xfrm>
            <a:off x="9474914" y="6060371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5AE0F0C-D6F2-8FE4-D9C3-EF63F51192AD}"/>
              </a:ext>
            </a:extLst>
          </p:cNvPr>
          <p:cNvSpPr/>
          <p:nvPr/>
        </p:nvSpPr>
        <p:spPr>
          <a:xfrm>
            <a:off x="1355975" y="6506546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Arginin</a:t>
            </a:r>
            <a:r>
              <a:rPr lang="en-US" sz="2400" b="1" dirty="0">
                <a:solidFill>
                  <a:schemeClr val="tx2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Glu           Cys</a:t>
            </a:r>
            <a:endParaRPr lang="en-US" sz="2400" b="1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28D3682-DF2C-7FA5-9894-C7616AC50438}"/>
              </a:ext>
            </a:extLst>
          </p:cNvPr>
          <p:cNvSpPr/>
          <p:nvPr/>
        </p:nvSpPr>
        <p:spPr>
          <a:xfrm rot="5400000" flipH="1">
            <a:off x="2955803" y="6840943"/>
            <a:ext cx="777840" cy="853372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21FB7F4-219B-597D-8B20-5497A1DC801F}"/>
              </a:ext>
            </a:extLst>
          </p:cNvPr>
          <p:cNvSpPr/>
          <p:nvPr/>
        </p:nvSpPr>
        <p:spPr>
          <a:xfrm>
            <a:off x="10858" y="6843166"/>
            <a:ext cx="2918037" cy="777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“Basa </a:t>
            </a:r>
            <a:r>
              <a:rPr lang="en-US" b="1" dirty="0" err="1"/>
              <a:t>berubah</a:t>
            </a:r>
            <a:r>
              <a:rPr lang="en-US" b="1" dirty="0"/>
              <a:t>, </a:t>
            </a:r>
            <a:r>
              <a:rPr lang="en-US" b="1" dirty="0" err="1"/>
              <a:t>asam</a:t>
            </a:r>
            <a:r>
              <a:rPr lang="en-US" b="1" dirty="0"/>
              <a:t> amino </a:t>
            </a:r>
            <a:r>
              <a:rPr lang="en-US" b="1" dirty="0" err="1"/>
              <a:t>berubah</a:t>
            </a:r>
            <a:r>
              <a:rPr lang="en-US" b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7960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D2B34-A804-3203-4873-315F91EB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E48F-2746-CE25-94E1-777606F9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</a:t>
            </a:r>
            <a:r>
              <a:rPr lang="it-IT" sz="2800" b="1" dirty="0">
                <a:solidFill>
                  <a:srgbClr val="FF0000"/>
                </a:solidFill>
              </a:rPr>
              <a:t>MISSENSE MUTATION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52AEAC-BE26-E41A-B274-49725D881B1E}"/>
              </a:ext>
            </a:extLst>
          </p:cNvPr>
          <p:cNvSpPr/>
          <p:nvPr/>
        </p:nvSpPr>
        <p:spPr>
          <a:xfrm>
            <a:off x="1069976" y="1808113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NOTES: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E429FD-489A-32E8-8D6B-D6511D967EA0}"/>
              </a:ext>
            </a:extLst>
          </p:cNvPr>
          <p:cNvSpPr/>
          <p:nvPr/>
        </p:nvSpPr>
        <p:spPr>
          <a:xfrm>
            <a:off x="926617" y="2428065"/>
            <a:ext cx="847990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Perubahan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AGU </a:t>
            </a:r>
            <a:r>
              <a:rPr lang="en-US" sz="4000" dirty="0" err="1"/>
              <a:t>menjadi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AGA </a:t>
            </a:r>
            <a:r>
              <a:rPr lang="en-US" sz="4000" dirty="0" err="1"/>
              <a:t>menghasilkan</a:t>
            </a:r>
            <a:r>
              <a:rPr lang="en-US" sz="4000" dirty="0"/>
              <a:t> </a:t>
            </a:r>
            <a:r>
              <a:rPr lang="en-US" sz="4000" dirty="0" err="1"/>
              <a:t>asam</a:t>
            </a:r>
            <a:r>
              <a:rPr lang="en-US" sz="4000" dirty="0"/>
              <a:t> amino yang </a:t>
            </a:r>
            <a:r>
              <a:rPr lang="en-US" sz="4000" dirty="0" err="1"/>
              <a:t>berbeda</a:t>
            </a:r>
            <a:endParaRPr lang="en-US" sz="4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Sehingga</a:t>
            </a:r>
            <a:r>
              <a:rPr lang="en-US" sz="4000" dirty="0"/>
              <a:t> </a:t>
            </a:r>
            <a:r>
              <a:rPr lang="en-US" sz="4000" dirty="0" err="1"/>
              <a:t>kondisi</a:t>
            </a:r>
            <a:r>
              <a:rPr lang="en-US" sz="4000" dirty="0"/>
              <a:t>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merupakan</a:t>
            </a:r>
            <a:r>
              <a:rPr lang="en-US" sz="4000" dirty="0"/>
              <a:t> Missense Mutation. </a:t>
            </a:r>
          </a:p>
        </p:txBody>
      </p:sp>
    </p:spTree>
    <p:extLst>
      <p:ext uri="{BB962C8B-B14F-4D97-AF65-F5344CB8AC3E}">
        <p14:creationId xmlns:p14="http://schemas.microsoft.com/office/powerpoint/2010/main" val="336042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9167E-EB54-1AE1-B10A-83B7F284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ECEDD-A09A-1BA1-AA82-FF85668F9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 </a:t>
            </a:r>
            <a:r>
              <a:rPr lang="it-IT" sz="2800" b="1" dirty="0">
                <a:solidFill>
                  <a:srgbClr val="C0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</a:rPr>
              <a:t>NONSENSE</a:t>
            </a:r>
            <a:r>
              <a:rPr lang="it-IT" sz="2800" b="1" dirty="0">
                <a:solidFill>
                  <a:srgbClr val="C0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</a:rPr>
              <a:t>MUTATION </a:t>
            </a: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B8BAE4C9-0A7F-EF26-E221-F832343643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43525" y="37814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HK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A5A720-1F2E-0116-CB78-B7295DC365AD}"/>
              </a:ext>
            </a:extLst>
          </p:cNvPr>
          <p:cNvCxnSpPr>
            <a:cxnSpLocks/>
          </p:cNvCxnSpPr>
          <p:nvPr/>
        </p:nvCxnSpPr>
        <p:spPr>
          <a:xfrm>
            <a:off x="1502254" y="2804758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404EA2E-CDA6-824B-F79F-1030F93ED5F2}"/>
              </a:ext>
            </a:extLst>
          </p:cNvPr>
          <p:cNvSpPr/>
          <p:nvPr/>
        </p:nvSpPr>
        <p:spPr>
          <a:xfrm>
            <a:off x="9174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734C98-F78C-2D1D-43C8-CC1DE79C11D6}"/>
              </a:ext>
            </a:extLst>
          </p:cNvPr>
          <p:cNvSpPr/>
          <p:nvPr/>
        </p:nvSpPr>
        <p:spPr>
          <a:xfrm>
            <a:off x="8863363" y="237088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C71CEE-3152-56A5-BEA0-AD71A5B3BCA5}"/>
              </a:ext>
            </a:extLst>
          </p:cNvPr>
          <p:cNvSpPr/>
          <p:nvPr/>
        </p:nvSpPr>
        <p:spPr>
          <a:xfrm>
            <a:off x="9664757" y="2504231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257464-B0A4-6CB6-C1FD-94790CADF53E}"/>
              </a:ext>
            </a:extLst>
          </p:cNvPr>
          <p:cNvSpPr/>
          <p:nvPr/>
        </p:nvSpPr>
        <p:spPr>
          <a:xfrm>
            <a:off x="1502254" y="2958458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AGU              GAG            UGU</a:t>
            </a:r>
            <a:endParaRPr lang="en-US" sz="2400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0837B55-7870-5C12-9132-F53F46A2F03E}"/>
              </a:ext>
            </a:extLst>
          </p:cNvPr>
          <p:cNvCxnSpPr>
            <a:cxnSpLocks/>
          </p:cNvCxnSpPr>
          <p:nvPr/>
        </p:nvCxnSpPr>
        <p:spPr>
          <a:xfrm>
            <a:off x="1469877" y="3933825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9D04BC77-6889-5BD5-F0BC-1EAC293A2CF8}"/>
              </a:ext>
            </a:extLst>
          </p:cNvPr>
          <p:cNvSpPr/>
          <p:nvPr/>
        </p:nvSpPr>
        <p:spPr>
          <a:xfrm>
            <a:off x="917463" y="3561663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920367-796C-9094-EF5F-F002F24CC10B}"/>
              </a:ext>
            </a:extLst>
          </p:cNvPr>
          <p:cNvSpPr/>
          <p:nvPr/>
        </p:nvSpPr>
        <p:spPr>
          <a:xfrm>
            <a:off x="8747872" y="3561662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DAD48D-96A6-D494-C2FF-11AC930F28E4}"/>
              </a:ext>
            </a:extLst>
          </p:cNvPr>
          <p:cNvSpPr/>
          <p:nvPr/>
        </p:nvSpPr>
        <p:spPr>
          <a:xfrm>
            <a:off x="9569836" y="3591759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BB945F-E4FF-F514-60A9-ADF5DDFF1A63}"/>
              </a:ext>
            </a:extLst>
          </p:cNvPr>
          <p:cNvSpPr/>
          <p:nvPr/>
        </p:nvSpPr>
        <p:spPr>
          <a:xfrm>
            <a:off x="1617663" y="4044420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Glutamic          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Cystein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48191C-06B9-792E-32A4-2FFB2A2A25A1}"/>
              </a:ext>
            </a:extLst>
          </p:cNvPr>
          <p:cNvSpPr/>
          <p:nvPr/>
        </p:nvSpPr>
        <p:spPr>
          <a:xfrm>
            <a:off x="1069976" y="1622032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ORIGINAL DNA</a:t>
            </a:r>
            <a:r>
              <a:rPr lang="en-US" dirty="0"/>
              <a:t>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737D4C-2720-ACF1-BA74-33C98BF1DF9C}"/>
              </a:ext>
            </a:extLst>
          </p:cNvPr>
          <p:cNvSpPr/>
          <p:nvPr/>
        </p:nvSpPr>
        <p:spPr>
          <a:xfrm>
            <a:off x="741164" y="4645546"/>
            <a:ext cx="6895311" cy="375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MUTATION DNA: </a:t>
            </a:r>
            <a:r>
              <a:rPr lang="en-US" b="1" dirty="0" err="1"/>
              <a:t>Pergantian</a:t>
            </a:r>
            <a:r>
              <a:rPr lang="en-US" b="1" dirty="0"/>
              <a:t> </a:t>
            </a:r>
            <a:r>
              <a:rPr lang="en-US" b="1" dirty="0" err="1"/>
              <a:t>basa</a:t>
            </a:r>
            <a:r>
              <a:rPr lang="en-US" b="1" dirty="0"/>
              <a:t> UGU </a:t>
            </a:r>
            <a:r>
              <a:rPr lang="en-US" b="1" dirty="0" err="1"/>
              <a:t>menjadi</a:t>
            </a:r>
            <a:r>
              <a:rPr lang="en-US" b="1" dirty="0"/>
              <a:t> UGA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4EEE41-4A81-9FD0-CA30-0C2DED6B188D}"/>
              </a:ext>
            </a:extLst>
          </p:cNvPr>
          <p:cNvCxnSpPr>
            <a:cxnSpLocks/>
          </p:cNvCxnSpPr>
          <p:nvPr/>
        </p:nvCxnSpPr>
        <p:spPr>
          <a:xfrm>
            <a:off x="1469877" y="5647390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03C4C649-EC3E-D2DF-3DE3-860CB5F4976C}"/>
              </a:ext>
            </a:extLst>
          </p:cNvPr>
          <p:cNvSpPr/>
          <p:nvPr/>
        </p:nvSpPr>
        <p:spPr>
          <a:xfrm>
            <a:off x="8850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5881543-A63A-F370-BA7A-9882BC6BDA00}"/>
              </a:ext>
            </a:extLst>
          </p:cNvPr>
          <p:cNvSpPr/>
          <p:nvPr/>
        </p:nvSpPr>
        <p:spPr>
          <a:xfrm>
            <a:off x="8830986" y="5213519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A1D04F-EDD6-9D42-0AA6-F0534CACF38D}"/>
              </a:ext>
            </a:extLst>
          </p:cNvPr>
          <p:cNvSpPr/>
          <p:nvPr/>
        </p:nvSpPr>
        <p:spPr>
          <a:xfrm>
            <a:off x="1502253" y="5799789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GAG            UGA</a:t>
            </a:r>
            <a:endParaRPr lang="en-US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49F634-A08F-CBC7-1DD7-0A206A121024}"/>
              </a:ext>
            </a:extLst>
          </p:cNvPr>
          <p:cNvSpPr/>
          <p:nvPr/>
        </p:nvSpPr>
        <p:spPr>
          <a:xfrm>
            <a:off x="9569836" y="5280190"/>
            <a:ext cx="1034955" cy="55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KODON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0E507E-ED1E-CE2C-2A68-041F33054AEB}"/>
              </a:ext>
            </a:extLst>
          </p:cNvPr>
          <p:cNvCxnSpPr>
            <a:cxnSpLocks/>
          </p:cNvCxnSpPr>
          <p:nvPr/>
        </p:nvCxnSpPr>
        <p:spPr>
          <a:xfrm>
            <a:off x="1469877" y="6444829"/>
            <a:ext cx="7393486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E4FB4FF-797F-F141-F755-15643A792F70}"/>
              </a:ext>
            </a:extLst>
          </p:cNvPr>
          <p:cNvSpPr/>
          <p:nvPr/>
        </p:nvSpPr>
        <p:spPr>
          <a:xfrm>
            <a:off x="917463" y="6072667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5’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1D9130-018A-1852-02C1-5AC6EACD9528}"/>
              </a:ext>
            </a:extLst>
          </p:cNvPr>
          <p:cNvSpPr/>
          <p:nvPr/>
        </p:nvSpPr>
        <p:spPr>
          <a:xfrm>
            <a:off x="8747872" y="6072666"/>
            <a:ext cx="584791" cy="69000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3’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AB7FFC-36CB-73F2-0F96-42B6EFAFA393}"/>
              </a:ext>
            </a:extLst>
          </p:cNvPr>
          <p:cNvSpPr/>
          <p:nvPr/>
        </p:nvSpPr>
        <p:spPr>
          <a:xfrm>
            <a:off x="9474914" y="6060371"/>
            <a:ext cx="1224798" cy="74432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ASAM AMINO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9D8E42-C5E1-FEFE-601A-86307C822DBE}"/>
              </a:ext>
            </a:extLst>
          </p:cNvPr>
          <p:cNvSpPr/>
          <p:nvPr/>
        </p:nvSpPr>
        <p:spPr>
          <a:xfrm>
            <a:off x="1469876" y="6542116"/>
            <a:ext cx="7014799" cy="29166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Glu           </a:t>
            </a: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057398D-6ADD-323B-46A8-112AD534D965}"/>
              </a:ext>
            </a:extLst>
          </p:cNvPr>
          <p:cNvSpPr/>
          <p:nvPr/>
        </p:nvSpPr>
        <p:spPr>
          <a:xfrm rot="5400000" flipH="1">
            <a:off x="2955803" y="6840943"/>
            <a:ext cx="777840" cy="853372"/>
          </a:xfrm>
          <a:prstGeom prst="right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ACF5E0B-D9F5-322D-5884-FB8789BF74D8}"/>
              </a:ext>
            </a:extLst>
          </p:cNvPr>
          <p:cNvSpPr/>
          <p:nvPr/>
        </p:nvSpPr>
        <p:spPr>
          <a:xfrm>
            <a:off x="10858" y="6843166"/>
            <a:ext cx="2918037" cy="77784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“</a:t>
            </a:r>
            <a:r>
              <a:rPr lang="en-US" b="1" dirty="0" err="1"/>
              <a:t>Translasi</a:t>
            </a:r>
            <a:r>
              <a:rPr lang="en-US" b="1" dirty="0"/>
              <a:t> </a:t>
            </a:r>
            <a:r>
              <a:rPr lang="en-US" b="1" dirty="0" err="1"/>
              <a:t>Berhenti</a:t>
            </a:r>
            <a:r>
              <a:rPr lang="en-US" b="1" dirty="0"/>
              <a:t> </a:t>
            </a:r>
            <a:r>
              <a:rPr lang="en-US" b="1" dirty="0" err="1"/>
              <a:t>karena</a:t>
            </a:r>
            <a:r>
              <a:rPr lang="en-US" b="1" dirty="0"/>
              <a:t> </a:t>
            </a:r>
            <a:r>
              <a:rPr lang="en-US" b="1" dirty="0" err="1"/>
              <a:t>ada</a:t>
            </a:r>
            <a:r>
              <a:rPr lang="en-US" b="1" dirty="0"/>
              <a:t> STOP codon”</a:t>
            </a:r>
          </a:p>
        </p:txBody>
      </p:sp>
    </p:spTree>
    <p:extLst>
      <p:ext uri="{BB962C8B-B14F-4D97-AF65-F5344CB8AC3E}">
        <p14:creationId xmlns:p14="http://schemas.microsoft.com/office/powerpoint/2010/main" val="4268628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567E9-5604-3ED3-896D-47F9DC68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E51ED88-C111-6817-66EE-3EC34FC12375}"/>
              </a:ext>
            </a:extLst>
          </p:cNvPr>
          <p:cNvSpPr/>
          <p:nvPr/>
        </p:nvSpPr>
        <p:spPr>
          <a:xfrm>
            <a:off x="1069976" y="1840224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NOTES: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C54AC3-EAEE-2352-2442-6B459BA0BAAC}"/>
              </a:ext>
            </a:extLst>
          </p:cNvPr>
          <p:cNvSpPr/>
          <p:nvPr/>
        </p:nvSpPr>
        <p:spPr>
          <a:xfrm>
            <a:off x="1069976" y="2186740"/>
            <a:ext cx="847990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 err="1"/>
              <a:t>Pergantian</a:t>
            </a:r>
            <a:r>
              <a:rPr lang="en-US" sz="3200" dirty="0"/>
              <a:t> </a:t>
            </a:r>
            <a:r>
              <a:rPr lang="en-US" sz="3200" dirty="0" err="1"/>
              <a:t>basa</a:t>
            </a:r>
            <a:r>
              <a:rPr lang="en-US" sz="3200" dirty="0"/>
              <a:t> UGU </a:t>
            </a:r>
            <a:r>
              <a:rPr lang="en-US" sz="3200" dirty="0" err="1"/>
              <a:t>menjadi</a:t>
            </a:r>
            <a:r>
              <a:rPr lang="en-US" sz="3200" dirty="0"/>
              <a:t> </a:t>
            </a:r>
            <a:r>
              <a:rPr lang="en-US" sz="3200" dirty="0" err="1"/>
              <a:t>basa</a:t>
            </a:r>
            <a:r>
              <a:rPr lang="en-US" sz="3200" dirty="0"/>
              <a:t> UGA. Karena UGA </a:t>
            </a:r>
            <a:r>
              <a:rPr lang="en-US" sz="3200" dirty="0" err="1"/>
              <a:t>merupakan</a:t>
            </a:r>
            <a:r>
              <a:rPr lang="en-US" sz="3200" dirty="0"/>
              <a:t> </a:t>
            </a:r>
            <a:r>
              <a:rPr lang="en-US" sz="3200" dirty="0" err="1"/>
              <a:t>basa</a:t>
            </a:r>
            <a:r>
              <a:rPr lang="en-US" sz="3200" dirty="0"/>
              <a:t> STOP codon.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 err="1"/>
              <a:t>Translasi</a:t>
            </a:r>
            <a:r>
              <a:rPr lang="en-US" sz="3200" dirty="0"/>
              <a:t> </a:t>
            </a:r>
            <a:r>
              <a:rPr lang="en-US" sz="3200" dirty="0" err="1"/>
              <a:t>berhenti</a:t>
            </a:r>
            <a:r>
              <a:rPr lang="en-US" sz="3200" dirty="0"/>
              <a:t> </a:t>
            </a:r>
            <a:r>
              <a:rPr lang="en-US" sz="3200" dirty="0" err="1"/>
              <a:t>sebelum</a:t>
            </a:r>
            <a:r>
              <a:rPr lang="en-US" sz="3200" dirty="0"/>
              <a:t> </a:t>
            </a:r>
            <a:r>
              <a:rPr lang="en-US" sz="3200" dirty="0" err="1"/>
              <a:t>waktunya</a:t>
            </a:r>
            <a:r>
              <a:rPr lang="en-US" sz="3200" dirty="0"/>
              <a:t> </a:t>
            </a: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rantai</a:t>
            </a:r>
            <a:r>
              <a:rPr lang="en-US" sz="3200" dirty="0"/>
              <a:t> </a:t>
            </a:r>
            <a:r>
              <a:rPr lang="en-US" sz="3200" dirty="0" err="1"/>
              <a:t>polipeptida</a:t>
            </a:r>
            <a:r>
              <a:rPr lang="en-US" sz="3200" dirty="0"/>
              <a:t> </a:t>
            </a:r>
            <a:r>
              <a:rPr lang="en-US" sz="3200" dirty="0" err="1"/>
              <a:t>lebih</a:t>
            </a:r>
            <a:r>
              <a:rPr lang="en-US" sz="3200" dirty="0"/>
              <a:t> </a:t>
            </a:r>
            <a:r>
              <a:rPr lang="en-US" sz="3200" dirty="0" err="1"/>
              <a:t>pendek</a:t>
            </a:r>
            <a:r>
              <a:rPr lang="en-US" sz="32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3200" dirty="0" err="1"/>
              <a:t>Sehingga</a:t>
            </a:r>
            <a:r>
              <a:rPr lang="en-US" sz="3200" dirty="0"/>
              <a:t> </a:t>
            </a:r>
            <a:r>
              <a:rPr lang="en-US" sz="3200" dirty="0" err="1"/>
              <a:t>kondisi</a:t>
            </a:r>
            <a:r>
              <a:rPr lang="en-US" sz="3200" dirty="0"/>
              <a:t> </a:t>
            </a:r>
            <a:r>
              <a:rPr lang="en-US" sz="3200" dirty="0" err="1"/>
              <a:t>ini</a:t>
            </a:r>
            <a:r>
              <a:rPr lang="en-US" sz="3200" dirty="0"/>
              <a:t> </a:t>
            </a:r>
            <a:r>
              <a:rPr lang="en-US" sz="3200" dirty="0" err="1"/>
              <a:t>merupakan</a:t>
            </a:r>
            <a:r>
              <a:rPr lang="en-US" sz="3200" dirty="0"/>
              <a:t> Nonsense Mutation.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4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FC12DF-28B8-D5DE-DD18-6945D3281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976" y="918297"/>
            <a:ext cx="9618662" cy="642026"/>
          </a:xfrm>
        </p:spPr>
        <p:txBody>
          <a:bodyPr/>
          <a:lstStyle/>
          <a:p>
            <a:r>
              <a:rPr lang="it-IT" sz="2800" b="1" dirty="0"/>
              <a:t>Contoh Soal:  </a:t>
            </a:r>
            <a:r>
              <a:rPr lang="it-IT" sz="2800" b="1" dirty="0">
                <a:solidFill>
                  <a:srgbClr val="C0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</a:rPr>
              <a:t>NONSENSE</a:t>
            </a:r>
            <a:r>
              <a:rPr lang="it-IT" sz="2800" b="1" dirty="0">
                <a:solidFill>
                  <a:srgbClr val="C0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</a:rPr>
              <a:t>MUTATION </a:t>
            </a:r>
          </a:p>
        </p:txBody>
      </p:sp>
    </p:spTree>
    <p:extLst>
      <p:ext uri="{BB962C8B-B14F-4D97-AF65-F5344CB8AC3E}">
        <p14:creationId xmlns:p14="http://schemas.microsoft.com/office/powerpoint/2010/main" val="1135471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81CED-D3C9-5DC8-D32E-7B0C83687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F12DA27-10AB-FA35-79B8-C0E2E8A1674C}"/>
              </a:ext>
            </a:extLst>
          </p:cNvPr>
          <p:cNvSpPr/>
          <p:nvPr/>
        </p:nvSpPr>
        <p:spPr>
          <a:xfrm>
            <a:off x="1069976" y="1808113"/>
            <a:ext cx="2274747" cy="37216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NOTES: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AD20AF-A966-A8CB-DA29-813C40A46EFA}"/>
              </a:ext>
            </a:extLst>
          </p:cNvPr>
          <p:cNvSpPr/>
          <p:nvPr/>
        </p:nvSpPr>
        <p:spPr>
          <a:xfrm>
            <a:off x="926617" y="2428065"/>
            <a:ext cx="847990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Perubahan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AGU </a:t>
            </a:r>
            <a:r>
              <a:rPr lang="en-US" sz="4000" dirty="0" err="1"/>
              <a:t>menjadi</a:t>
            </a:r>
            <a:r>
              <a:rPr lang="en-US" sz="4000" dirty="0"/>
              <a:t> </a:t>
            </a:r>
            <a:r>
              <a:rPr lang="en-US" sz="4000" dirty="0" err="1"/>
              <a:t>basa</a:t>
            </a:r>
            <a:r>
              <a:rPr lang="en-US" sz="4000" dirty="0"/>
              <a:t> AGA </a:t>
            </a:r>
            <a:r>
              <a:rPr lang="en-US" sz="4000" dirty="0" err="1"/>
              <a:t>menghasilkan</a:t>
            </a:r>
            <a:r>
              <a:rPr lang="en-US" sz="4000" dirty="0"/>
              <a:t> </a:t>
            </a:r>
            <a:r>
              <a:rPr lang="en-US" sz="4000" dirty="0" err="1"/>
              <a:t>asam</a:t>
            </a:r>
            <a:r>
              <a:rPr lang="en-US" sz="4000" dirty="0"/>
              <a:t> amino yang </a:t>
            </a:r>
            <a:r>
              <a:rPr lang="en-US" sz="4000" dirty="0" err="1"/>
              <a:t>berbeda</a:t>
            </a:r>
            <a:endParaRPr lang="en-US" sz="4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4000" dirty="0" err="1"/>
              <a:t>Sehingga</a:t>
            </a:r>
            <a:r>
              <a:rPr lang="en-US" sz="4000" dirty="0"/>
              <a:t> </a:t>
            </a:r>
            <a:r>
              <a:rPr lang="en-US" sz="4000" dirty="0" err="1"/>
              <a:t>kondisi</a:t>
            </a:r>
            <a:r>
              <a:rPr lang="en-US" sz="4000" dirty="0"/>
              <a:t> </a:t>
            </a:r>
            <a:r>
              <a:rPr lang="en-US" sz="4000" dirty="0" err="1"/>
              <a:t>ini</a:t>
            </a:r>
            <a:r>
              <a:rPr lang="en-US" sz="4000" dirty="0"/>
              <a:t> </a:t>
            </a:r>
            <a:r>
              <a:rPr lang="en-US" sz="4000" dirty="0" err="1"/>
              <a:t>merupakan</a:t>
            </a:r>
            <a:r>
              <a:rPr lang="en-US" sz="4000" dirty="0"/>
              <a:t> Nonsense Mutation.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7795D92-48FD-4F76-586B-67564FDDB37F}"/>
              </a:ext>
            </a:extLst>
          </p:cNvPr>
          <p:cNvSpPr txBox="1">
            <a:spLocks/>
          </p:cNvSpPr>
          <p:nvPr/>
        </p:nvSpPr>
        <p:spPr bwMode="auto">
          <a:xfrm>
            <a:off x="1069976" y="918297"/>
            <a:ext cx="9618662" cy="64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287" tIns="52144" rIns="104287" bIns="52144" numCol="1" anchor="ctr" anchorCtr="0" compatLnSpc="1">
            <a:prstTxWarp prst="textNoShape">
              <a:avLst/>
            </a:prstTxWarp>
          </a:bodyPr>
          <a:lstStyle>
            <a:lvl1pPr algn="l" defTabSz="520700" rtl="0" eaLnBrk="0" fontAlgn="base" hangingPunct="0">
              <a:spcBef>
                <a:spcPct val="0"/>
              </a:spcBef>
              <a:spcAft>
                <a:spcPct val="0"/>
              </a:spcAft>
              <a:defRPr sz="3200" kern="1200">
                <a:solidFill>
                  <a:schemeClr val="tx1"/>
                </a:solidFill>
                <a:latin typeface="Open Sans"/>
                <a:ea typeface="MS PGothic" pitchFamily="34" charset="-128"/>
                <a:cs typeface="Open Sans"/>
              </a:defRPr>
            </a:lvl1pPr>
            <a:lvl2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2pPr>
            <a:lvl3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3pPr>
            <a:lvl4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4pPr>
            <a:lvl5pPr algn="ctr" defTabSz="520700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MS PGothic" pitchFamily="34" charset="-128"/>
                <a:cs typeface="ＭＳ Ｐゴシック" charset="0"/>
              </a:defRPr>
            </a:lvl5pPr>
            <a:lvl6pPr marL="4572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520700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it-IT" sz="2800" b="1"/>
              <a:t>Contoh Soal:  </a:t>
            </a:r>
            <a:r>
              <a:rPr lang="it-IT" sz="2800" b="1">
                <a:solidFill>
                  <a:srgbClr val="C00000"/>
                </a:solidFill>
              </a:rPr>
              <a:t> </a:t>
            </a:r>
            <a:r>
              <a:rPr lang="it-IT" sz="2800" b="1">
                <a:solidFill>
                  <a:srgbClr val="FF0000"/>
                </a:solidFill>
              </a:rPr>
              <a:t>NONSENSE</a:t>
            </a:r>
            <a:r>
              <a:rPr lang="it-IT" sz="2800" b="1">
                <a:solidFill>
                  <a:srgbClr val="C00000"/>
                </a:solidFill>
              </a:rPr>
              <a:t> </a:t>
            </a:r>
            <a:r>
              <a:rPr lang="it-IT" sz="2800" b="1">
                <a:solidFill>
                  <a:srgbClr val="FF0000"/>
                </a:solidFill>
              </a:rPr>
              <a:t>MUTATION </a:t>
            </a:r>
            <a:endParaRPr lang="it-IT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57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0" y="1847494"/>
            <a:ext cx="9154687" cy="3928838"/>
          </a:xfrm>
        </p:spPr>
        <p:txBody>
          <a:bodyPr>
            <a:normAutofit/>
          </a:bodyPr>
          <a:lstStyle/>
          <a:p>
            <a:pPr marL="342900" lvl="0" indent="-342900">
              <a:buFont typeface="Symbol" panose="05050102010706020507" pitchFamily="18" charset="2"/>
              <a:buChar char=""/>
            </a:pPr>
            <a:endParaRPr lang="en-US" sz="2000" dirty="0"/>
          </a:p>
          <a:p>
            <a:endParaRPr lang="en-US" sz="2000" dirty="0"/>
          </a:p>
          <a:p>
            <a:endParaRPr lang="id-ID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A7FAA0-CA95-4687-828E-03EB29DED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796075"/>
            <a:ext cx="9618662" cy="1260475"/>
          </a:xfrm>
        </p:spPr>
        <p:txBody>
          <a:bodyPr/>
          <a:lstStyle/>
          <a:p>
            <a:r>
              <a:rPr lang="en-US" sz="4000" b="1" dirty="0"/>
              <a:t>References</a:t>
            </a:r>
            <a:endParaRPr lang="id-ID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09AFA-2B94-4D5A-A25C-3F04BFE9CD3F}"/>
              </a:ext>
            </a:extLst>
          </p:cNvPr>
          <p:cNvSpPr/>
          <p:nvPr/>
        </p:nvSpPr>
        <p:spPr>
          <a:xfrm>
            <a:off x="1238251" y="2056550"/>
            <a:ext cx="8212138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A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Lesk</a:t>
            </a:r>
            <a:r>
              <a:rPr lang="en-A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Arthur M.. (2014). </a:t>
            </a:r>
            <a:r>
              <a:rPr lang="en-AU" sz="2400" i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Introduction to Bioinformatics</a:t>
            </a:r>
            <a:r>
              <a:rPr lang="en-A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4. Oxford University Press, United Kingdom. ISBN: 978-0199651566. (*)</a:t>
            </a:r>
            <a:endParaRPr lang="en-HK" sz="28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AU" sz="2400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Choudhuri</a:t>
            </a:r>
            <a:r>
              <a:rPr lang="en-A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S.. (2014) </a:t>
            </a:r>
            <a:r>
              <a:rPr lang="en-AU" sz="2400" i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Bioinformatics for Beginners: Genes, Genomes, Molecular Evolution, Databases and Analytical Tools</a:t>
            </a:r>
            <a:r>
              <a:rPr lang="en-A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Elsevier. ISBN 978-0124104716. 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AU" sz="2400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Simon, E. J.. (2020). Biology : The Core. 3rd Edition. Pearson: Hoboken, NJ. ISBN 9780134891514.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HK" sz="2800" dirty="0"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683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Flow_SignoffStatus xmlns="47793baa-3cbb-486e-a055-4d42ce3882d7" xsi:nil="true"/>
    <_dlc_DocId xmlns="9fdf624c-fedc-4f6c-b928-0c7bf4c9e100">J56STF5CZXNR-2061195910-691142</_dlc_DocId>
    <_dlc_DocIdUrl xmlns="9fdf624c-fedc-4f6c-b928-0c7bf4c9e100">
      <Url>https://binusianorg.sharepoint.com/sites/arc/_layouts/15/DocIdRedir.aspx?ID=J56STF5CZXNR-2061195910-691142</Url>
      <Description>J56STF5CZXNR-2061195910-691142</Description>
    </_dlc_DocIdUrl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4340CFFCDDB44F9904404F1FA9688C" ma:contentTypeVersion="15" ma:contentTypeDescription="Create a new document." ma:contentTypeScope="" ma:versionID="939164fb4ce9d77da8b44cb5205bf59b">
  <xsd:schema xmlns:xsd="http://www.w3.org/2001/XMLSchema" xmlns:xs="http://www.w3.org/2001/XMLSchema" xmlns:p="http://schemas.microsoft.com/office/2006/metadata/properties" xmlns:ns2="9fdf624c-fedc-4f6c-b928-0c7bf4c9e100" xmlns:ns3="47793baa-3cbb-486e-a055-4d42ce3882d7" xmlns:ns4="http://schemas.microsoft.com/sharepoint/v3/fields" targetNamespace="http://schemas.microsoft.com/office/2006/metadata/properties" ma:root="true" ma:fieldsID="63b003db5a72b2282a54ad3b1f995462" ns2:_="" ns3:_="" ns4:_="">
    <xsd:import namespace="9fdf624c-fedc-4f6c-b928-0c7bf4c9e100"/>
    <xsd:import namespace="47793baa-3cbb-486e-a055-4d42ce3882d7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Flow_SignoffStatus" minOccurs="0"/>
                <xsd:element ref="ns4:_Vers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df624c-fedc-4f6c-b928-0c7bf4c9e10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93baa-3cbb-486e-a055-4d42ce3882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ign-off status" ma:internalName="Sign_x002d_off_x0020_status">
      <xsd:simpleType>
        <xsd:restriction base="dms:Text"/>
      </xsd:simpleType>
    </xsd:element>
    <xsd:element name="MediaLengthInSeconds" ma:index="2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24" nillable="true" ma:displayName="Version" ma:internalName="_Version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D985A4-BE78-47BD-93FF-32CA6D846A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F313E50-9F1C-4EB2-8248-D1942A92381A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47793baa-3cbb-486e-a055-4d42ce3882d7"/>
    <ds:schemaRef ds:uri="9fdf624c-fedc-4f6c-b928-0c7bf4c9e100"/>
  </ds:schemaRefs>
</ds:datastoreItem>
</file>

<file path=customXml/itemProps3.xml><?xml version="1.0" encoding="utf-8"?>
<ds:datastoreItem xmlns:ds="http://schemas.openxmlformats.org/officeDocument/2006/customXml" ds:itemID="{CA6D8D10-5CE6-45C0-899F-3757B0B76385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61361C9D-5A18-4E58-8BA9-7D22F5AD4A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df624c-fedc-4f6c-b928-0c7bf4c9e100"/>
    <ds:schemaRef ds:uri="47793baa-3cbb-486e-a055-4d42ce3882d7"/>
    <ds:schemaRef ds:uri="http://schemas.microsoft.com/sharepoint/v3/field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745</Words>
  <Application>Microsoft Office PowerPoint</Application>
  <PresentationFormat>Custom</PresentationFormat>
  <Paragraphs>110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Calibri</vt:lpstr>
      <vt:lpstr>Cambria</vt:lpstr>
      <vt:lpstr>Open Sans</vt:lpstr>
      <vt:lpstr>Open Sans Light</vt:lpstr>
      <vt:lpstr>Open Sans Semibold</vt:lpstr>
      <vt:lpstr>Symbol</vt:lpstr>
      <vt:lpstr>Times New Roman</vt:lpstr>
      <vt:lpstr>Verdana</vt:lpstr>
      <vt:lpstr>Office Theme</vt:lpstr>
      <vt:lpstr>  SCIE6062001: Computational Biology  SILENT, MISSENSE, NONSENSE MUTATION</vt:lpstr>
      <vt:lpstr>MUTASI GEN </vt:lpstr>
      <vt:lpstr>MUTASI SALAH ARTI (MISSENSE MUTATION) </vt:lpstr>
      <vt:lpstr>MUTASI DIAM (SILENT MUTATION)</vt:lpstr>
      <vt:lpstr>MUTASI TANPA ARTI (NONSENSE MUTATION)</vt:lpstr>
      <vt:lpstr>Contoh Mutasi Gen pada Tubuh Manusia</vt:lpstr>
      <vt:lpstr>Mutasi Gen BRCA1 dan BRCA2</vt:lpstr>
      <vt:lpstr>Mutasi Gen CFTR (Cystic Fibrosis Transmembrane Conductance Regulator)</vt:lpstr>
      <vt:lpstr>Contoh Soal: SILENT MUTATION </vt:lpstr>
      <vt:lpstr>Contoh Soal: SILENT MUTATION </vt:lpstr>
      <vt:lpstr>Contoh Soal:  MISSENSE MUTATION </vt:lpstr>
      <vt:lpstr>Contoh Soal: MISSENSE MUTATION </vt:lpstr>
      <vt:lpstr>Contoh Soal:   NONSENSE MUTATION </vt:lpstr>
      <vt:lpstr>Contoh Soal:   NONSENSE MUTATION 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FABIAN</dc:creator>
  <cp:lastModifiedBy>ASUS A1404VA</cp:lastModifiedBy>
  <cp:revision>92</cp:revision>
  <dcterms:created xsi:type="dcterms:W3CDTF">2022-07-03T12:41:11Z</dcterms:created>
  <dcterms:modified xsi:type="dcterms:W3CDTF">2026-04-05T07:34:59Z</dcterms:modified>
</cp:coreProperties>
</file>